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10287000" cx="18288000"/>
  <p:notesSz cx="6858000" cy="9144000"/>
  <p:embeddedFontLst>
    <p:embeddedFont>
      <p:font typeface="DM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2" roundtripDataSignature="AMtx7mhz0YR7MNPMsupDVBpwGebX+E7F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DMSans-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DMSans-bold.fntdata"/><Relationship Id="rId6" Type="http://schemas.openxmlformats.org/officeDocument/2006/relationships/slide" Target="slides/slide1.xml"/><Relationship Id="rId18" Type="http://schemas.openxmlformats.org/officeDocument/2006/relationships/font" Target="fonts/DM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3064f6f14d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g33064f6f14d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3064f6f14d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g33064f6f14d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11.png"/><Relationship Id="rId6"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8.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2.png"/><Relationship Id="rId5" Type="http://schemas.openxmlformats.org/officeDocument/2006/relationships/image" Target="../media/image18.png"/><Relationship Id="rId6" Type="http://schemas.openxmlformats.org/officeDocument/2006/relationships/image" Target="../media/image7.png"/><Relationship Id="rId7" Type="http://schemas.openxmlformats.org/officeDocument/2006/relationships/image" Target="../media/image14.png"/><Relationship Id="rId8"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83" name="Shape 83"/>
        <p:cNvGrpSpPr/>
        <p:nvPr/>
      </p:nvGrpSpPr>
      <p:grpSpPr>
        <a:xfrm>
          <a:off x="0" y="0"/>
          <a:ext cx="0" cy="0"/>
          <a:chOff x="0" y="0"/>
          <a:chExt cx="0" cy="0"/>
        </a:xfrm>
      </p:grpSpPr>
      <p:sp>
        <p:nvSpPr>
          <p:cNvPr id="84" name="Google Shape;84;p1"/>
          <p:cNvSpPr/>
          <p:nvPr/>
        </p:nvSpPr>
        <p:spPr>
          <a:xfrm>
            <a:off x="-722887" y="-4247682"/>
            <a:ext cx="19258069" cy="19258069"/>
          </a:xfrm>
          <a:custGeom>
            <a:rect b="b" l="l" r="r" t="t"/>
            <a:pathLst>
              <a:path extrusionOk="0" h="19258069" w="19258069">
                <a:moveTo>
                  <a:pt x="0" y="0"/>
                </a:moveTo>
                <a:lnTo>
                  <a:pt x="19258069" y="0"/>
                </a:lnTo>
                <a:lnTo>
                  <a:pt x="19258069" y="19258069"/>
                </a:lnTo>
                <a:lnTo>
                  <a:pt x="0" y="19258069"/>
                </a:lnTo>
                <a:lnTo>
                  <a:pt x="0" y="0"/>
                </a:lnTo>
                <a:close/>
              </a:path>
            </a:pathLst>
          </a:custGeom>
          <a:blipFill rotWithShape="1">
            <a:blip r:embed="rId3">
              <a:alphaModFix amt="4000"/>
            </a:blip>
            <a:stretch>
              <a:fillRect b="0" l="0" r="0" t="0"/>
            </a:stretch>
          </a:blipFill>
          <a:ln>
            <a:noFill/>
          </a:ln>
        </p:spPr>
      </p:sp>
      <p:sp>
        <p:nvSpPr>
          <p:cNvPr id="85" name="Google Shape;85;p1"/>
          <p:cNvSpPr/>
          <p:nvPr/>
        </p:nvSpPr>
        <p:spPr>
          <a:xfrm>
            <a:off x="11218332" y="2731879"/>
            <a:ext cx="3701593" cy="4723610"/>
          </a:xfrm>
          <a:custGeom>
            <a:rect b="b" l="l" r="r" t="t"/>
            <a:pathLst>
              <a:path extrusionOk="0" h="4723610" w="3701593">
                <a:moveTo>
                  <a:pt x="0" y="0"/>
                </a:moveTo>
                <a:lnTo>
                  <a:pt x="3701593" y="0"/>
                </a:lnTo>
                <a:lnTo>
                  <a:pt x="3701593" y="4723610"/>
                </a:lnTo>
                <a:lnTo>
                  <a:pt x="0" y="4723610"/>
                </a:lnTo>
                <a:lnTo>
                  <a:pt x="0" y="0"/>
                </a:lnTo>
                <a:close/>
              </a:path>
            </a:pathLst>
          </a:custGeom>
          <a:blipFill rotWithShape="1">
            <a:blip r:embed="rId4">
              <a:alphaModFix/>
            </a:blip>
            <a:stretch>
              <a:fillRect b="0" l="0" r="0" t="0"/>
            </a:stretch>
          </a:blipFill>
          <a:ln>
            <a:noFill/>
          </a:ln>
        </p:spPr>
      </p:sp>
      <p:sp>
        <p:nvSpPr>
          <p:cNvPr id="86" name="Google Shape;86;p1"/>
          <p:cNvSpPr/>
          <p:nvPr/>
        </p:nvSpPr>
        <p:spPr>
          <a:xfrm>
            <a:off x="9456031" y="5686468"/>
            <a:ext cx="3718302" cy="2393234"/>
          </a:xfrm>
          <a:custGeom>
            <a:rect b="b" l="l" r="r" t="t"/>
            <a:pathLst>
              <a:path extrusionOk="0" h="2393234" w="3718302">
                <a:moveTo>
                  <a:pt x="0" y="0"/>
                </a:moveTo>
                <a:lnTo>
                  <a:pt x="3718301" y="0"/>
                </a:lnTo>
                <a:lnTo>
                  <a:pt x="3718301" y="2393234"/>
                </a:lnTo>
                <a:lnTo>
                  <a:pt x="0" y="2393234"/>
                </a:lnTo>
                <a:lnTo>
                  <a:pt x="0" y="0"/>
                </a:lnTo>
                <a:close/>
              </a:path>
            </a:pathLst>
          </a:custGeom>
          <a:blipFill rotWithShape="1">
            <a:blip r:embed="rId5">
              <a:alphaModFix/>
            </a:blip>
            <a:stretch>
              <a:fillRect b="0" l="0" r="0" t="0"/>
            </a:stretch>
          </a:blipFill>
          <a:ln>
            <a:noFill/>
          </a:ln>
        </p:spPr>
      </p:sp>
      <p:sp>
        <p:nvSpPr>
          <p:cNvPr id="87" name="Google Shape;87;p1"/>
          <p:cNvSpPr/>
          <p:nvPr/>
        </p:nvSpPr>
        <p:spPr>
          <a:xfrm>
            <a:off x="14377104" y="3974852"/>
            <a:ext cx="2882196" cy="3943304"/>
          </a:xfrm>
          <a:custGeom>
            <a:rect b="b" l="l" r="r" t="t"/>
            <a:pathLst>
              <a:path extrusionOk="0" h="3943304" w="2882196">
                <a:moveTo>
                  <a:pt x="0" y="0"/>
                </a:moveTo>
                <a:lnTo>
                  <a:pt x="2882196" y="0"/>
                </a:lnTo>
                <a:lnTo>
                  <a:pt x="2882196" y="3943304"/>
                </a:lnTo>
                <a:lnTo>
                  <a:pt x="0" y="3943304"/>
                </a:lnTo>
                <a:lnTo>
                  <a:pt x="0" y="0"/>
                </a:lnTo>
                <a:close/>
              </a:path>
            </a:pathLst>
          </a:custGeom>
          <a:blipFill rotWithShape="1">
            <a:blip r:embed="rId6">
              <a:alphaModFix/>
            </a:blip>
            <a:stretch>
              <a:fillRect b="0" l="0" r="0" t="0"/>
            </a:stretch>
          </a:blipFill>
          <a:ln>
            <a:noFill/>
          </a:ln>
        </p:spPr>
      </p:sp>
      <p:sp>
        <p:nvSpPr>
          <p:cNvPr id="88" name="Google Shape;88;p1"/>
          <p:cNvSpPr txBox="1"/>
          <p:nvPr/>
        </p:nvSpPr>
        <p:spPr>
          <a:xfrm>
            <a:off x="1028700" y="3098954"/>
            <a:ext cx="9904500" cy="14334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9313"/>
              <a:buFont typeface="Arial"/>
              <a:buNone/>
            </a:pPr>
            <a:r>
              <a:rPr b="1" i="0" lang="en-US" sz="9313" u="none" cap="none" strike="noStrike">
                <a:solidFill>
                  <a:srgbClr val="343434"/>
                </a:solidFill>
                <a:latin typeface="Arial"/>
                <a:ea typeface="Arial"/>
                <a:cs typeface="Arial"/>
                <a:sym typeface="Arial"/>
              </a:rPr>
              <a:t>PEMROGRAMAN </a:t>
            </a:r>
            <a:endParaRPr b="0" i="0" sz="500" u="none" cap="none" strike="noStrike">
              <a:solidFill>
                <a:srgbClr val="000000"/>
              </a:solidFill>
              <a:latin typeface="Arial"/>
              <a:ea typeface="Arial"/>
              <a:cs typeface="Arial"/>
              <a:sym typeface="Arial"/>
            </a:endParaRPr>
          </a:p>
        </p:txBody>
      </p:sp>
      <p:sp>
        <p:nvSpPr>
          <p:cNvPr id="89" name="Google Shape;89;p1"/>
          <p:cNvSpPr txBox="1"/>
          <p:nvPr/>
        </p:nvSpPr>
        <p:spPr>
          <a:xfrm>
            <a:off x="1028700" y="4620822"/>
            <a:ext cx="8626948" cy="2081449"/>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10463"/>
              <a:buFont typeface="Arial"/>
              <a:buNone/>
            </a:pPr>
            <a:r>
              <a:rPr b="0" i="0" lang="en-US" sz="10463" u="none" cap="none" strike="noStrike">
                <a:solidFill>
                  <a:srgbClr val="343434"/>
                </a:solidFill>
                <a:latin typeface="Arial"/>
                <a:ea typeface="Arial"/>
                <a:cs typeface="Arial"/>
                <a:sym typeface="Arial"/>
              </a:rPr>
              <a:t>WEB 1</a:t>
            </a:r>
            <a:endParaRPr b="0" i="0" sz="1400" u="none" cap="none" strike="noStrike">
              <a:solidFill>
                <a:srgbClr val="000000"/>
              </a:solidFill>
              <a:latin typeface="Arial"/>
              <a:ea typeface="Arial"/>
              <a:cs typeface="Arial"/>
              <a:sym typeface="Arial"/>
            </a:endParaRPr>
          </a:p>
        </p:txBody>
      </p:sp>
      <p:sp>
        <p:nvSpPr>
          <p:cNvPr id="90" name="Google Shape;90;p1"/>
          <p:cNvSpPr txBox="1"/>
          <p:nvPr/>
        </p:nvSpPr>
        <p:spPr>
          <a:xfrm>
            <a:off x="1055075" y="589884"/>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93" name="Google Shape;93;p1"/>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94" name="Google Shape;94;p1"/>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95" name="Google Shape;95;p1"/>
          <p:cNvSpPr txBox="1"/>
          <p:nvPr/>
        </p:nvSpPr>
        <p:spPr>
          <a:xfrm>
            <a:off x="1055075" y="7324146"/>
            <a:ext cx="7793100" cy="5541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599"/>
              <a:buFont typeface="Arial"/>
              <a:buNone/>
            </a:pPr>
            <a:r>
              <a:rPr b="0" i="0" lang="en-US" sz="3599" u="none" cap="none" strike="noStrike">
                <a:solidFill>
                  <a:srgbClr val="343434"/>
                </a:solidFill>
                <a:latin typeface="DM Sans"/>
                <a:ea typeface="DM Sans"/>
                <a:cs typeface="DM Sans"/>
                <a:sym typeface="DM Sans"/>
              </a:rPr>
              <a:t>#PENGENALAN WEB</a:t>
            </a:r>
            <a:endParaRPr b="0" i="0" sz="1400" u="none" cap="none" strike="noStrike">
              <a:solidFill>
                <a:srgbClr val="000000"/>
              </a:solidFill>
              <a:latin typeface="Arial"/>
              <a:ea typeface="Arial"/>
              <a:cs typeface="Arial"/>
              <a:sym typeface="Arial"/>
            </a:endParaRPr>
          </a:p>
        </p:txBody>
      </p:sp>
      <p:sp>
        <p:nvSpPr>
          <p:cNvPr id="96" name="Google Shape;96;p1"/>
          <p:cNvSpPr txBox="1"/>
          <p:nvPr/>
        </p:nvSpPr>
        <p:spPr>
          <a:xfrm>
            <a:off x="16253563" y="8991600"/>
            <a:ext cx="1005737" cy="266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01</a:t>
            </a:r>
            <a:endParaRPr b="0" i="0" sz="1400" u="none" cap="none" strike="noStrike">
              <a:solidFill>
                <a:srgbClr val="000000"/>
              </a:solidFill>
              <a:latin typeface="Arial"/>
              <a:ea typeface="Arial"/>
              <a:cs typeface="Arial"/>
              <a:sym typeface="Arial"/>
            </a:endParaRPr>
          </a:p>
        </p:txBody>
      </p:sp>
      <p:sp>
        <p:nvSpPr>
          <p:cNvPr id="97" name="Google Shape;97;p1"/>
          <p:cNvSpPr txBox="1"/>
          <p:nvPr/>
        </p:nvSpPr>
        <p:spPr>
          <a:xfrm>
            <a:off x="7855104" y="9020175"/>
            <a:ext cx="2364390"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RIMASYA AYU J</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1207475" y="6790746"/>
            <a:ext cx="7793100" cy="5541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599"/>
              <a:buFont typeface="Arial"/>
              <a:buNone/>
            </a:pPr>
            <a:r>
              <a:rPr lang="en-US" sz="3599">
                <a:solidFill>
                  <a:srgbClr val="343434"/>
                </a:solidFill>
                <a:latin typeface="DM Sans"/>
                <a:ea typeface="DM Sans"/>
                <a:cs typeface="DM Sans"/>
                <a:sym typeface="DM Sans"/>
              </a:rPr>
              <a:t>Pertemuan #1</a:t>
            </a:r>
            <a:endParaRPr sz="3599">
              <a:solidFill>
                <a:srgbClr val="343434"/>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02" name="Shape 102"/>
        <p:cNvGrpSpPr/>
        <p:nvPr/>
      </p:nvGrpSpPr>
      <p:grpSpPr>
        <a:xfrm>
          <a:off x="0" y="0"/>
          <a:ext cx="0" cy="0"/>
          <a:chOff x="0" y="0"/>
          <a:chExt cx="0" cy="0"/>
        </a:xfrm>
      </p:grpSpPr>
      <p:sp>
        <p:nvSpPr>
          <p:cNvPr id="103" name="Google Shape;103;p2"/>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104" name="Google Shape;104;p2"/>
          <p:cNvSpPr/>
          <p:nvPr/>
        </p:nvSpPr>
        <p:spPr>
          <a:xfrm>
            <a:off x="12051477" y="2039141"/>
            <a:ext cx="5610468" cy="6246472"/>
          </a:xfrm>
          <a:custGeom>
            <a:rect b="b" l="l" r="r" t="t"/>
            <a:pathLst>
              <a:path extrusionOk="0" h="6246472" w="5610468">
                <a:moveTo>
                  <a:pt x="0" y="0"/>
                </a:moveTo>
                <a:lnTo>
                  <a:pt x="5610468" y="0"/>
                </a:lnTo>
                <a:lnTo>
                  <a:pt x="5610468" y="6246472"/>
                </a:lnTo>
                <a:lnTo>
                  <a:pt x="0" y="6246472"/>
                </a:lnTo>
                <a:lnTo>
                  <a:pt x="0" y="0"/>
                </a:lnTo>
                <a:close/>
              </a:path>
            </a:pathLst>
          </a:custGeom>
          <a:blipFill rotWithShape="1">
            <a:blip r:embed="rId4">
              <a:alphaModFix/>
            </a:blip>
            <a:stretch>
              <a:fillRect b="0" l="0" r="0" t="0"/>
            </a:stretch>
          </a:blipFill>
          <a:ln>
            <a:noFill/>
          </a:ln>
        </p:spPr>
      </p:sp>
      <p:sp>
        <p:nvSpPr>
          <p:cNvPr id="105" name="Google Shape;105;p2"/>
          <p:cNvSpPr txBox="1"/>
          <p:nvPr/>
        </p:nvSpPr>
        <p:spPr>
          <a:xfrm>
            <a:off x="348725" y="865904"/>
            <a:ext cx="70725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i="0" lang="en-US" sz="6000" u="none" cap="none" strike="noStrike">
                <a:solidFill>
                  <a:srgbClr val="343434"/>
                </a:solidFill>
                <a:latin typeface="Arial"/>
                <a:ea typeface="Arial"/>
                <a:cs typeface="Arial"/>
                <a:sym typeface="Arial"/>
              </a:rPr>
              <a:t>Pengertian Web</a:t>
            </a:r>
            <a:endParaRPr b="0" i="0" sz="1400" u="none" cap="none" strike="noStrike">
              <a:solidFill>
                <a:srgbClr val="000000"/>
              </a:solidFill>
              <a:latin typeface="Arial"/>
              <a:ea typeface="Arial"/>
              <a:cs typeface="Arial"/>
              <a:sym typeface="Arial"/>
            </a:endParaRPr>
          </a:p>
        </p:txBody>
      </p:sp>
      <p:sp>
        <p:nvSpPr>
          <p:cNvPr id="106" name="Google Shape;106;p2"/>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107" name="Google Shape;107;p2"/>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108" name="Google Shape;108;p2"/>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110" name="Google Shape;110;p2"/>
          <p:cNvSpPr txBox="1"/>
          <p:nvPr/>
        </p:nvSpPr>
        <p:spPr>
          <a:xfrm>
            <a:off x="505625" y="2229575"/>
            <a:ext cx="11148000" cy="285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2600">
                <a:solidFill>
                  <a:srgbClr val="343434"/>
                </a:solidFill>
                <a:latin typeface="DM Sans"/>
                <a:ea typeface="DM Sans"/>
                <a:cs typeface="DM Sans"/>
                <a:sym typeface="DM Sans"/>
              </a:rPr>
              <a:t>Web atau World Wide Web (WWW) adalah sistem informasi berbasis internet yang memungkinkan pengguna mengakses dan berbagi informasi melalui halaman web yang dihubungkan oleh hyperlink. Web berjalan di atas protokol komunikasi HTTP (Hypertext Transfer Protocol) dan diakses melalui browser web.</a:t>
            </a:r>
            <a:endParaRPr sz="2600">
              <a:solidFill>
                <a:srgbClr val="343434"/>
              </a:solidFill>
              <a:latin typeface="DM Sans"/>
              <a:ea typeface="DM Sans"/>
              <a:cs typeface="DM Sans"/>
              <a:sym typeface="DM Sans"/>
            </a:endParaRPr>
          </a:p>
          <a:p>
            <a:pPr indent="0" lvl="0" marL="0" marR="0" rtl="0" algn="just">
              <a:lnSpc>
                <a:spcPct val="140000"/>
              </a:lnSpc>
              <a:spcBef>
                <a:spcPts val="1200"/>
              </a:spcBef>
              <a:spcAft>
                <a:spcPts val="0"/>
              </a:spcAft>
              <a:buClr>
                <a:srgbClr val="000000"/>
              </a:buClr>
              <a:buSzPts val="1700"/>
              <a:buFont typeface="Arial"/>
              <a:buNone/>
            </a:pPr>
            <a:r>
              <a:t/>
            </a:r>
            <a:endParaRPr sz="2600">
              <a:solidFill>
                <a:srgbClr val="343434"/>
              </a:solidFill>
              <a:latin typeface="DM Sans"/>
              <a:ea typeface="DM Sans"/>
              <a:cs typeface="DM Sans"/>
              <a:sym typeface="DM Sans"/>
            </a:endParaRPr>
          </a:p>
        </p:txBody>
      </p:sp>
      <p:sp>
        <p:nvSpPr>
          <p:cNvPr id="111" name="Google Shape;111;p2"/>
          <p:cNvSpPr txBox="1"/>
          <p:nvPr/>
        </p:nvSpPr>
        <p:spPr>
          <a:xfrm>
            <a:off x="16253563" y="8991600"/>
            <a:ext cx="1005737" cy="266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02</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85924" y="182065"/>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16" name="Shape 116"/>
        <p:cNvGrpSpPr/>
        <p:nvPr/>
      </p:nvGrpSpPr>
      <p:grpSpPr>
        <a:xfrm>
          <a:off x="0" y="0"/>
          <a:ext cx="0" cy="0"/>
          <a:chOff x="0" y="0"/>
          <a:chExt cx="0" cy="0"/>
        </a:xfrm>
      </p:grpSpPr>
      <p:sp>
        <p:nvSpPr>
          <p:cNvPr id="117" name="Google Shape;117;p3"/>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118" name="Google Shape;118;p3"/>
          <p:cNvSpPr txBox="1"/>
          <p:nvPr/>
        </p:nvSpPr>
        <p:spPr>
          <a:xfrm>
            <a:off x="4189945" y="760675"/>
            <a:ext cx="108435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343434"/>
                </a:solidFill>
              </a:rPr>
              <a:t>Sejarah Singkat Web</a:t>
            </a:r>
            <a:endParaRPr b="0" i="0" sz="1400" u="none" cap="none" strike="noStrike">
              <a:solidFill>
                <a:srgbClr val="000000"/>
              </a:solidFill>
              <a:latin typeface="Arial"/>
              <a:ea typeface="Arial"/>
              <a:cs typeface="Arial"/>
              <a:sym typeface="Arial"/>
            </a:endParaRPr>
          </a:p>
        </p:txBody>
      </p:sp>
      <p:sp>
        <p:nvSpPr>
          <p:cNvPr id="119" name="Google Shape;119;p3"/>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121" name="Google Shape;121;p3"/>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123" name="Google Shape;123;p3"/>
          <p:cNvSpPr txBox="1"/>
          <p:nvPr/>
        </p:nvSpPr>
        <p:spPr>
          <a:xfrm>
            <a:off x="1662475" y="3202200"/>
            <a:ext cx="13971900" cy="3882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2500">
                <a:solidFill>
                  <a:schemeClr val="dk1"/>
                </a:solidFill>
              </a:rPr>
              <a:t>Web pertama kali dikembangkan oleh Tim Berners-Lee pada tahun 1989 di CERN (Organisasi Eropa untuk Riset Nuklir). Konsep awal web mencakup:</a:t>
            </a:r>
            <a:endParaRPr sz="2500">
              <a:solidFill>
                <a:schemeClr val="dk1"/>
              </a:solidFill>
            </a:endParaRPr>
          </a:p>
          <a:p>
            <a:pPr indent="-387350" lvl="0" marL="457200" rtl="0" algn="l">
              <a:lnSpc>
                <a:spcPct val="115000"/>
              </a:lnSpc>
              <a:spcBef>
                <a:spcPts val="1200"/>
              </a:spcBef>
              <a:spcAft>
                <a:spcPts val="0"/>
              </a:spcAft>
              <a:buClr>
                <a:schemeClr val="dk1"/>
              </a:buClr>
              <a:buSzPts val="2500"/>
              <a:buChar char="●"/>
            </a:pPr>
            <a:r>
              <a:rPr b="1" lang="en-US" sz="2500">
                <a:solidFill>
                  <a:schemeClr val="dk1"/>
                </a:solidFill>
              </a:rPr>
              <a:t>HTML (Hypertext Markup Language):</a:t>
            </a:r>
            <a:r>
              <a:rPr lang="en-US" sz="2500">
                <a:solidFill>
                  <a:schemeClr val="dk1"/>
                </a:solidFill>
              </a:rPr>
              <a:t> Bahasa markup untuk membuat halaman web.</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HTTP (Hypertext Transfer Protocol):</a:t>
            </a:r>
            <a:r>
              <a:rPr lang="en-US" sz="2500">
                <a:solidFill>
                  <a:schemeClr val="dk1"/>
                </a:solidFill>
              </a:rPr>
              <a:t> Protokol komunikasi untuk mengirim dan menerima data di web.</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URL (Uniform Resource Locator):</a:t>
            </a:r>
            <a:r>
              <a:rPr lang="en-US" sz="2500">
                <a:solidFill>
                  <a:schemeClr val="dk1"/>
                </a:solidFill>
              </a:rPr>
              <a:t> Alamat unik yang digunakan untuk mengakses sumber daya di web.</a:t>
            </a:r>
            <a:endParaRPr sz="2500">
              <a:solidFill>
                <a:schemeClr val="dk1"/>
              </a:solidFill>
            </a:endParaRPr>
          </a:p>
          <a:p>
            <a:pPr indent="0" lvl="0" marL="0" marR="0" rtl="0" algn="just">
              <a:lnSpc>
                <a:spcPct val="140000"/>
              </a:lnSpc>
              <a:spcBef>
                <a:spcPts val="1200"/>
              </a:spcBef>
              <a:spcAft>
                <a:spcPts val="0"/>
              </a:spcAft>
              <a:buClr>
                <a:srgbClr val="000000"/>
              </a:buClr>
              <a:buSzPts val="1700"/>
              <a:buFont typeface="Arial"/>
              <a:buNone/>
            </a:pPr>
            <a:r>
              <a:t/>
            </a:r>
            <a:endParaRPr sz="3100">
              <a:solidFill>
                <a:srgbClr val="343434"/>
              </a:solidFill>
              <a:latin typeface="DM Sans"/>
              <a:ea typeface="DM Sans"/>
              <a:cs typeface="DM Sans"/>
              <a:sym typeface="DM Sans"/>
            </a:endParaRPr>
          </a:p>
        </p:txBody>
      </p:sp>
      <p:sp>
        <p:nvSpPr>
          <p:cNvPr id="124" name="Google Shape;124;p3"/>
          <p:cNvSpPr txBox="1"/>
          <p:nvPr/>
        </p:nvSpPr>
        <p:spPr>
          <a:xfrm>
            <a:off x="16253563" y="8991600"/>
            <a:ext cx="1005737" cy="266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03</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85924" y="182065"/>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29" name="Shape 129"/>
        <p:cNvGrpSpPr/>
        <p:nvPr/>
      </p:nvGrpSpPr>
      <p:grpSpPr>
        <a:xfrm>
          <a:off x="0" y="0"/>
          <a:ext cx="0" cy="0"/>
          <a:chOff x="0" y="0"/>
          <a:chExt cx="0" cy="0"/>
        </a:xfrm>
      </p:grpSpPr>
      <p:sp>
        <p:nvSpPr>
          <p:cNvPr id="130" name="Google Shape;130;p4"/>
          <p:cNvSpPr/>
          <p:nvPr/>
        </p:nvSpPr>
        <p:spPr>
          <a:xfrm>
            <a:off x="13309334" y="1865419"/>
            <a:ext cx="4132897" cy="6143495"/>
          </a:xfrm>
          <a:custGeom>
            <a:rect b="b" l="l" r="r" t="t"/>
            <a:pathLst>
              <a:path extrusionOk="0" h="6143495" w="4132897">
                <a:moveTo>
                  <a:pt x="0" y="0"/>
                </a:moveTo>
                <a:lnTo>
                  <a:pt x="4132897" y="0"/>
                </a:lnTo>
                <a:lnTo>
                  <a:pt x="4132897" y="6143495"/>
                </a:lnTo>
                <a:lnTo>
                  <a:pt x="0" y="6143495"/>
                </a:lnTo>
                <a:lnTo>
                  <a:pt x="0" y="0"/>
                </a:lnTo>
                <a:close/>
              </a:path>
            </a:pathLst>
          </a:custGeom>
          <a:blipFill rotWithShape="1">
            <a:blip r:embed="rId3">
              <a:alphaModFix/>
            </a:blip>
            <a:stretch>
              <a:fillRect b="0" l="0" r="0" t="0"/>
            </a:stretch>
          </a:blipFill>
          <a:ln>
            <a:noFill/>
          </a:ln>
        </p:spPr>
      </p:sp>
      <p:sp>
        <p:nvSpPr>
          <p:cNvPr id="131" name="Google Shape;131;p4"/>
          <p:cNvSpPr/>
          <p:nvPr/>
        </p:nvSpPr>
        <p:spPr>
          <a:xfrm>
            <a:off x="11164708" y="3004304"/>
            <a:ext cx="3102858" cy="5004610"/>
          </a:xfrm>
          <a:custGeom>
            <a:rect b="b" l="l" r="r" t="t"/>
            <a:pathLst>
              <a:path extrusionOk="0" h="5004610" w="3102858">
                <a:moveTo>
                  <a:pt x="0" y="0"/>
                </a:moveTo>
                <a:lnTo>
                  <a:pt x="3102858" y="0"/>
                </a:lnTo>
                <a:lnTo>
                  <a:pt x="3102858" y="5004610"/>
                </a:lnTo>
                <a:lnTo>
                  <a:pt x="0" y="5004610"/>
                </a:lnTo>
                <a:lnTo>
                  <a:pt x="0" y="0"/>
                </a:lnTo>
                <a:close/>
              </a:path>
            </a:pathLst>
          </a:custGeom>
          <a:blipFill rotWithShape="1">
            <a:blip r:embed="rId4">
              <a:alphaModFix/>
            </a:blip>
            <a:stretch>
              <a:fillRect b="0" l="0" r="0" t="0"/>
            </a:stretch>
          </a:blipFill>
          <a:ln>
            <a:noFill/>
          </a:ln>
        </p:spPr>
      </p:sp>
      <p:sp>
        <p:nvSpPr>
          <p:cNvPr id="132" name="Google Shape;132;p4"/>
          <p:cNvSpPr txBox="1"/>
          <p:nvPr/>
        </p:nvSpPr>
        <p:spPr>
          <a:xfrm>
            <a:off x="3695075" y="942025"/>
            <a:ext cx="91092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343434"/>
                </a:solidFill>
              </a:rPr>
              <a:t>Komponen Utama Web</a:t>
            </a:r>
            <a:endParaRPr b="0" i="0" sz="1400" u="none" cap="none" strike="noStrike">
              <a:solidFill>
                <a:srgbClr val="000000"/>
              </a:solidFill>
              <a:latin typeface="Arial"/>
              <a:ea typeface="Arial"/>
              <a:cs typeface="Arial"/>
              <a:sym typeface="Arial"/>
            </a:endParaRPr>
          </a:p>
        </p:txBody>
      </p:sp>
      <p:sp>
        <p:nvSpPr>
          <p:cNvPr id="133" name="Google Shape;133;p4"/>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134" name="Google Shape;134;p4"/>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135" name="Google Shape;135;p4"/>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136" name="Google Shape;136;p4"/>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137" name="Google Shape;137;p4"/>
          <p:cNvSpPr txBox="1"/>
          <p:nvPr/>
        </p:nvSpPr>
        <p:spPr>
          <a:xfrm>
            <a:off x="767175" y="2402850"/>
            <a:ext cx="9822900" cy="4863900"/>
          </a:xfrm>
          <a:prstGeom prst="rect">
            <a:avLst/>
          </a:prstGeom>
          <a:noFill/>
          <a:ln>
            <a:noFill/>
          </a:ln>
        </p:spPr>
        <p:txBody>
          <a:bodyPr anchorCtr="0" anchor="t" bIns="0" lIns="0" spcFirstLastPara="1" rIns="0" wrap="square" tIns="0">
            <a:spAutoFit/>
          </a:bodyPr>
          <a:lstStyle/>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Website</a:t>
            </a:r>
            <a:r>
              <a:rPr lang="en-US" sz="2400">
                <a:solidFill>
                  <a:schemeClr val="dk1"/>
                </a:solidFill>
              </a:rPr>
              <a:t>: Kumpulan halaman web yang saling terhubung dan dapat diakses melalui internet.</a:t>
            </a:r>
            <a:endParaRPr sz="2400">
              <a:solidFill>
                <a:schemeClr val="dk1"/>
              </a:solidFill>
            </a:endParaRPr>
          </a:p>
          <a:p>
            <a:pPr indent="-381000" lvl="0" marL="457200" rtl="0" algn="l">
              <a:lnSpc>
                <a:spcPct val="115000"/>
              </a:lnSpc>
              <a:spcBef>
                <a:spcPts val="0"/>
              </a:spcBef>
              <a:spcAft>
                <a:spcPts val="0"/>
              </a:spcAft>
              <a:buClr>
                <a:schemeClr val="dk1"/>
              </a:buClr>
              <a:buSzPts val="2400"/>
              <a:buAutoNum type="arabicPeriod"/>
            </a:pPr>
            <a:r>
              <a:rPr b="1" lang="en-US" sz="2400">
                <a:solidFill>
                  <a:schemeClr val="dk1"/>
                </a:solidFill>
              </a:rPr>
              <a:t>Web Browser</a:t>
            </a:r>
            <a:r>
              <a:rPr lang="en-US" sz="2400">
                <a:solidFill>
                  <a:schemeClr val="dk1"/>
                </a:solidFill>
              </a:rPr>
              <a:t>: Perangkat lunak untuk mengakses dan menampilkan halaman web, seperti Google Chrome, Mozilla Firefox, dan Microsoft Edge.</a:t>
            </a:r>
            <a:endParaRPr sz="2400">
              <a:solidFill>
                <a:schemeClr val="dk1"/>
              </a:solidFill>
            </a:endParaRPr>
          </a:p>
          <a:p>
            <a:pPr indent="-381000" lvl="0" marL="457200" rtl="0" algn="l">
              <a:lnSpc>
                <a:spcPct val="115000"/>
              </a:lnSpc>
              <a:spcBef>
                <a:spcPts val="0"/>
              </a:spcBef>
              <a:spcAft>
                <a:spcPts val="0"/>
              </a:spcAft>
              <a:buClr>
                <a:schemeClr val="dk1"/>
              </a:buClr>
              <a:buSzPts val="2400"/>
              <a:buAutoNum type="arabicPeriod"/>
            </a:pPr>
            <a:r>
              <a:rPr b="1" lang="en-US" sz="2400">
                <a:solidFill>
                  <a:schemeClr val="dk1"/>
                </a:solidFill>
              </a:rPr>
              <a:t>Web Server</a:t>
            </a:r>
            <a:r>
              <a:rPr lang="en-US" sz="2400">
                <a:solidFill>
                  <a:schemeClr val="dk1"/>
                </a:solidFill>
              </a:rPr>
              <a:t>: Komputer yang menyimpan dan melayani permintaan halaman web dari pengguna.</a:t>
            </a:r>
            <a:endParaRPr sz="2400">
              <a:solidFill>
                <a:schemeClr val="dk1"/>
              </a:solidFill>
            </a:endParaRPr>
          </a:p>
          <a:p>
            <a:pPr indent="-381000" lvl="0" marL="457200" rtl="0" algn="l">
              <a:lnSpc>
                <a:spcPct val="115000"/>
              </a:lnSpc>
              <a:spcBef>
                <a:spcPts val="0"/>
              </a:spcBef>
              <a:spcAft>
                <a:spcPts val="0"/>
              </a:spcAft>
              <a:buClr>
                <a:schemeClr val="dk1"/>
              </a:buClr>
              <a:buSzPts val="2400"/>
              <a:buAutoNum type="arabicPeriod"/>
            </a:pPr>
            <a:r>
              <a:rPr b="1" lang="en-US" sz="2400">
                <a:solidFill>
                  <a:schemeClr val="dk1"/>
                </a:solidFill>
              </a:rPr>
              <a:t>Domain Name System (DNS)</a:t>
            </a:r>
            <a:r>
              <a:rPr lang="en-US" sz="2400">
                <a:solidFill>
                  <a:schemeClr val="dk1"/>
                </a:solidFill>
              </a:rPr>
              <a:t>: Sistem yang menerjemahkan alamat IP menjadi nama domain yang mudah diingat.</a:t>
            </a:r>
            <a:endParaRPr sz="2400">
              <a:solidFill>
                <a:schemeClr val="dk1"/>
              </a:solidFill>
            </a:endParaRPr>
          </a:p>
          <a:p>
            <a:pPr indent="-381000" lvl="0" marL="457200" rtl="0" algn="l">
              <a:lnSpc>
                <a:spcPct val="115000"/>
              </a:lnSpc>
              <a:spcBef>
                <a:spcPts val="0"/>
              </a:spcBef>
              <a:spcAft>
                <a:spcPts val="0"/>
              </a:spcAft>
              <a:buClr>
                <a:schemeClr val="dk1"/>
              </a:buClr>
              <a:buSzPts val="2400"/>
              <a:buAutoNum type="arabicPeriod"/>
            </a:pPr>
            <a:r>
              <a:rPr b="1" lang="en-US" sz="2400">
                <a:solidFill>
                  <a:schemeClr val="dk1"/>
                </a:solidFill>
              </a:rPr>
              <a:t>Protokol Web</a:t>
            </a:r>
            <a:r>
              <a:rPr lang="en-US" sz="2400">
                <a:solidFill>
                  <a:schemeClr val="dk1"/>
                </a:solidFill>
              </a:rPr>
              <a:t>: Aturan komunikasi di web, seperti HTTP dan HTTPS.</a:t>
            </a:r>
            <a:endParaRPr sz="2400">
              <a:solidFill>
                <a:schemeClr val="dk1"/>
              </a:solidFill>
            </a:endParaRPr>
          </a:p>
          <a:p>
            <a:pPr indent="0" lvl="0" marL="0" marR="0" rtl="0" algn="just">
              <a:lnSpc>
                <a:spcPct val="140000"/>
              </a:lnSpc>
              <a:spcBef>
                <a:spcPts val="1200"/>
              </a:spcBef>
              <a:spcAft>
                <a:spcPts val="0"/>
              </a:spcAft>
              <a:buClr>
                <a:srgbClr val="000000"/>
              </a:buClr>
              <a:buSzPts val="1700"/>
              <a:buFont typeface="Arial"/>
              <a:buNone/>
            </a:pPr>
            <a:r>
              <a:t/>
            </a:r>
            <a:endParaRPr sz="3000">
              <a:solidFill>
                <a:srgbClr val="343434"/>
              </a:solidFill>
              <a:latin typeface="DM Sans"/>
              <a:ea typeface="DM Sans"/>
              <a:cs typeface="DM Sans"/>
              <a:sym typeface="DM Sans"/>
            </a:endParaRPr>
          </a:p>
        </p:txBody>
      </p:sp>
      <p:sp>
        <p:nvSpPr>
          <p:cNvPr id="138" name="Google Shape;138;p4"/>
          <p:cNvSpPr txBox="1"/>
          <p:nvPr/>
        </p:nvSpPr>
        <p:spPr>
          <a:xfrm>
            <a:off x="16253563" y="8991600"/>
            <a:ext cx="1005737" cy="266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04</a:t>
            </a:r>
            <a:endParaRPr b="0" i="0" sz="1400" u="none" cap="none" strike="noStrike">
              <a:solidFill>
                <a:srgbClr val="000000"/>
              </a:solidFill>
              <a:latin typeface="Arial"/>
              <a:ea typeface="Arial"/>
              <a:cs typeface="Arial"/>
              <a:sym typeface="Arial"/>
            </a:endParaRPr>
          </a:p>
        </p:txBody>
      </p:sp>
      <p:sp>
        <p:nvSpPr>
          <p:cNvPr id="139" name="Google Shape;139;p4"/>
          <p:cNvSpPr txBox="1"/>
          <p:nvPr/>
        </p:nvSpPr>
        <p:spPr>
          <a:xfrm>
            <a:off x="85924" y="182065"/>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43" name="Shape 143"/>
        <p:cNvGrpSpPr/>
        <p:nvPr/>
      </p:nvGrpSpPr>
      <p:grpSpPr>
        <a:xfrm>
          <a:off x="0" y="0"/>
          <a:ext cx="0" cy="0"/>
          <a:chOff x="0" y="0"/>
          <a:chExt cx="0" cy="0"/>
        </a:xfrm>
      </p:grpSpPr>
      <p:sp>
        <p:nvSpPr>
          <p:cNvPr id="144" name="Google Shape;144;p5"/>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145" name="Google Shape;145;p5"/>
          <p:cNvSpPr/>
          <p:nvPr/>
        </p:nvSpPr>
        <p:spPr>
          <a:xfrm>
            <a:off x="13675814" y="1993414"/>
            <a:ext cx="4355876" cy="6337915"/>
          </a:xfrm>
          <a:custGeom>
            <a:rect b="b" l="l" r="r" t="t"/>
            <a:pathLst>
              <a:path extrusionOk="0" h="6337915" w="4355876">
                <a:moveTo>
                  <a:pt x="0" y="0"/>
                </a:moveTo>
                <a:lnTo>
                  <a:pt x="4355877" y="0"/>
                </a:lnTo>
                <a:lnTo>
                  <a:pt x="4355877" y="6337915"/>
                </a:lnTo>
                <a:lnTo>
                  <a:pt x="0" y="6337915"/>
                </a:lnTo>
                <a:lnTo>
                  <a:pt x="0" y="0"/>
                </a:lnTo>
                <a:close/>
              </a:path>
            </a:pathLst>
          </a:custGeom>
          <a:blipFill rotWithShape="1">
            <a:blip r:embed="rId4">
              <a:alphaModFix/>
            </a:blip>
            <a:stretch>
              <a:fillRect b="0" l="0" r="0" t="0"/>
            </a:stretch>
          </a:blipFill>
          <a:ln>
            <a:noFill/>
          </a:ln>
        </p:spPr>
      </p:sp>
      <p:sp>
        <p:nvSpPr>
          <p:cNvPr id="146" name="Google Shape;146;p5"/>
          <p:cNvSpPr/>
          <p:nvPr/>
        </p:nvSpPr>
        <p:spPr>
          <a:xfrm>
            <a:off x="10185114" y="2788845"/>
            <a:ext cx="4015755" cy="4709308"/>
          </a:xfrm>
          <a:custGeom>
            <a:rect b="b" l="l" r="r" t="t"/>
            <a:pathLst>
              <a:path extrusionOk="0" h="4709308" w="4015755">
                <a:moveTo>
                  <a:pt x="0" y="0"/>
                </a:moveTo>
                <a:lnTo>
                  <a:pt x="4015755" y="0"/>
                </a:lnTo>
                <a:lnTo>
                  <a:pt x="4015755" y="4709308"/>
                </a:lnTo>
                <a:lnTo>
                  <a:pt x="0" y="4709308"/>
                </a:lnTo>
                <a:lnTo>
                  <a:pt x="0" y="0"/>
                </a:lnTo>
                <a:close/>
              </a:path>
            </a:pathLst>
          </a:custGeom>
          <a:blipFill rotWithShape="1">
            <a:blip r:embed="rId5">
              <a:alphaModFix/>
            </a:blip>
            <a:stretch>
              <a:fillRect b="0" l="0" r="0" t="0"/>
            </a:stretch>
          </a:blipFill>
          <a:ln>
            <a:noFill/>
          </a:ln>
        </p:spPr>
      </p:sp>
      <p:sp>
        <p:nvSpPr>
          <p:cNvPr id="147" name="Google Shape;147;p5"/>
          <p:cNvSpPr/>
          <p:nvPr/>
        </p:nvSpPr>
        <p:spPr>
          <a:xfrm flipH="1" rot="128855">
            <a:off x="12355703" y="6807492"/>
            <a:ext cx="4916399" cy="2234727"/>
          </a:xfrm>
          <a:custGeom>
            <a:rect b="b" l="l" r="r" t="t"/>
            <a:pathLst>
              <a:path extrusionOk="0" h="2233157" w="4912946">
                <a:moveTo>
                  <a:pt x="4912946" y="0"/>
                </a:moveTo>
                <a:lnTo>
                  <a:pt x="0" y="0"/>
                </a:lnTo>
                <a:lnTo>
                  <a:pt x="0" y="2233157"/>
                </a:lnTo>
                <a:lnTo>
                  <a:pt x="4912946" y="2233157"/>
                </a:lnTo>
                <a:lnTo>
                  <a:pt x="4912946" y="0"/>
                </a:lnTo>
                <a:close/>
              </a:path>
            </a:pathLst>
          </a:custGeom>
          <a:blipFill rotWithShape="1">
            <a:blip r:embed="rId6">
              <a:alphaModFix/>
            </a:blip>
            <a:stretch>
              <a:fillRect b="0" l="0" r="0" t="0"/>
            </a:stretch>
          </a:blipFill>
          <a:ln>
            <a:noFill/>
          </a:ln>
        </p:spPr>
      </p:sp>
      <p:sp>
        <p:nvSpPr>
          <p:cNvPr id="148" name="Google Shape;148;p5"/>
          <p:cNvSpPr txBox="1"/>
          <p:nvPr/>
        </p:nvSpPr>
        <p:spPr>
          <a:xfrm>
            <a:off x="4341475" y="973846"/>
            <a:ext cx="70725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343434"/>
                </a:solidFill>
              </a:rPr>
              <a:t>Cara Kerja Web</a:t>
            </a:r>
            <a:endParaRPr b="0" i="0" sz="1400" u="none" cap="none" strike="noStrike">
              <a:solidFill>
                <a:srgbClr val="000000"/>
              </a:solidFill>
              <a:latin typeface="Arial"/>
              <a:ea typeface="Arial"/>
              <a:cs typeface="Arial"/>
              <a:sym typeface="Arial"/>
            </a:endParaRPr>
          </a:p>
        </p:txBody>
      </p:sp>
      <p:sp>
        <p:nvSpPr>
          <p:cNvPr id="149" name="Google Shape;149;p5"/>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150" name="Google Shape;150;p5"/>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151" name="Google Shape;151;p5"/>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152" name="Google Shape;152;p5"/>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153" name="Google Shape;153;p5"/>
          <p:cNvSpPr txBox="1"/>
          <p:nvPr/>
        </p:nvSpPr>
        <p:spPr>
          <a:xfrm>
            <a:off x="1037650" y="4020580"/>
            <a:ext cx="6543900" cy="5349000"/>
          </a:xfrm>
          <a:prstGeom prst="rect">
            <a:avLst/>
          </a:prstGeom>
          <a:noFill/>
          <a:ln>
            <a:noFill/>
          </a:ln>
        </p:spPr>
        <p:txBody>
          <a:bodyPr anchorCtr="0" anchor="t" bIns="0" lIns="0" spcFirstLastPara="1" rIns="0" wrap="square" tIns="0">
            <a:spAutoFit/>
          </a:bodyPr>
          <a:lstStyle/>
          <a:p>
            <a:pPr indent="-361950" lvl="0" marL="457200" rtl="0" algn="l">
              <a:lnSpc>
                <a:spcPct val="115000"/>
              </a:lnSpc>
              <a:spcBef>
                <a:spcPts val="1200"/>
              </a:spcBef>
              <a:spcAft>
                <a:spcPts val="0"/>
              </a:spcAft>
              <a:buClr>
                <a:schemeClr val="dk1"/>
              </a:buClr>
              <a:buSzPts val="2100"/>
              <a:buAutoNum type="arabicPeriod"/>
            </a:pPr>
            <a:r>
              <a:rPr lang="en-US" sz="2700">
                <a:solidFill>
                  <a:srgbClr val="343434"/>
                </a:solidFill>
                <a:latin typeface="DM Sans"/>
                <a:ea typeface="DM Sans"/>
                <a:cs typeface="DM Sans"/>
                <a:sym typeface="DM Sans"/>
              </a:rPr>
              <a:t>Pengguna memasukkan alamat web (URL) di browser.</a:t>
            </a:r>
            <a:endParaRPr sz="2700">
              <a:solidFill>
                <a:srgbClr val="343434"/>
              </a:solidFill>
              <a:latin typeface="DM Sans"/>
              <a:ea typeface="DM Sans"/>
              <a:cs typeface="DM Sans"/>
              <a:sym typeface="DM Sans"/>
            </a:endParaRPr>
          </a:p>
          <a:p>
            <a:pPr indent="-361950" lvl="0" marL="457200" rtl="0" algn="l">
              <a:lnSpc>
                <a:spcPct val="115000"/>
              </a:lnSpc>
              <a:spcBef>
                <a:spcPts val="0"/>
              </a:spcBef>
              <a:spcAft>
                <a:spcPts val="0"/>
              </a:spcAft>
              <a:buClr>
                <a:schemeClr val="dk1"/>
              </a:buClr>
              <a:buSzPts val="2100"/>
              <a:buAutoNum type="arabicPeriod"/>
            </a:pPr>
            <a:r>
              <a:rPr lang="en-US" sz="2700">
                <a:solidFill>
                  <a:srgbClr val="343434"/>
                </a:solidFill>
                <a:latin typeface="DM Sans"/>
                <a:ea typeface="DM Sans"/>
                <a:cs typeface="DM Sans"/>
                <a:sym typeface="DM Sans"/>
              </a:rPr>
              <a:t>Browser mengirimkan permintaan HTTP ke server web.</a:t>
            </a:r>
            <a:endParaRPr sz="2700">
              <a:solidFill>
                <a:srgbClr val="343434"/>
              </a:solidFill>
              <a:latin typeface="DM Sans"/>
              <a:ea typeface="DM Sans"/>
              <a:cs typeface="DM Sans"/>
              <a:sym typeface="DM Sans"/>
            </a:endParaRPr>
          </a:p>
          <a:p>
            <a:pPr indent="-361950" lvl="0" marL="457200" rtl="0" algn="l">
              <a:lnSpc>
                <a:spcPct val="115000"/>
              </a:lnSpc>
              <a:spcBef>
                <a:spcPts val="0"/>
              </a:spcBef>
              <a:spcAft>
                <a:spcPts val="0"/>
              </a:spcAft>
              <a:buClr>
                <a:schemeClr val="dk1"/>
              </a:buClr>
              <a:buSzPts val="2100"/>
              <a:buAutoNum type="arabicPeriod"/>
            </a:pPr>
            <a:r>
              <a:rPr lang="en-US" sz="2700">
                <a:solidFill>
                  <a:srgbClr val="343434"/>
                </a:solidFill>
                <a:latin typeface="DM Sans"/>
                <a:ea typeface="DM Sans"/>
                <a:cs typeface="DM Sans"/>
                <a:sym typeface="DM Sans"/>
              </a:rPr>
              <a:t>Server web memproses permintaan dan mengirimkan kembali halaman web dalam format HTML, CSS, dan JavaScript.</a:t>
            </a:r>
            <a:endParaRPr sz="2700">
              <a:solidFill>
                <a:srgbClr val="343434"/>
              </a:solidFill>
              <a:latin typeface="DM Sans"/>
              <a:ea typeface="DM Sans"/>
              <a:cs typeface="DM Sans"/>
              <a:sym typeface="DM Sans"/>
            </a:endParaRPr>
          </a:p>
          <a:p>
            <a:pPr indent="-361950" lvl="0" marL="457200" rtl="0" algn="l">
              <a:lnSpc>
                <a:spcPct val="115000"/>
              </a:lnSpc>
              <a:spcBef>
                <a:spcPts val="0"/>
              </a:spcBef>
              <a:spcAft>
                <a:spcPts val="0"/>
              </a:spcAft>
              <a:buClr>
                <a:schemeClr val="dk1"/>
              </a:buClr>
              <a:buSzPts val="2100"/>
              <a:buAutoNum type="arabicPeriod"/>
            </a:pPr>
            <a:r>
              <a:rPr lang="en-US" sz="2700">
                <a:solidFill>
                  <a:srgbClr val="343434"/>
                </a:solidFill>
                <a:latin typeface="DM Sans"/>
                <a:ea typeface="DM Sans"/>
                <a:cs typeface="DM Sans"/>
                <a:sym typeface="DM Sans"/>
              </a:rPr>
              <a:t>Browser merender halaman web dan menampilkannya kepada pengguna.</a:t>
            </a:r>
            <a:endParaRPr sz="2700">
              <a:solidFill>
                <a:srgbClr val="343434"/>
              </a:solidFill>
              <a:latin typeface="DM Sans"/>
              <a:ea typeface="DM Sans"/>
              <a:cs typeface="DM Sans"/>
              <a:sym typeface="DM Sans"/>
            </a:endParaRPr>
          </a:p>
          <a:p>
            <a:pPr indent="0" lvl="0" marL="0" marR="0" rtl="0" algn="just">
              <a:lnSpc>
                <a:spcPct val="140000"/>
              </a:lnSpc>
              <a:spcBef>
                <a:spcPts val="1200"/>
              </a:spcBef>
              <a:spcAft>
                <a:spcPts val="0"/>
              </a:spcAft>
              <a:buClr>
                <a:srgbClr val="000000"/>
              </a:buClr>
              <a:buSzPts val="1700"/>
              <a:buFont typeface="Arial"/>
              <a:buNone/>
            </a:pPr>
            <a:r>
              <a:t/>
            </a:r>
            <a:endParaRPr sz="2700">
              <a:solidFill>
                <a:srgbClr val="343434"/>
              </a:solidFill>
              <a:latin typeface="DM Sans"/>
              <a:ea typeface="DM Sans"/>
              <a:cs typeface="DM Sans"/>
              <a:sym typeface="DM Sans"/>
            </a:endParaRPr>
          </a:p>
        </p:txBody>
      </p:sp>
      <p:sp>
        <p:nvSpPr>
          <p:cNvPr id="154" name="Google Shape;154;p5"/>
          <p:cNvSpPr txBox="1"/>
          <p:nvPr/>
        </p:nvSpPr>
        <p:spPr>
          <a:xfrm>
            <a:off x="16253563" y="8991600"/>
            <a:ext cx="1005737" cy="266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05</a:t>
            </a:r>
            <a:endParaRPr b="0" i="0" sz="1400" u="none" cap="none" strike="noStrike">
              <a:solidFill>
                <a:srgbClr val="000000"/>
              </a:solidFill>
              <a:latin typeface="Arial"/>
              <a:ea typeface="Arial"/>
              <a:cs typeface="Arial"/>
              <a:sym typeface="Arial"/>
            </a:endParaRPr>
          </a:p>
        </p:txBody>
      </p:sp>
      <p:sp>
        <p:nvSpPr>
          <p:cNvPr id="155" name="Google Shape;155;p5"/>
          <p:cNvSpPr txBox="1"/>
          <p:nvPr/>
        </p:nvSpPr>
        <p:spPr>
          <a:xfrm>
            <a:off x="85924" y="182065"/>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59" name="Shape 159"/>
        <p:cNvGrpSpPr/>
        <p:nvPr/>
      </p:nvGrpSpPr>
      <p:grpSpPr>
        <a:xfrm>
          <a:off x="0" y="0"/>
          <a:ext cx="0" cy="0"/>
          <a:chOff x="0" y="0"/>
          <a:chExt cx="0" cy="0"/>
        </a:xfrm>
      </p:grpSpPr>
      <p:sp>
        <p:nvSpPr>
          <p:cNvPr id="160" name="Google Shape;160;p6"/>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161" name="Google Shape;161;p6"/>
          <p:cNvSpPr/>
          <p:nvPr/>
        </p:nvSpPr>
        <p:spPr>
          <a:xfrm>
            <a:off x="3934517" y="4362214"/>
            <a:ext cx="936193" cy="887460"/>
          </a:xfrm>
          <a:custGeom>
            <a:rect b="b" l="l" r="r" t="t"/>
            <a:pathLst>
              <a:path extrusionOk="0" h="887460" w="936193">
                <a:moveTo>
                  <a:pt x="0" y="0"/>
                </a:moveTo>
                <a:lnTo>
                  <a:pt x="936193" y="0"/>
                </a:lnTo>
                <a:lnTo>
                  <a:pt x="936193" y="887460"/>
                </a:lnTo>
                <a:lnTo>
                  <a:pt x="0" y="887460"/>
                </a:lnTo>
                <a:lnTo>
                  <a:pt x="0" y="0"/>
                </a:lnTo>
                <a:close/>
              </a:path>
            </a:pathLst>
          </a:custGeom>
          <a:blipFill rotWithShape="1">
            <a:blip r:embed="rId4">
              <a:alphaModFix/>
            </a:blip>
            <a:stretch>
              <a:fillRect b="0" l="0" r="0" t="0"/>
            </a:stretch>
          </a:blipFill>
          <a:ln>
            <a:noFill/>
          </a:ln>
        </p:spPr>
      </p:sp>
      <p:sp>
        <p:nvSpPr>
          <p:cNvPr id="162" name="Google Shape;162;p6"/>
          <p:cNvSpPr/>
          <p:nvPr/>
        </p:nvSpPr>
        <p:spPr>
          <a:xfrm>
            <a:off x="8796364" y="4321622"/>
            <a:ext cx="695271" cy="887460"/>
          </a:xfrm>
          <a:custGeom>
            <a:rect b="b" l="l" r="r" t="t"/>
            <a:pathLst>
              <a:path extrusionOk="0" h="887460" w="695271">
                <a:moveTo>
                  <a:pt x="0" y="0"/>
                </a:moveTo>
                <a:lnTo>
                  <a:pt x="695272" y="0"/>
                </a:lnTo>
                <a:lnTo>
                  <a:pt x="695272" y="887460"/>
                </a:lnTo>
                <a:lnTo>
                  <a:pt x="0" y="887460"/>
                </a:lnTo>
                <a:lnTo>
                  <a:pt x="0" y="0"/>
                </a:lnTo>
                <a:close/>
              </a:path>
            </a:pathLst>
          </a:custGeom>
          <a:blipFill rotWithShape="1">
            <a:blip r:embed="rId5">
              <a:alphaModFix/>
            </a:blip>
            <a:stretch>
              <a:fillRect b="0" l="0" r="0" t="0"/>
            </a:stretch>
          </a:blipFill>
          <a:ln>
            <a:noFill/>
          </a:ln>
        </p:spPr>
      </p:sp>
      <p:sp>
        <p:nvSpPr>
          <p:cNvPr id="163" name="Google Shape;163;p6"/>
          <p:cNvSpPr/>
          <p:nvPr/>
        </p:nvSpPr>
        <p:spPr>
          <a:xfrm>
            <a:off x="13209909" y="4321622"/>
            <a:ext cx="889362" cy="887460"/>
          </a:xfrm>
          <a:custGeom>
            <a:rect b="b" l="l" r="r" t="t"/>
            <a:pathLst>
              <a:path extrusionOk="0" h="887460" w="889362">
                <a:moveTo>
                  <a:pt x="0" y="0"/>
                </a:moveTo>
                <a:lnTo>
                  <a:pt x="889362" y="0"/>
                </a:lnTo>
                <a:lnTo>
                  <a:pt x="889362" y="887460"/>
                </a:lnTo>
                <a:lnTo>
                  <a:pt x="0" y="887460"/>
                </a:lnTo>
                <a:lnTo>
                  <a:pt x="0" y="0"/>
                </a:lnTo>
                <a:close/>
              </a:path>
            </a:pathLst>
          </a:custGeom>
          <a:blipFill rotWithShape="1">
            <a:blip r:embed="rId6">
              <a:alphaModFix/>
            </a:blip>
            <a:stretch>
              <a:fillRect b="0" l="0" r="0" t="0"/>
            </a:stretch>
          </a:blipFill>
          <a:ln>
            <a:noFill/>
          </a:ln>
        </p:spPr>
      </p:sp>
      <p:sp>
        <p:nvSpPr>
          <p:cNvPr id="164" name="Google Shape;164;p6"/>
          <p:cNvSpPr txBox="1"/>
          <p:nvPr/>
        </p:nvSpPr>
        <p:spPr>
          <a:xfrm>
            <a:off x="3703022" y="617550"/>
            <a:ext cx="100755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343434"/>
                </a:solidFill>
              </a:rPr>
              <a:t>Jenis-Jenis Website</a:t>
            </a:r>
            <a:endParaRPr b="0" i="0" sz="1400" u="none" cap="none" strike="noStrike">
              <a:solidFill>
                <a:srgbClr val="000000"/>
              </a:solidFill>
              <a:latin typeface="Arial"/>
              <a:ea typeface="Arial"/>
              <a:cs typeface="Arial"/>
              <a:sym typeface="Arial"/>
            </a:endParaRPr>
          </a:p>
        </p:txBody>
      </p:sp>
      <p:sp>
        <p:nvSpPr>
          <p:cNvPr id="165" name="Google Shape;165;p6"/>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166" name="Google Shape;166;p6"/>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167" name="Google Shape;167;p6"/>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168" name="Google Shape;168;p6"/>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169" name="Google Shape;169;p6"/>
          <p:cNvSpPr txBox="1"/>
          <p:nvPr/>
        </p:nvSpPr>
        <p:spPr>
          <a:xfrm>
            <a:off x="2490645" y="5906717"/>
            <a:ext cx="4054800" cy="2136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0"/>
              </a:spcAft>
              <a:buClr>
                <a:schemeClr val="dk1"/>
              </a:buClr>
              <a:buSzPts val="1100"/>
              <a:buFont typeface="Arial"/>
              <a:buNone/>
            </a:pPr>
            <a:r>
              <a:rPr lang="en-US" sz="2300">
                <a:solidFill>
                  <a:srgbClr val="343434"/>
                </a:solidFill>
                <a:latin typeface="DM Sans"/>
                <a:ea typeface="DM Sans"/>
                <a:cs typeface="DM Sans"/>
                <a:sym typeface="DM Sans"/>
              </a:rPr>
              <a:t>Halaman web yang kontennya tidak berubah kecuali diperbarui secara manual oleh pengembang.</a:t>
            </a:r>
            <a:endParaRPr sz="2300">
              <a:solidFill>
                <a:srgbClr val="343434"/>
              </a:solidFill>
              <a:latin typeface="DM Sans"/>
              <a:ea typeface="DM Sans"/>
              <a:cs typeface="DM Sans"/>
              <a:sym typeface="DM Sans"/>
            </a:endParaRPr>
          </a:p>
          <a:p>
            <a:pPr indent="0" lvl="0" marL="0" marR="0" rtl="0" algn="just">
              <a:lnSpc>
                <a:spcPct val="140000"/>
              </a:lnSpc>
              <a:spcBef>
                <a:spcPts val="1200"/>
              </a:spcBef>
              <a:spcAft>
                <a:spcPts val="0"/>
              </a:spcAft>
              <a:buClr>
                <a:srgbClr val="000000"/>
              </a:buClr>
              <a:buSzPts val="1700"/>
              <a:buFont typeface="Arial"/>
              <a:buNone/>
            </a:pPr>
            <a:r>
              <a:t/>
            </a:r>
            <a:endParaRPr sz="2300">
              <a:solidFill>
                <a:srgbClr val="343434"/>
              </a:solidFill>
              <a:latin typeface="DM Sans"/>
              <a:ea typeface="DM Sans"/>
              <a:cs typeface="DM Sans"/>
              <a:sym typeface="DM Sans"/>
            </a:endParaRPr>
          </a:p>
        </p:txBody>
      </p:sp>
      <p:sp>
        <p:nvSpPr>
          <p:cNvPr id="170" name="Google Shape;170;p6"/>
          <p:cNvSpPr txBox="1"/>
          <p:nvPr/>
        </p:nvSpPr>
        <p:spPr>
          <a:xfrm>
            <a:off x="16253563" y="8991600"/>
            <a:ext cx="1005737" cy="266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06</a:t>
            </a:r>
            <a:endParaRPr b="0" i="0" sz="1400" u="none" cap="none" strike="noStrike">
              <a:solidFill>
                <a:srgbClr val="000000"/>
              </a:solidFill>
              <a:latin typeface="Arial"/>
              <a:ea typeface="Arial"/>
              <a:cs typeface="Arial"/>
              <a:sym typeface="Arial"/>
            </a:endParaRPr>
          </a:p>
        </p:txBody>
      </p:sp>
      <p:sp>
        <p:nvSpPr>
          <p:cNvPr id="171" name="Google Shape;171;p6"/>
          <p:cNvSpPr txBox="1"/>
          <p:nvPr/>
        </p:nvSpPr>
        <p:spPr>
          <a:xfrm>
            <a:off x="3565649" y="5373750"/>
            <a:ext cx="27354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000"/>
              <a:buFont typeface="Arial"/>
              <a:buNone/>
            </a:pPr>
            <a:r>
              <a:rPr b="1" lang="en-US" sz="2000">
                <a:solidFill>
                  <a:srgbClr val="343434"/>
                </a:solidFill>
                <a:latin typeface="DM Sans"/>
                <a:ea typeface="DM Sans"/>
                <a:cs typeface="DM Sans"/>
                <a:sym typeface="DM Sans"/>
              </a:rPr>
              <a:t>Website Statis</a:t>
            </a:r>
            <a:endParaRPr b="0" i="0" sz="1400" u="none" cap="none" strike="noStrike">
              <a:solidFill>
                <a:srgbClr val="000000"/>
              </a:solidFill>
              <a:latin typeface="Arial"/>
              <a:ea typeface="Arial"/>
              <a:cs typeface="Arial"/>
              <a:sym typeface="Arial"/>
            </a:endParaRPr>
          </a:p>
        </p:txBody>
      </p:sp>
      <p:sp>
        <p:nvSpPr>
          <p:cNvPr id="172" name="Google Shape;172;p6"/>
          <p:cNvSpPr txBox="1"/>
          <p:nvPr/>
        </p:nvSpPr>
        <p:spPr>
          <a:xfrm>
            <a:off x="7116633" y="5906717"/>
            <a:ext cx="4054800" cy="2543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0"/>
              </a:spcAft>
              <a:buClr>
                <a:schemeClr val="dk1"/>
              </a:buClr>
              <a:buSzPts val="1100"/>
              <a:buFont typeface="Arial"/>
              <a:buNone/>
            </a:pPr>
            <a:r>
              <a:rPr lang="en-US" sz="2300">
                <a:solidFill>
                  <a:srgbClr val="343434"/>
                </a:solidFill>
                <a:latin typeface="DM Sans"/>
                <a:ea typeface="DM Sans"/>
                <a:cs typeface="DM Sans"/>
                <a:sym typeface="DM Sans"/>
              </a:rPr>
              <a:t>Halaman web yang kontennya dapat berubah secara otomatis berdasarkan interaksi pengguna atau basis data</a:t>
            </a:r>
            <a:endParaRPr sz="2300">
              <a:solidFill>
                <a:srgbClr val="343434"/>
              </a:solidFill>
              <a:latin typeface="DM Sans"/>
              <a:ea typeface="DM Sans"/>
              <a:cs typeface="DM Sans"/>
              <a:sym typeface="DM Sans"/>
            </a:endParaRPr>
          </a:p>
          <a:p>
            <a:pPr indent="0" lvl="0" marL="0" marR="0" rtl="0" algn="ctr">
              <a:lnSpc>
                <a:spcPct val="140000"/>
              </a:lnSpc>
              <a:spcBef>
                <a:spcPts val="1200"/>
              </a:spcBef>
              <a:spcAft>
                <a:spcPts val="0"/>
              </a:spcAft>
              <a:buClr>
                <a:srgbClr val="000000"/>
              </a:buClr>
              <a:buSzPts val="1700"/>
              <a:buFont typeface="Arial"/>
              <a:buNone/>
            </a:pPr>
            <a:r>
              <a:t/>
            </a:r>
            <a:endParaRPr sz="2300">
              <a:solidFill>
                <a:srgbClr val="343434"/>
              </a:solidFill>
              <a:latin typeface="DM Sans"/>
              <a:ea typeface="DM Sans"/>
              <a:cs typeface="DM Sans"/>
              <a:sym typeface="DM Sans"/>
            </a:endParaRPr>
          </a:p>
        </p:txBody>
      </p:sp>
      <p:sp>
        <p:nvSpPr>
          <p:cNvPr id="173" name="Google Shape;173;p6"/>
          <p:cNvSpPr txBox="1"/>
          <p:nvPr/>
        </p:nvSpPr>
        <p:spPr>
          <a:xfrm>
            <a:off x="7926765" y="5373749"/>
            <a:ext cx="24345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000"/>
              <a:buFont typeface="Arial"/>
              <a:buNone/>
            </a:pPr>
            <a:r>
              <a:rPr b="1" lang="en-US" sz="2000">
                <a:solidFill>
                  <a:srgbClr val="343434"/>
                </a:solidFill>
                <a:latin typeface="DM Sans"/>
                <a:ea typeface="DM Sans"/>
                <a:cs typeface="DM Sans"/>
                <a:sym typeface="DM Sans"/>
              </a:rPr>
              <a:t>Website Dinamis</a:t>
            </a:r>
            <a:endParaRPr b="0" i="0" sz="1400" u="none" cap="none" strike="noStrike">
              <a:solidFill>
                <a:srgbClr val="000000"/>
              </a:solidFill>
              <a:latin typeface="Arial"/>
              <a:ea typeface="Arial"/>
              <a:cs typeface="Arial"/>
              <a:sym typeface="Arial"/>
            </a:endParaRPr>
          </a:p>
        </p:txBody>
      </p:sp>
      <p:sp>
        <p:nvSpPr>
          <p:cNvPr id="174" name="Google Shape;174;p6"/>
          <p:cNvSpPr txBox="1"/>
          <p:nvPr/>
        </p:nvSpPr>
        <p:spPr>
          <a:xfrm>
            <a:off x="11742621" y="5906717"/>
            <a:ext cx="4054800" cy="2543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0"/>
              </a:spcAft>
              <a:buClr>
                <a:schemeClr val="dk1"/>
              </a:buClr>
              <a:buSzPts val="1100"/>
              <a:buFont typeface="Arial"/>
              <a:buNone/>
            </a:pPr>
            <a:r>
              <a:rPr lang="en-US" sz="2300">
                <a:solidFill>
                  <a:srgbClr val="343434"/>
                </a:solidFill>
                <a:latin typeface="DM Sans"/>
                <a:ea typeface="DM Sans"/>
                <a:cs typeface="DM Sans"/>
                <a:sym typeface="DM Sans"/>
              </a:rPr>
              <a:t>Aplikasi berbasis web yang memungkinkan interaksi lebih kompleks, seperti e-commerce, media sosial, dan layanan email.</a:t>
            </a:r>
            <a:endParaRPr sz="2300">
              <a:solidFill>
                <a:srgbClr val="343434"/>
              </a:solidFill>
              <a:latin typeface="DM Sans"/>
              <a:ea typeface="DM Sans"/>
              <a:cs typeface="DM Sans"/>
              <a:sym typeface="DM Sans"/>
            </a:endParaRPr>
          </a:p>
          <a:p>
            <a:pPr indent="0" lvl="0" marL="0" marR="0" rtl="0" algn="ctr">
              <a:lnSpc>
                <a:spcPct val="140000"/>
              </a:lnSpc>
              <a:spcBef>
                <a:spcPts val="1200"/>
              </a:spcBef>
              <a:spcAft>
                <a:spcPts val="0"/>
              </a:spcAft>
              <a:buClr>
                <a:srgbClr val="000000"/>
              </a:buClr>
              <a:buSzPts val="1700"/>
              <a:buFont typeface="Arial"/>
              <a:buNone/>
            </a:pPr>
            <a:r>
              <a:t/>
            </a:r>
            <a:endParaRPr sz="2300">
              <a:solidFill>
                <a:srgbClr val="343434"/>
              </a:solidFill>
              <a:latin typeface="DM Sans"/>
              <a:ea typeface="DM Sans"/>
              <a:cs typeface="DM Sans"/>
              <a:sym typeface="DM Sans"/>
            </a:endParaRPr>
          </a:p>
        </p:txBody>
      </p:sp>
      <p:sp>
        <p:nvSpPr>
          <p:cNvPr id="175" name="Google Shape;175;p6"/>
          <p:cNvSpPr txBox="1"/>
          <p:nvPr/>
        </p:nvSpPr>
        <p:spPr>
          <a:xfrm>
            <a:off x="12504373" y="5373749"/>
            <a:ext cx="22638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000"/>
              <a:buFont typeface="Arial"/>
              <a:buNone/>
            </a:pPr>
            <a:r>
              <a:rPr b="1" lang="en-US" sz="2000">
                <a:solidFill>
                  <a:srgbClr val="343434"/>
                </a:solidFill>
                <a:latin typeface="DM Sans"/>
                <a:ea typeface="DM Sans"/>
                <a:cs typeface="DM Sans"/>
                <a:sym typeface="DM Sans"/>
              </a:rPr>
              <a:t>Web Aplikasi</a:t>
            </a:r>
            <a:endParaRPr b="0" i="0" sz="1400" u="none" cap="none" strike="noStrike">
              <a:solidFill>
                <a:srgbClr val="000000"/>
              </a:solidFill>
              <a:latin typeface="Arial"/>
              <a:ea typeface="Arial"/>
              <a:cs typeface="Arial"/>
              <a:sym typeface="Arial"/>
            </a:endParaRPr>
          </a:p>
        </p:txBody>
      </p:sp>
      <p:sp>
        <p:nvSpPr>
          <p:cNvPr id="176" name="Google Shape;176;p6"/>
          <p:cNvSpPr txBox="1"/>
          <p:nvPr/>
        </p:nvSpPr>
        <p:spPr>
          <a:xfrm>
            <a:off x="85924" y="182065"/>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80" name="Shape 180"/>
        <p:cNvGrpSpPr/>
        <p:nvPr/>
      </p:nvGrpSpPr>
      <p:grpSpPr>
        <a:xfrm>
          <a:off x="0" y="0"/>
          <a:ext cx="0" cy="0"/>
          <a:chOff x="0" y="0"/>
          <a:chExt cx="0" cy="0"/>
        </a:xfrm>
      </p:grpSpPr>
      <p:sp>
        <p:nvSpPr>
          <p:cNvPr id="181" name="Google Shape;181;p7"/>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182" name="Google Shape;182;p7"/>
          <p:cNvSpPr/>
          <p:nvPr/>
        </p:nvSpPr>
        <p:spPr>
          <a:xfrm>
            <a:off x="11601508" y="1912631"/>
            <a:ext cx="4652055" cy="6106516"/>
          </a:xfrm>
          <a:custGeom>
            <a:rect b="b" l="l" r="r" t="t"/>
            <a:pathLst>
              <a:path extrusionOk="0" h="6106516" w="4652055">
                <a:moveTo>
                  <a:pt x="0" y="0"/>
                </a:moveTo>
                <a:lnTo>
                  <a:pt x="4652055" y="0"/>
                </a:lnTo>
                <a:lnTo>
                  <a:pt x="4652055" y="6106516"/>
                </a:lnTo>
                <a:lnTo>
                  <a:pt x="0" y="6106516"/>
                </a:lnTo>
                <a:lnTo>
                  <a:pt x="0" y="0"/>
                </a:lnTo>
                <a:close/>
              </a:path>
            </a:pathLst>
          </a:custGeom>
          <a:blipFill rotWithShape="1">
            <a:blip r:embed="rId4">
              <a:alphaModFix/>
            </a:blip>
            <a:stretch>
              <a:fillRect b="0" l="0" r="0" t="0"/>
            </a:stretch>
          </a:blipFill>
          <a:ln>
            <a:noFill/>
          </a:ln>
        </p:spPr>
      </p:sp>
      <p:sp>
        <p:nvSpPr>
          <p:cNvPr id="183" name="Google Shape;183;p7"/>
          <p:cNvSpPr/>
          <p:nvPr/>
        </p:nvSpPr>
        <p:spPr>
          <a:xfrm>
            <a:off x="9722613" y="3588656"/>
            <a:ext cx="2597247" cy="4793577"/>
          </a:xfrm>
          <a:custGeom>
            <a:rect b="b" l="l" r="r" t="t"/>
            <a:pathLst>
              <a:path extrusionOk="0" h="4793577" w="2597247">
                <a:moveTo>
                  <a:pt x="0" y="0"/>
                </a:moveTo>
                <a:lnTo>
                  <a:pt x="2597247" y="0"/>
                </a:lnTo>
                <a:lnTo>
                  <a:pt x="2597247" y="4793577"/>
                </a:lnTo>
                <a:lnTo>
                  <a:pt x="0" y="4793577"/>
                </a:lnTo>
                <a:lnTo>
                  <a:pt x="0" y="0"/>
                </a:lnTo>
                <a:close/>
              </a:path>
            </a:pathLst>
          </a:custGeom>
          <a:blipFill rotWithShape="1">
            <a:blip r:embed="rId5">
              <a:alphaModFix/>
            </a:blip>
            <a:stretch>
              <a:fillRect b="0" l="0" r="0" t="0"/>
            </a:stretch>
          </a:blipFill>
          <a:ln>
            <a:noFill/>
          </a:ln>
        </p:spPr>
      </p:sp>
      <p:sp>
        <p:nvSpPr>
          <p:cNvPr id="184" name="Google Shape;184;p7"/>
          <p:cNvSpPr txBox="1"/>
          <p:nvPr/>
        </p:nvSpPr>
        <p:spPr>
          <a:xfrm>
            <a:off x="285650" y="919850"/>
            <a:ext cx="125886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5000">
                <a:solidFill>
                  <a:srgbClr val="343434"/>
                </a:solidFill>
              </a:rPr>
              <a:t>Teknologi Dasar Pengembangan Web</a:t>
            </a:r>
            <a:endParaRPr b="1" sz="5000">
              <a:solidFill>
                <a:srgbClr val="343434"/>
              </a:solidFill>
            </a:endParaRPr>
          </a:p>
        </p:txBody>
      </p:sp>
      <p:sp>
        <p:nvSpPr>
          <p:cNvPr id="185" name="Google Shape;185;p7"/>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186" name="Google Shape;186;p7"/>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187" name="Google Shape;187;p7"/>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188" name="Google Shape;188;p7"/>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189" name="Google Shape;189;p7"/>
          <p:cNvSpPr txBox="1"/>
          <p:nvPr/>
        </p:nvSpPr>
        <p:spPr>
          <a:xfrm>
            <a:off x="1002775" y="3358030"/>
            <a:ext cx="6543900" cy="5258100"/>
          </a:xfrm>
          <a:prstGeom prst="rect">
            <a:avLst/>
          </a:prstGeom>
          <a:noFill/>
          <a:ln>
            <a:noFill/>
          </a:ln>
        </p:spPr>
        <p:txBody>
          <a:bodyPr anchorCtr="0" anchor="t" bIns="0" lIns="0" spcFirstLastPara="1" rIns="0" wrap="square" tIns="0">
            <a:spAutoFit/>
          </a:bodyPr>
          <a:lstStyle/>
          <a:p>
            <a:pPr indent="-368300" lvl="0" marL="457200" rtl="0" algn="l">
              <a:lnSpc>
                <a:spcPct val="115000"/>
              </a:lnSpc>
              <a:spcBef>
                <a:spcPts val="1200"/>
              </a:spcBef>
              <a:spcAft>
                <a:spcPts val="0"/>
              </a:spcAft>
              <a:buClr>
                <a:schemeClr val="dk1"/>
              </a:buClr>
              <a:buSzPts val="2200"/>
              <a:buAutoNum type="arabicPeriod"/>
            </a:pPr>
            <a:r>
              <a:rPr b="1" lang="en-US" sz="2200">
                <a:solidFill>
                  <a:schemeClr val="dk1"/>
                </a:solidFill>
              </a:rPr>
              <a:t>HTML (Hypertext Markup Language):</a:t>
            </a:r>
            <a:r>
              <a:rPr lang="en-US" sz="2200">
                <a:solidFill>
                  <a:schemeClr val="dk1"/>
                </a:solidFill>
              </a:rPr>
              <a:t> Struktur dasar halaman web.</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b="1" lang="en-US" sz="2200">
                <a:solidFill>
                  <a:schemeClr val="dk1"/>
                </a:solidFill>
              </a:rPr>
              <a:t>CSS (Cascading Style Sheets):</a:t>
            </a:r>
            <a:r>
              <a:rPr lang="en-US" sz="2200">
                <a:solidFill>
                  <a:schemeClr val="dk1"/>
                </a:solidFill>
              </a:rPr>
              <a:t> Digunakan untuk mendesain tampilan halaman web.</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b="1" lang="en-US" sz="2200">
                <a:solidFill>
                  <a:schemeClr val="dk1"/>
                </a:solidFill>
              </a:rPr>
              <a:t>JavaScript:</a:t>
            </a:r>
            <a:r>
              <a:rPr lang="en-US" sz="2200">
                <a:solidFill>
                  <a:schemeClr val="dk1"/>
                </a:solidFill>
              </a:rPr>
              <a:t> Bahasa pemrograman untuk menambahkan interaktivitas pada halaman web.</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b="1" lang="en-US" sz="2200">
                <a:solidFill>
                  <a:schemeClr val="dk1"/>
                </a:solidFill>
              </a:rPr>
              <a:t>Backend Technologies:</a:t>
            </a:r>
            <a:r>
              <a:rPr lang="en-US" sz="2200">
                <a:solidFill>
                  <a:schemeClr val="dk1"/>
                </a:solidFill>
              </a:rPr>
              <a:t> PHP, Python, Node.js, dan lain-lain untuk mengelola server dan basis data.</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b="1" lang="en-US" sz="2200">
                <a:solidFill>
                  <a:schemeClr val="dk1"/>
                </a:solidFill>
              </a:rPr>
              <a:t>Database:</a:t>
            </a:r>
            <a:r>
              <a:rPr lang="en-US" sz="2200">
                <a:solidFill>
                  <a:schemeClr val="dk1"/>
                </a:solidFill>
              </a:rPr>
              <a:t> MySQL, PostgreSQL, MongoDB untuk menyimpan data yang digunakan dalam website.</a:t>
            </a:r>
            <a:endParaRPr sz="2200">
              <a:solidFill>
                <a:schemeClr val="dk1"/>
              </a:solidFill>
            </a:endParaRPr>
          </a:p>
          <a:p>
            <a:pPr indent="0" lvl="0" marL="0" marR="0" rtl="0" algn="just">
              <a:lnSpc>
                <a:spcPct val="140000"/>
              </a:lnSpc>
              <a:spcBef>
                <a:spcPts val="1200"/>
              </a:spcBef>
              <a:spcAft>
                <a:spcPts val="0"/>
              </a:spcAft>
              <a:buClr>
                <a:srgbClr val="000000"/>
              </a:buClr>
              <a:buSzPts val="1700"/>
              <a:buFont typeface="Arial"/>
              <a:buNone/>
            </a:pPr>
            <a:r>
              <a:t/>
            </a:r>
            <a:endParaRPr sz="2800">
              <a:solidFill>
                <a:srgbClr val="343434"/>
              </a:solidFill>
              <a:latin typeface="DM Sans"/>
              <a:ea typeface="DM Sans"/>
              <a:cs typeface="DM Sans"/>
              <a:sym typeface="DM Sans"/>
            </a:endParaRPr>
          </a:p>
        </p:txBody>
      </p:sp>
      <p:sp>
        <p:nvSpPr>
          <p:cNvPr id="190" name="Google Shape;190;p7"/>
          <p:cNvSpPr txBox="1"/>
          <p:nvPr/>
        </p:nvSpPr>
        <p:spPr>
          <a:xfrm>
            <a:off x="16253563" y="8991600"/>
            <a:ext cx="1005737" cy="266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07</a:t>
            </a:r>
            <a:endParaRPr b="0" i="0" sz="1400" u="none" cap="none" strike="noStrike">
              <a:solidFill>
                <a:srgbClr val="000000"/>
              </a:solidFill>
              <a:latin typeface="Arial"/>
              <a:ea typeface="Arial"/>
              <a:cs typeface="Arial"/>
              <a:sym typeface="Arial"/>
            </a:endParaRPr>
          </a:p>
        </p:txBody>
      </p:sp>
      <p:sp>
        <p:nvSpPr>
          <p:cNvPr id="191" name="Google Shape;191;p7"/>
          <p:cNvSpPr txBox="1"/>
          <p:nvPr/>
        </p:nvSpPr>
        <p:spPr>
          <a:xfrm>
            <a:off x="85924" y="182065"/>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95" name="Shape 195"/>
        <p:cNvGrpSpPr/>
        <p:nvPr/>
      </p:nvGrpSpPr>
      <p:grpSpPr>
        <a:xfrm>
          <a:off x="0" y="0"/>
          <a:ext cx="0" cy="0"/>
          <a:chOff x="0" y="0"/>
          <a:chExt cx="0" cy="0"/>
        </a:xfrm>
      </p:grpSpPr>
      <p:sp>
        <p:nvSpPr>
          <p:cNvPr id="196" name="Google Shape;196;p8"/>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197" name="Google Shape;197;p8"/>
          <p:cNvSpPr/>
          <p:nvPr/>
        </p:nvSpPr>
        <p:spPr>
          <a:xfrm>
            <a:off x="10722334" y="2121652"/>
            <a:ext cx="6034097" cy="6718124"/>
          </a:xfrm>
          <a:custGeom>
            <a:rect b="b" l="l" r="r" t="t"/>
            <a:pathLst>
              <a:path extrusionOk="0" h="6718124" w="6034097">
                <a:moveTo>
                  <a:pt x="0" y="0"/>
                </a:moveTo>
                <a:lnTo>
                  <a:pt x="6034097" y="0"/>
                </a:lnTo>
                <a:lnTo>
                  <a:pt x="6034097" y="6718124"/>
                </a:lnTo>
                <a:lnTo>
                  <a:pt x="0" y="6718124"/>
                </a:lnTo>
                <a:lnTo>
                  <a:pt x="0" y="0"/>
                </a:lnTo>
                <a:close/>
              </a:path>
            </a:pathLst>
          </a:custGeom>
          <a:blipFill rotWithShape="1">
            <a:blip r:embed="rId4">
              <a:alphaModFix/>
            </a:blip>
            <a:stretch>
              <a:fillRect b="0" l="0" r="0" t="0"/>
            </a:stretch>
          </a:blipFill>
          <a:ln>
            <a:noFill/>
          </a:ln>
        </p:spPr>
      </p:sp>
      <p:sp>
        <p:nvSpPr>
          <p:cNvPr id="198" name="Google Shape;198;p8"/>
          <p:cNvSpPr/>
          <p:nvPr/>
        </p:nvSpPr>
        <p:spPr>
          <a:xfrm>
            <a:off x="10092353" y="1694614"/>
            <a:ext cx="4179099" cy="6080700"/>
          </a:xfrm>
          <a:custGeom>
            <a:rect b="b" l="l" r="r" t="t"/>
            <a:pathLst>
              <a:path extrusionOk="0" h="6080700" w="4179099">
                <a:moveTo>
                  <a:pt x="0" y="0"/>
                </a:moveTo>
                <a:lnTo>
                  <a:pt x="4179100" y="0"/>
                </a:lnTo>
                <a:lnTo>
                  <a:pt x="4179100" y="6080700"/>
                </a:lnTo>
                <a:lnTo>
                  <a:pt x="0" y="6080700"/>
                </a:lnTo>
                <a:lnTo>
                  <a:pt x="0" y="0"/>
                </a:lnTo>
                <a:close/>
              </a:path>
            </a:pathLst>
          </a:custGeom>
          <a:blipFill rotWithShape="1">
            <a:blip r:embed="rId5">
              <a:alphaModFix/>
            </a:blip>
            <a:stretch>
              <a:fillRect b="0" l="0" r="0" t="0"/>
            </a:stretch>
          </a:blipFill>
          <a:ln>
            <a:noFill/>
          </a:ln>
        </p:spPr>
      </p:sp>
      <p:sp>
        <p:nvSpPr>
          <p:cNvPr id="199" name="Google Shape;199;p8"/>
          <p:cNvSpPr txBox="1"/>
          <p:nvPr/>
        </p:nvSpPr>
        <p:spPr>
          <a:xfrm>
            <a:off x="557925" y="921550"/>
            <a:ext cx="9282300" cy="2216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343434"/>
                </a:solidFill>
              </a:rPr>
              <a:t>Perbedaan Web dan Internet</a:t>
            </a:r>
            <a:endParaRPr b="1" sz="6000">
              <a:solidFill>
                <a:srgbClr val="343434"/>
              </a:solidFill>
            </a:endParaRPr>
          </a:p>
        </p:txBody>
      </p:sp>
      <p:sp>
        <p:nvSpPr>
          <p:cNvPr id="200" name="Google Shape;200;p8"/>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201" name="Google Shape;201;p8"/>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202" name="Google Shape;202;p8"/>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203" name="Google Shape;203;p8"/>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204" name="Google Shape;204;p8"/>
          <p:cNvSpPr txBox="1"/>
          <p:nvPr/>
        </p:nvSpPr>
        <p:spPr>
          <a:xfrm>
            <a:off x="1055075" y="5119005"/>
            <a:ext cx="6543900" cy="3286200"/>
          </a:xfrm>
          <a:prstGeom prst="rect">
            <a:avLst/>
          </a:prstGeom>
          <a:noFill/>
          <a:ln>
            <a:noFill/>
          </a:ln>
        </p:spPr>
        <p:txBody>
          <a:bodyPr anchorCtr="0" anchor="t" bIns="0" lIns="0" spcFirstLastPara="1" rIns="0" wrap="square" tIns="0">
            <a:spAutoFit/>
          </a:bodyPr>
          <a:lstStyle/>
          <a:p>
            <a:pPr indent="-387350" lvl="0" marL="457200" rtl="0" algn="l">
              <a:lnSpc>
                <a:spcPct val="115000"/>
              </a:lnSpc>
              <a:spcBef>
                <a:spcPts val="1200"/>
              </a:spcBef>
              <a:spcAft>
                <a:spcPts val="0"/>
              </a:spcAft>
              <a:buClr>
                <a:schemeClr val="dk1"/>
              </a:buClr>
              <a:buSzPts val="2500"/>
              <a:buChar char="●"/>
            </a:pPr>
            <a:r>
              <a:rPr b="1" lang="en-US" sz="2500">
                <a:solidFill>
                  <a:schemeClr val="dk1"/>
                </a:solidFill>
              </a:rPr>
              <a:t>Internet</a:t>
            </a:r>
            <a:r>
              <a:rPr lang="en-US" sz="2500">
                <a:solidFill>
                  <a:schemeClr val="dk1"/>
                </a:solidFill>
              </a:rPr>
              <a:t> adalah jaringan global yang menghubungkan komputer di seluruh dunia.</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Web</a:t>
            </a:r>
            <a:r>
              <a:rPr lang="en-US" sz="2500">
                <a:solidFill>
                  <a:schemeClr val="dk1"/>
                </a:solidFill>
              </a:rPr>
              <a:t> adalah layanan yang berjalan di atas internet untuk mengakses dan berbagi informasi melalui halaman web.</a:t>
            </a:r>
            <a:endParaRPr sz="2500">
              <a:solidFill>
                <a:schemeClr val="dk1"/>
              </a:solidFill>
            </a:endParaRPr>
          </a:p>
          <a:p>
            <a:pPr indent="0" lvl="0" marL="0" marR="0" rtl="0" algn="just">
              <a:lnSpc>
                <a:spcPct val="140000"/>
              </a:lnSpc>
              <a:spcBef>
                <a:spcPts val="1200"/>
              </a:spcBef>
              <a:spcAft>
                <a:spcPts val="0"/>
              </a:spcAft>
              <a:buClr>
                <a:srgbClr val="000000"/>
              </a:buClr>
              <a:buSzPts val="1700"/>
              <a:buFont typeface="Arial"/>
              <a:buNone/>
            </a:pPr>
            <a:r>
              <a:t/>
            </a:r>
            <a:endParaRPr sz="3100">
              <a:solidFill>
                <a:srgbClr val="343434"/>
              </a:solidFill>
              <a:latin typeface="DM Sans"/>
              <a:ea typeface="DM Sans"/>
              <a:cs typeface="DM Sans"/>
              <a:sym typeface="DM Sans"/>
            </a:endParaRPr>
          </a:p>
        </p:txBody>
      </p:sp>
      <p:sp>
        <p:nvSpPr>
          <p:cNvPr id="205" name="Google Shape;205;p8"/>
          <p:cNvSpPr txBox="1"/>
          <p:nvPr/>
        </p:nvSpPr>
        <p:spPr>
          <a:xfrm>
            <a:off x="16253563" y="8991600"/>
            <a:ext cx="1005737" cy="266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08</a:t>
            </a:r>
            <a:endParaRPr b="0" i="0" sz="1400" u="none" cap="none" strike="noStrike">
              <a:solidFill>
                <a:srgbClr val="000000"/>
              </a:solidFill>
              <a:latin typeface="Arial"/>
              <a:ea typeface="Arial"/>
              <a:cs typeface="Arial"/>
              <a:sym typeface="Arial"/>
            </a:endParaRPr>
          </a:p>
        </p:txBody>
      </p:sp>
      <p:sp>
        <p:nvSpPr>
          <p:cNvPr id="206" name="Google Shape;206;p8"/>
          <p:cNvSpPr txBox="1"/>
          <p:nvPr/>
        </p:nvSpPr>
        <p:spPr>
          <a:xfrm>
            <a:off x="85924" y="182065"/>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10" name="Shape 210"/>
        <p:cNvGrpSpPr/>
        <p:nvPr/>
      </p:nvGrpSpPr>
      <p:grpSpPr>
        <a:xfrm>
          <a:off x="0" y="0"/>
          <a:ext cx="0" cy="0"/>
          <a:chOff x="0" y="0"/>
          <a:chExt cx="0" cy="0"/>
        </a:xfrm>
      </p:grpSpPr>
      <p:sp>
        <p:nvSpPr>
          <p:cNvPr id="211" name="Google Shape;211;p9"/>
          <p:cNvSpPr/>
          <p:nvPr/>
        </p:nvSpPr>
        <p:spPr>
          <a:xfrm>
            <a:off x="-589635" y="-516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212" name="Google Shape;212;p9"/>
          <p:cNvSpPr/>
          <p:nvPr/>
        </p:nvSpPr>
        <p:spPr>
          <a:xfrm rot="-1440699">
            <a:off x="11206959" y="2235663"/>
            <a:ext cx="3059086" cy="1941129"/>
          </a:xfrm>
          <a:custGeom>
            <a:rect b="b" l="l" r="r" t="t"/>
            <a:pathLst>
              <a:path extrusionOk="0" h="1941129" w="3059086">
                <a:moveTo>
                  <a:pt x="0" y="0"/>
                </a:moveTo>
                <a:lnTo>
                  <a:pt x="3059087" y="0"/>
                </a:lnTo>
                <a:lnTo>
                  <a:pt x="3059087" y="1941130"/>
                </a:lnTo>
                <a:lnTo>
                  <a:pt x="0" y="1941130"/>
                </a:lnTo>
                <a:lnTo>
                  <a:pt x="0" y="0"/>
                </a:lnTo>
                <a:close/>
              </a:path>
            </a:pathLst>
          </a:custGeom>
          <a:blipFill rotWithShape="1">
            <a:blip r:embed="rId4">
              <a:alphaModFix/>
            </a:blip>
            <a:stretch>
              <a:fillRect b="0" l="0" r="0" t="0"/>
            </a:stretch>
          </a:blipFill>
          <a:ln>
            <a:noFill/>
          </a:ln>
        </p:spPr>
      </p:sp>
      <p:sp>
        <p:nvSpPr>
          <p:cNvPr id="213" name="Google Shape;213;p9"/>
          <p:cNvSpPr/>
          <p:nvPr/>
        </p:nvSpPr>
        <p:spPr>
          <a:xfrm rot="-506387">
            <a:off x="8384546" y="3988972"/>
            <a:ext cx="3160926" cy="3408842"/>
          </a:xfrm>
          <a:custGeom>
            <a:rect b="b" l="l" r="r" t="t"/>
            <a:pathLst>
              <a:path extrusionOk="0" h="3408842" w="3160926">
                <a:moveTo>
                  <a:pt x="0" y="0"/>
                </a:moveTo>
                <a:lnTo>
                  <a:pt x="3160926" y="0"/>
                </a:lnTo>
                <a:lnTo>
                  <a:pt x="3160926" y="3408842"/>
                </a:lnTo>
                <a:lnTo>
                  <a:pt x="0" y="3408842"/>
                </a:lnTo>
                <a:lnTo>
                  <a:pt x="0" y="0"/>
                </a:lnTo>
                <a:close/>
              </a:path>
            </a:pathLst>
          </a:custGeom>
          <a:blipFill rotWithShape="1">
            <a:blip r:embed="rId5">
              <a:alphaModFix/>
            </a:blip>
            <a:stretch>
              <a:fillRect b="0" l="0" r="0" t="0"/>
            </a:stretch>
          </a:blipFill>
          <a:ln>
            <a:noFill/>
          </a:ln>
        </p:spPr>
      </p:sp>
      <p:sp>
        <p:nvSpPr>
          <p:cNvPr id="214" name="Google Shape;214;p9"/>
          <p:cNvSpPr/>
          <p:nvPr/>
        </p:nvSpPr>
        <p:spPr>
          <a:xfrm rot="1175061">
            <a:off x="13167272" y="4228100"/>
            <a:ext cx="1593550" cy="4114800"/>
          </a:xfrm>
          <a:custGeom>
            <a:rect b="b" l="l" r="r" t="t"/>
            <a:pathLst>
              <a:path extrusionOk="0" h="4114800" w="1593550">
                <a:moveTo>
                  <a:pt x="0" y="0"/>
                </a:moveTo>
                <a:lnTo>
                  <a:pt x="1593550" y="0"/>
                </a:lnTo>
                <a:lnTo>
                  <a:pt x="1593550" y="4114800"/>
                </a:lnTo>
                <a:lnTo>
                  <a:pt x="0" y="4114800"/>
                </a:lnTo>
                <a:lnTo>
                  <a:pt x="0" y="0"/>
                </a:lnTo>
                <a:close/>
              </a:path>
            </a:pathLst>
          </a:custGeom>
          <a:blipFill rotWithShape="1">
            <a:blip r:embed="rId6">
              <a:alphaModFix/>
            </a:blip>
            <a:stretch>
              <a:fillRect b="0" l="0" r="0" t="0"/>
            </a:stretch>
          </a:blipFill>
          <a:ln>
            <a:noFill/>
          </a:ln>
        </p:spPr>
      </p:sp>
      <p:sp>
        <p:nvSpPr>
          <p:cNvPr id="215" name="Google Shape;215;p9"/>
          <p:cNvSpPr txBox="1"/>
          <p:nvPr/>
        </p:nvSpPr>
        <p:spPr>
          <a:xfrm>
            <a:off x="1028700" y="1111625"/>
            <a:ext cx="86721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343434"/>
                </a:solidFill>
              </a:rPr>
              <a:t>Peran dan Manfaat Web</a:t>
            </a:r>
            <a:endParaRPr b="0" i="0" sz="1400" u="none" cap="none" strike="noStrike">
              <a:solidFill>
                <a:srgbClr val="000000"/>
              </a:solidFill>
              <a:latin typeface="Arial"/>
              <a:ea typeface="Arial"/>
              <a:cs typeface="Arial"/>
              <a:sym typeface="Arial"/>
            </a:endParaRPr>
          </a:p>
        </p:txBody>
      </p:sp>
      <p:sp>
        <p:nvSpPr>
          <p:cNvPr id="216" name="Google Shape;216;p9"/>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217" name="Google Shape;217;p9"/>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218" name="Google Shape;218;p9"/>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219" name="Google Shape;219;p9"/>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220" name="Google Shape;220;p9"/>
          <p:cNvSpPr txBox="1"/>
          <p:nvPr/>
        </p:nvSpPr>
        <p:spPr>
          <a:xfrm>
            <a:off x="1300050" y="3881080"/>
            <a:ext cx="6543900" cy="4479300"/>
          </a:xfrm>
          <a:prstGeom prst="rect">
            <a:avLst/>
          </a:prstGeom>
          <a:noFill/>
          <a:ln>
            <a:noFill/>
          </a:ln>
        </p:spPr>
        <p:txBody>
          <a:bodyPr anchorCtr="0" anchor="t" bIns="0" lIns="0" spcFirstLastPara="1" rIns="0" wrap="square" tIns="0">
            <a:spAutoFit/>
          </a:bodyPr>
          <a:lstStyle/>
          <a:p>
            <a:pPr indent="-368300" lvl="0" marL="457200" rtl="0" algn="l">
              <a:lnSpc>
                <a:spcPct val="115000"/>
              </a:lnSpc>
              <a:spcBef>
                <a:spcPts val="1200"/>
              </a:spcBef>
              <a:spcAft>
                <a:spcPts val="0"/>
              </a:spcAft>
              <a:buClr>
                <a:schemeClr val="dk1"/>
              </a:buClr>
              <a:buSzPts val="2200"/>
              <a:buAutoNum type="arabicPeriod"/>
            </a:pPr>
            <a:r>
              <a:rPr b="1" lang="en-US" sz="2200">
                <a:solidFill>
                  <a:schemeClr val="dk1"/>
                </a:solidFill>
              </a:rPr>
              <a:t>Sumber Informasi</a:t>
            </a:r>
            <a:r>
              <a:rPr lang="en-US" sz="2200">
                <a:solidFill>
                  <a:schemeClr val="dk1"/>
                </a:solidFill>
              </a:rPr>
              <a:t>: Web digunakan untuk mencari informasi dalam berbagai bidang.</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b="1" lang="en-US" sz="2200">
                <a:solidFill>
                  <a:schemeClr val="dk1"/>
                </a:solidFill>
              </a:rPr>
              <a:t>Media Komunikasi</a:t>
            </a:r>
            <a:r>
              <a:rPr lang="en-US" sz="2200">
                <a:solidFill>
                  <a:schemeClr val="dk1"/>
                </a:solidFill>
              </a:rPr>
              <a:t>: Memungkinkan interaksi melalui email, media sosial, dan forum online.</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b="1" lang="en-US" sz="2200">
                <a:solidFill>
                  <a:schemeClr val="dk1"/>
                </a:solidFill>
              </a:rPr>
              <a:t>Bisnis dan E-commerce</a:t>
            </a:r>
            <a:r>
              <a:rPr lang="en-US" sz="2200">
                <a:solidFill>
                  <a:schemeClr val="dk1"/>
                </a:solidFill>
              </a:rPr>
              <a:t>: Mendukung transaksi jual beli online.</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b="1" lang="en-US" sz="2200">
                <a:solidFill>
                  <a:schemeClr val="dk1"/>
                </a:solidFill>
              </a:rPr>
              <a:t>Edukasi</a:t>
            </a:r>
            <a:r>
              <a:rPr lang="en-US" sz="2200">
                <a:solidFill>
                  <a:schemeClr val="dk1"/>
                </a:solidFill>
              </a:rPr>
              <a:t>: Sumber pembelajaran melalui kursus online dan perpustakaan digital.</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b="1" lang="en-US" sz="2200">
                <a:solidFill>
                  <a:schemeClr val="dk1"/>
                </a:solidFill>
              </a:rPr>
              <a:t>Hiburan</a:t>
            </a:r>
            <a:r>
              <a:rPr lang="en-US" sz="2200">
                <a:solidFill>
                  <a:schemeClr val="dk1"/>
                </a:solidFill>
              </a:rPr>
              <a:t>: Streaming musik, video, dan game online.</a:t>
            </a:r>
            <a:endParaRPr sz="2200">
              <a:solidFill>
                <a:schemeClr val="dk1"/>
              </a:solidFill>
            </a:endParaRPr>
          </a:p>
          <a:p>
            <a:pPr indent="0" lvl="0" marL="0" marR="0" rtl="0" algn="just">
              <a:lnSpc>
                <a:spcPct val="140000"/>
              </a:lnSpc>
              <a:spcBef>
                <a:spcPts val="1200"/>
              </a:spcBef>
              <a:spcAft>
                <a:spcPts val="0"/>
              </a:spcAft>
              <a:buClr>
                <a:srgbClr val="000000"/>
              </a:buClr>
              <a:buSzPts val="1700"/>
              <a:buFont typeface="Arial"/>
              <a:buNone/>
            </a:pPr>
            <a:r>
              <a:t/>
            </a:r>
            <a:endParaRPr sz="2800">
              <a:solidFill>
                <a:srgbClr val="343434"/>
              </a:solidFill>
              <a:latin typeface="DM Sans"/>
              <a:ea typeface="DM Sans"/>
              <a:cs typeface="DM Sans"/>
              <a:sym typeface="DM Sans"/>
            </a:endParaRPr>
          </a:p>
        </p:txBody>
      </p:sp>
      <p:sp>
        <p:nvSpPr>
          <p:cNvPr id="221" name="Google Shape;221;p9"/>
          <p:cNvSpPr txBox="1"/>
          <p:nvPr/>
        </p:nvSpPr>
        <p:spPr>
          <a:xfrm>
            <a:off x="16253563" y="8991600"/>
            <a:ext cx="1005737" cy="2667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09</a:t>
            </a:r>
            <a:endParaRPr b="0" i="0" sz="1400" u="none" cap="none" strike="noStrike">
              <a:solidFill>
                <a:srgbClr val="000000"/>
              </a:solidFill>
              <a:latin typeface="Arial"/>
              <a:ea typeface="Arial"/>
              <a:cs typeface="Arial"/>
              <a:sym typeface="Arial"/>
            </a:endParaRPr>
          </a:p>
        </p:txBody>
      </p:sp>
      <p:sp>
        <p:nvSpPr>
          <p:cNvPr id="222" name="Google Shape;222;p9"/>
          <p:cNvSpPr txBox="1"/>
          <p:nvPr/>
        </p:nvSpPr>
        <p:spPr>
          <a:xfrm>
            <a:off x="85924" y="182065"/>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26" name="Shape 226"/>
        <p:cNvGrpSpPr/>
        <p:nvPr/>
      </p:nvGrpSpPr>
      <p:grpSpPr>
        <a:xfrm>
          <a:off x="0" y="0"/>
          <a:ext cx="0" cy="0"/>
          <a:chOff x="0" y="0"/>
          <a:chExt cx="0" cy="0"/>
        </a:xfrm>
      </p:grpSpPr>
      <p:sp>
        <p:nvSpPr>
          <p:cNvPr id="227" name="Google Shape;227;g33064f6f14d_0_11"/>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228" name="Google Shape;228;g33064f6f14d_0_11"/>
          <p:cNvSpPr txBox="1"/>
          <p:nvPr/>
        </p:nvSpPr>
        <p:spPr>
          <a:xfrm>
            <a:off x="1262026" y="760675"/>
            <a:ext cx="13771500" cy="3509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343434"/>
                </a:solidFill>
              </a:rPr>
              <a:t>Tren Teknologi Web Saat Ini</a:t>
            </a:r>
            <a:endParaRPr b="1" sz="6000">
              <a:solidFill>
                <a:srgbClr val="343434"/>
              </a:solidFill>
            </a:endParaRPr>
          </a:p>
          <a:p>
            <a:pPr indent="0" lvl="0" marL="0" marR="0" rtl="0" algn="l">
              <a:lnSpc>
                <a:spcPct val="140000"/>
              </a:lnSpc>
              <a:spcBef>
                <a:spcPts val="0"/>
              </a:spcBef>
              <a:spcAft>
                <a:spcPts val="0"/>
              </a:spcAft>
              <a:buClr>
                <a:srgbClr val="000000"/>
              </a:buClr>
              <a:buSzPts val="6000"/>
              <a:buFont typeface="Arial"/>
              <a:buNone/>
            </a:pPr>
            <a:r>
              <a:t/>
            </a:r>
            <a:endParaRPr b="1" sz="6000">
              <a:solidFill>
                <a:srgbClr val="343434"/>
              </a:solidFill>
            </a:endParaRPr>
          </a:p>
          <a:p>
            <a:pPr indent="0" lvl="0" marL="0" marR="0" rtl="0" algn="l">
              <a:lnSpc>
                <a:spcPct val="140000"/>
              </a:lnSpc>
              <a:spcBef>
                <a:spcPts val="0"/>
              </a:spcBef>
              <a:spcAft>
                <a:spcPts val="0"/>
              </a:spcAft>
              <a:buClr>
                <a:srgbClr val="000000"/>
              </a:buClr>
              <a:buSzPts val="6000"/>
              <a:buFont typeface="Arial"/>
              <a:buNone/>
            </a:pPr>
            <a:r>
              <a:t/>
            </a:r>
            <a:endParaRPr b="1" sz="6000">
              <a:solidFill>
                <a:srgbClr val="343434"/>
              </a:solidFill>
            </a:endParaRPr>
          </a:p>
        </p:txBody>
      </p:sp>
      <p:sp>
        <p:nvSpPr>
          <p:cNvPr id="229" name="Google Shape;229;g33064f6f14d_0_11"/>
          <p:cNvSpPr txBox="1"/>
          <p:nvPr/>
        </p:nvSpPr>
        <p:spPr>
          <a:xfrm>
            <a:off x="12319860" y="1111629"/>
            <a:ext cx="847500" cy="223800"/>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230" name="Google Shape;230;g33064f6f14d_0_11"/>
          <p:cNvSpPr txBox="1"/>
          <p:nvPr/>
        </p:nvSpPr>
        <p:spPr>
          <a:xfrm>
            <a:off x="13424041" y="1111629"/>
            <a:ext cx="847500" cy="223800"/>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231" name="Google Shape;231;g33064f6f14d_0_11"/>
          <p:cNvSpPr txBox="1"/>
          <p:nvPr/>
        </p:nvSpPr>
        <p:spPr>
          <a:xfrm>
            <a:off x="14528628" y="1111629"/>
            <a:ext cx="1105800" cy="223800"/>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232" name="Google Shape;232;g33064f6f14d_0_11"/>
          <p:cNvSpPr txBox="1"/>
          <p:nvPr/>
        </p:nvSpPr>
        <p:spPr>
          <a:xfrm>
            <a:off x="15923945" y="1111629"/>
            <a:ext cx="1335300" cy="223800"/>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233" name="Google Shape;233;g33064f6f14d_0_11"/>
          <p:cNvSpPr txBox="1"/>
          <p:nvPr/>
        </p:nvSpPr>
        <p:spPr>
          <a:xfrm>
            <a:off x="1662475" y="3202200"/>
            <a:ext cx="13971900" cy="4451400"/>
          </a:xfrm>
          <a:prstGeom prst="rect">
            <a:avLst/>
          </a:prstGeom>
          <a:noFill/>
          <a:ln>
            <a:noFill/>
          </a:ln>
        </p:spPr>
        <p:txBody>
          <a:bodyPr anchorCtr="0" anchor="t" bIns="0" lIns="0" spcFirstLastPara="1" rIns="0" wrap="square" tIns="0">
            <a:spAutoFit/>
          </a:bodyPr>
          <a:lstStyle/>
          <a:p>
            <a:pPr indent="-393700" lvl="0" marL="457200" rtl="0" algn="l">
              <a:lnSpc>
                <a:spcPct val="115000"/>
              </a:lnSpc>
              <a:spcBef>
                <a:spcPts val="1200"/>
              </a:spcBef>
              <a:spcAft>
                <a:spcPts val="0"/>
              </a:spcAft>
              <a:buClr>
                <a:schemeClr val="dk1"/>
              </a:buClr>
              <a:buSzPts val="2600"/>
              <a:buAutoNum type="arabicPeriod"/>
            </a:pPr>
            <a:r>
              <a:rPr b="1" lang="en-US" sz="2600">
                <a:solidFill>
                  <a:schemeClr val="dk1"/>
                </a:solidFill>
              </a:rPr>
              <a:t>Progressive Web Apps (PWA)</a:t>
            </a:r>
            <a:r>
              <a:rPr lang="en-US" sz="2600">
                <a:solidFill>
                  <a:schemeClr val="dk1"/>
                </a:solidFill>
              </a:rPr>
              <a:t>: Aplikasi web yang memberikan pengalaman seperti aplikasi native.</a:t>
            </a:r>
            <a:endParaRPr sz="2600">
              <a:solidFill>
                <a:schemeClr val="dk1"/>
              </a:solidFill>
            </a:endParaRPr>
          </a:p>
          <a:p>
            <a:pPr indent="-393700" lvl="0" marL="457200" rtl="0" algn="l">
              <a:lnSpc>
                <a:spcPct val="115000"/>
              </a:lnSpc>
              <a:spcBef>
                <a:spcPts val="0"/>
              </a:spcBef>
              <a:spcAft>
                <a:spcPts val="0"/>
              </a:spcAft>
              <a:buClr>
                <a:schemeClr val="dk1"/>
              </a:buClr>
              <a:buSzPts val="2600"/>
              <a:buAutoNum type="arabicPeriod"/>
            </a:pPr>
            <a:r>
              <a:rPr b="1" lang="en-US" sz="2600">
                <a:solidFill>
                  <a:schemeClr val="dk1"/>
                </a:solidFill>
              </a:rPr>
              <a:t>Single Page Application (SPA)</a:t>
            </a:r>
            <a:r>
              <a:rPr lang="en-US" sz="2600">
                <a:solidFill>
                  <a:schemeClr val="dk1"/>
                </a:solidFill>
              </a:rPr>
              <a:t>: Website yang memuat satu halaman dan memperbarui kontennya secara dinamis.</a:t>
            </a:r>
            <a:endParaRPr sz="2600">
              <a:solidFill>
                <a:schemeClr val="dk1"/>
              </a:solidFill>
            </a:endParaRPr>
          </a:p>
          <a:p>
            <a:pPr indent="-393700" lvl="0" marL="457200" rtl="0" algn="l">
              <a:lnSpc>
                <a:spcPct val="115000"/>
              </a:lnSpc>
              <a:spcBef>
                <a:spcPts val="0"/>
              </a:spcBef>
              <a:spcAft>
                <a:spcPts val="0"/>
              </a:spcAft>
              <a:buClr>
                <a:schemeClr val="dk1"/>
              </a:buClr>
              <a:buSzPts val="2600"/>
              <a:buAutoNum type="arabicPeriod"/>
            </a:pPr>
            <a:r>
              <a:rPr b="1" lang="en-US" sz="2600">
                <a:solidFill>
                  <a:schemeClr val="dk1"/>
                </a:solidFill>
              </a:rPr>
              <a:t>Artificial Intelligence (AI) dalam Web</a:t>
            </a:r>
            <a:r>
              <a:rPr lang="en-US" sz="2600">
                <a:solidFill>
                  <a:schemeClr val="dk1"/>
                </a:solidFill>
              </a:rPr>
              <a:t>: Chatbot, rekomendasi konten, dan analitik berbasis AI.</a:t>
            </a:r>
            <a:endParaRPr sz="2600">
              <a:solidFill>
                <a:schemeClr val="dk1"/>
              </a:solidFill>
            </a:endParaRPr>
          </a:p>
          <a:p>
            <a:pPr indent="-393700" lvl="0" marL="457200" rtl="0" algn="l">
              <a:lnSpc>
                <a:spcPct val="115000"/>
              </a:lnSpc>
              <a:spcBef>
                <a:spcPts val="0"/>
              </a:spcBef>
              <a:spcAft>
                <a:spcPts val="0"/>
              </a:spcAft>
              <a:buClr>
                <a:schemeClr val="dk1"/>
              </a:buClr>
              <a:buSzPts val="2600"/>
              <a:buAutoNum type="arabicPeriod"/>
            </a:pPr>
            <a:r>
              <a:rPr b="1" lang="en-US" sz="2600">
                <a:solidFill>
                  <a:schemeClr val="dk1"/>
                </a:solidFill>
              </a:rPr>
              <a:t>Keamanan Web</a:t>
            </a:r>
            <a:r>
              <a:rPr lang="en-US" sz="2600">
                <a:solidFill>
                  <a:schemeClr val="dk1"/>
                </a:solidFill>
              </a:rPr>
              <a:t>: Penggunaan HTTPS, firewall, dan enkripsi data untuk melindungi informasi pengguna.</a:t>
            </a:r>
            <a:endParaRPr sz="2600">
              <a:solidFill>
                <a:schemeClr val="dk1"/>
              </a:solidFill>
            </a:endParaRPr>
          </a:p>
          <a:p>
            <a:pPr indent="0" lvl="0" marL="0" marR="0" rtl="0" algn="just">
              <a:lnSpc>
                <a:spcPct val="140000"/>
              </a:lnSpc>
              <a:spcBef>
                <a:spcPts val="1200"/>
              </a:spcBef>
              <a:spcAft>
                <a:spcPts val="0"/>
              </a:spcAft>
              <a:buClr>
                <a:srgbClr val="000000"/>
              </a:buClr>
              <a:buSzPts val="1700"/>
              <a:buFont typeface="Arial"/>
              <a:buNone/>
            </a:pPr>
            <a:r>
              <a:t/>
            </a:r>
            <a:endParaRPr sz="4000">
              <a:solidFill>
                <a:schemeClr val="dk1"/>
              </a:solidFill>
            </a:endParaRPr>
          </a:p>
        </p:txBody>
      </p:sp>
      <p:sp>
        <p:nvSpPr>
          <p:cNvPr id="234" name="Google Shape;234;g33064f6f14d_0_11"/>
          <p:cNvSpPr txBox="1"/>
          <p:nvPr/>
        </p:nvSpPr>
        <p:spPr>
          <a:xfrm>
            <a:off x="16253563" y="8991600"/>
            <a:ext cx="1005600" cy="2310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a:t>
            </a:r>
            <a:r>
              <a:rPr b="1" lang="en-US" sz="1500">
                <a:solidFill>
                  <a:srgbClr val="343434"/>
                </a:solidFill>
                <a:latin typeface="DM Sans"/>
                <a:ea typeface="DM Sans"/>
                <a:cs typeface="DM Sans"/>
                <a:sym typeface="DM Sans"/>
              </a:rPr>
              <a:t>10</a:t>
            </a:r>
            <a:endParaRPr b="0" i="0" sz="1400" u="none" cap="none" strike="noStrike">
              <a:solidFill>
                <a:srgbClr val="000000"/>
              </a:solidFill>
              <a:latin typeface="Arial"/>
              <a:ea typeface="Arial"/>
              <a:cs typeface="Arial"/>
              <a:sym typeface="Arial"/>
            </a:endParaRPr>
          </a:p>
        </p:txBody>
      </p:sp>
      <p:sp>
        <p:nvSpPr>
          <p:cNvPr id="235" name="Google Shape;235;g33064f6f14d_0_11"/>
          <p:cNvSpPr txBox="1"/>
          <p:nvPr/>
        </p:nvSpPr>
        <p:spPr>
          <a:xfrm>
            <a:off x="85924" y="182065"/>
            <a:ext cx="4479000" cy="277800"/>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39" name="Shape 239"/>
        <p:cNvGrpSpPr/>
        <p:nvPr/>
      </p:nvGrpSpPr>
      <p:grpSpPr>
        <a:xfrm>
          <a:off x="0" y="0"/>
          <a:ext cx="0" cy="0"/>
          <a:chOff x="0" y="0"/>
          <a:chExt cx="0" cy="0"/>
        </a:xfrm>
      </p:grpSpPr>
      <p:sp>
        <p:nvSpPr>
          <p:cNvPr id="240" name="Google Shape;240;g33064f6f14d_0_24"/>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241" name="Google Shape;241;g33064f6f14d_0_24"/>
          <p:cNvSpPr txBox="1"/>
          <p:nvPr/>
        </p:nvSpPr>
        <p:spPr>
          <a:xfrm>
            <a:off x="1262026" y="760675"/>
            <a:ext cx="137715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343434"/>
                </a:solidFill>
              </a:rPr>
              <a:t>Kesimpulan</a:t>
            </a:r>
            <a:endParaRPr b="1" sz="6000">
              <a:solidFill>
                <a:srgbClr val="343434"/>
              </a:solidFill>
            </a:endParaRPr>
          </a:p>
        </p:txBody>
      </p:sp>
      <p:sp>
        <p:nvSpPr>
          <p:cNvPr id="242" name="Google Shape;242;g33064f6f14d_0_24"/>
          <p:cNvSpPr txBox="1"/>
          <p:nvPr/>
        </p:nvSpPr>
        <p:spPr>
          <a:xfrm>
            <a:off x="12319860" y="1111629"/>
            <a:ext cx="847500" cy="223800"/>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243" name="Google Shape;243;g33064f6f14d_0_24"/>
          <p:cNvSpPr txBox="1"/>
          <p:nvPr/>
        </p:nvSpPr>
        <p:spPr>
          <a:xfrm>
            <a:off x="13424041" y="1111629"/>
            <a:ext cx="847500" cy="223800"/>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244" name="Google Shape;244;g33064f6f14d_0_24"/>
          <p:cNvSpPr txBox="1"/>
          <p:nvPr/>
        </p:nvSpPr>
        <p:spPr>
          <a:xfrm>
            <a:off x="14528628" y="1111629"/>
            <a:ext cx="1105800" cy="223800"/>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245" name="Google Shape;245;g33064f6f14d_0_24"/>
          <p:cNvSpPr txBox="1"/>
          <p:nvPr/>
        </p:nvSpPr>
        <p:spPr>
          <a:xfrm>
            <a:off x="15923945" y="1111629"/>
            <a:ext cx="1335300" cy="223800"/>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246" name="Google Shape;246;g33064f6f14d_0_24"/>
          <p:cNvSpPr txBox="1"/>
          <p:nvPr/>
        </p:nvSpPr>
        <p:spPr>
          <a:xfrm>
            <a:off x="1662475" y="3202200"/>
            <a:ext cx="13971900" cy="2395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2600">
                <a:solidFill>
                  <a:schemeClr val="dk1"/>
                </a:solidFill>
              </a:rPr>
              <a:t>Pengenalan web merupakan langkah awal dalam memahami teknologi pengembangan web. Dengan memahami konsep dasar seperti sejarah, komponen utama, cara kerja, dan teknologi yang digunakan, dapat lebih siap dalam mempelajari pemrograman web secara lebih mendalam.</a:t>
            </a:r>
            <a:endParaRPr sz="2600">
              <a:solidFill>
                <a:schemeClr val="dk1"/>
              </a:solidFill>
            </a:endParaRPr>
          </a:p>
          <a:p>
            <a:pPr indent="0" lvl="0" marL="0" marR="0" rtl="0" algn="just">
              <a:lnSpc>
                <a:spcPct val="140000"/>
              </a:lnSpc>
              <a:spcBef>
                <a:spcPts val="1200"/>
              </a:spcBef>
              <a:spcAft>
                <a:spcPts val="0"/>
              </a:spcAft>
              <a:buClr>
                <a:srgbClr val="000000"/>
              </a:buClr>
              <a:buSzPts val="1700"/>
              <a:buFont typeface="Arial"/>
              <a:buNone/>
            </a:pPr>
            <a:r>
              <a:t/>
            </a:r>
            <a:endParaRPr sz="2600">
              <a:solidFill>
                <a:schemeClr val="dk1"/>
              </a:solidFill>
            </a:endParaRPr>
          </a:p>
        </p:txBody>
      </p:sp>
      <p:sp>
        <p:nvSpPr>
          <p:cNvPr id="247" name="Google Shape;247;g33064f6f14d_0_24"/>
          <p:cNvSpPr txBox="1"/>
          <p:nvPr/>
        </p:nvSpPr>
        <p:spPr>
          <a:xfrm>
            <a:off x="16253563" y="8991600"/>
            <a:ext cx="1005600" cy="2310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a:t>
            </a:r>
            <a:r>
              <a:rPr b="1" lang="en-US" sz="1500">
                <a:solidFill>
                  <a:srgbClr val="343434"/>
                </a:solidFill>
                <a:latin typeface="DM Sans"/>
                <a:ea typeface="DM Sans"/>
                <a:cs typeface="DM Sans"/>
                <a:sym typeface="DM Sans"/>
              </a:rPr>
              <a:t>11</a:t>
            </a:r>
            <a:endParaRPr b="0" i="0" sz="1400" u="none" cap="none" strike="noStrike">
              <a:solidFill>
                <a:srgbClr val="000000"/>
              </a:solidFill>
              <a:latin typeface="Arial"/>
              <a:ea typeface="Arial"/>
              <a:cs typeface="Arial"/>
              <a:sym typeface="Arial"/>
            </a:endParaRPr>
          </a:p>
        </p:txBody>
      </p:sp>
      <p:sp>
        <p:nvSpPr>
          <p:cNvPr id="248" name="Google Shape;248;g33064f6f14d_0_24"/>
          <p:cNvSpPr txBox="1"/>
          <p:nvPr/>
        </p:nvSpPr>
        <p:spPr>
          <a:xfrm>
            <a:off x="85924" y="182065"/>
            <a:ext cx="4479000" cy="277800"/>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52" name="Shape 252"/>
        <p:cNvGrpSpPr/>
        <p:nvPr/>
      </p:nvGrpSpPr>
      <p:grpSpPr>
        <a:xfrm>
          <a:off x="0" y="0"/>
          <a:ext cx="0" cy="0"/>
          <a:chOff x="0" y="0"/>
          <a:chExt cx="0" cy="0"/>
        </a:xfrm>
      </p:grpSpPr>
      <p:sp>
        <p:nvSpPr>
          <p:cNvPr id="253" name="Google Shape;253;p10"/>
          <p:cNvSpPr/>
          <p:nvPr/>
        </p:nvSpPr>
        <p:spPr>
          <a:xfrm>
            <a:off x="-485035" y="-4485535"/>
            <a:ext cx="19258069" cy="19258069"/>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sp>
      <p:sp>
        <p:nvSpPr>
          <p:cNvPr id="254" name="Google Shape;254;p10"/>
          <p:cNvSpPr txBox="1"/>
          <p:nvPr/>
        </p:nvSpPr>
        <p:spPr>
          <a:xfrm>
            <a:off x="933983" y="3152569"/>
            <a:ext cx="16420035" cy="3874815"/>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19362"/>
              <a:buFont typeface="Arial"/>
              <a:buNone/>
            </a:pPr>
            <a:r>
              <a:rPr b="1" i="0" lang="en-US" sz="19362" u="none" cap="none" strike="noStrike">
                <a:solidFill>
                  <a:srgbClr val="343434"/>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sp>
        <p:nvSpPr>
          <p:cNvPr id="255" name="Google Shape;255;p10"/>
          <p:cNvSpPr/>
          <p:nvPr/>
        </p:nvSpPr>
        <p:spPr>
          <a:xfrm>
            <a:off x="5684547" y="6631976"/>
            <a:ext cx="442897" cy="442897"/>
          </a:xfrm>
          <a:custGeom>
            <a:rect b="b" l="l" r="r" t="t"/>
            <a:pathLst>
              <a:path extrusionOk="0" h="442897" w="442897">
                <a:moveTo>
                  <a:pt x="0" y="0"/>
                </a:moveTo>
                <a:lnTo>
                  <a:pt x="442897" y="0"/>
                </a:lnTo>
                <a:lnTo>
                  <a:pt x="442897" y="442897"/>
                </a:lnTo>
                <a:lnTo>
                  <a:pt x="0" y="442897"/>
                </a:lnTo>
                <a:lnTo>
                  <a:pt x="0" y="0"/>
                </a:lnTo>
                <a:close/>
              </a:path>
            </a:pathLst>
          </a:custGeom>
          <a:blipFill rotWithShape="1">
            <a:blip r:embed="rId4">
              <a:alphaModFix/>
            </a:blip>
            <a:stretch>
              <a:fillRect b="0" l="0" r="0" t="0"/>
            </a:stretch>
          </a:blipFill>
          <a:ln>
            <a:noFill/>
          </a:ln>
        </p:spPr>
      </p:sp>
      <p:sp>
        <p:nvSpPr>
          <p:cNvPr id="256" name="Google Shape;256;p10"/>
          <p:cNvSpPr/>
          <p:nvPr/>
        </p:nvSpPr>
        <p:spPr>
          <a:xfrm rot="-1354446">
            <a:off x="15843106" y="2606653"/>
            <a:ext cx="1497033" cy="2339114"/>
          </a:xfrm>
          <a:custGeom>
            <a:rect b="b" l="l" r="r" t="t"/>
            <a:pathLst>
              <a:path extrusionOk="0" h="2339114" w="1497033">
                <a:moveTo>
                  <a:pt x="0" y="0"/>
                </a:moveTo>
                <a:lnTo>
                  <a:pt x="1497033" y="0"/>
                </a:lnTo>
                <a:lnTo>
                  <a:pt x="1497033" y="2339115"/>
                </a:lnTo>
                <a:lnTo>
                  <a:pt x="0" y="2339115"/>
                </a:lnTo>
                <a:lnTo>
                  <a:pt x="0" y="0"/>
                </a:lnTo>
                <a:close/>
              </a:path>
            </a:pathLst>
          </a:custGeom>
          <a:blipFill rotWithShape="1">
            <a:blip r:embed="rId5">
              <a:alphaModFix/>
            </a:blip>
            <a:stretch>
              <a:fillRect b="0" l="0" r="0" t="0"/>
            </a:stretch>
          </a:blipFill>
          <a:ln>
            <a:noFill/>
          </a:ln>
        </p:spPr>
      </p:sp>
      <p:sp>
        <p:nvSpPr>
          <p:cNvPr id="257" name="Google Shape;257;p10"/>
          <p:cNvSpPr/>
          <p:nvPr/>
        </p:nvSpPr>
        <p:spPr>
          <a:xfrm rot="885027">
            <a:off x="5092713" y="2195823"/>
            <a:ext cx="2206219" cy="1740908"/>
          </a:xfrm>
          <a:custGeom>
            <a:rect b="b" l="l" r="r" t="t"/>
            <a:pathLst>
              <a:path extrusionOk="0" h="1740908" w="2206219">
                <a:moveTo>
                  <a:pt x="0" y="0"/>
                </a:moveTo>
                <a:lnTo>
                  <a:pt x="2206220" y="0"/>
                </a:lnTo>
                <a:lnTo>
                  <a:pt x="2206220" y="1740908"/>
                </a:lnTo>
                <a:lnTo>
                  <a:pt x="0" y="1740908"/>
                </a:lnTo>
                <a:lnTo>
                  <a:pt x="0" y="0"/>
                </a:lnTo>
                <a:close/>
              </a:path>
            </a:pathLst>
          </a:custGeom>
          <a:blipFill rotWithShape="1">
            <a:blip r:embed="rId6">
              <a:alphaModFix/>
            </a:blip>
            <a:stretch>
              <a:fillRect b="0" l="0" r="0" t="0"/>
            </a:stretch>
          </a:blipFill>
          <a:ln>
            <a:noFill/>
          </a:ln>
        </p:spPr>
      </p:sp>
      <p:sp>
        <p:nvSpPr>
          <p:cNvPr id="258" name="Google Shape;258;p10"/>
          <p:cNvSpPr/>
          <p:nvPr/>
        </p:nvSpPr>
        <p:spPr>
          <a:xfrm>
            <a:off x="91839" y="8205407"/>
            <a:ext cx="4202073" cy="2521244"/>
          </a:xfrm>
          <a:custGeom>
            <a:rect b="b" l="l" r="r" t="t"/>
            <a:pathLst>
              <a:path extrusionOk="0" h="2521244" w="4202073">
                <a:moveTo>
                  <a:pt x="0" y="0"/>
                </a:moveTo>
                <a:lnTo>
                  <a:pt x="4202074" y="0"/>
                </a:lnTo>
                <a:lnTo>
                  <a:pt x="4202074" y="2521245"/>
                </a:lnTo>
                <a:lnTo>
                  <a:pt x="0" y="2521245"/>
                </a:lnTo>
                <a:lnTo>
                  <a:pt x="0" y="0"/>
                </a:lnTo>
                <a:close/>
              </a:path>
            </a:pathLst>
          </a:custGeom>
          <a:blipFill rotWithShape="1">
            <a:blip r:embed="rId7">
              <a:alphaModFix/>
            </a:blip>
            <a:stretch>
              <a:fillRect b="0" l="0" r="0" t="0"/>
            </a:stretch>
          </a:blipFill>
          <a:ln>
            <a:noFill/>
          </a:ln>
        </p:spPr>
      </p:sp>
      <p:sp>
        <p:nvSpPr>
          <p:cNvPr id="259" name="Google Shape;259;p10"/>
          <p:cNvSpPr/>
          <p:nvPr/>
        </p:nvSpPr>
        <p:spPr>
          <a:xfrm rot="839221">
            <a:off x="9785300" y="7617346"/>
            <a:ext cx="1170380" cy="2030628"/>
          </a:xfrm>
          <a:custGeom>
            <a:rect b="b" l="l" r="r" t="t"/>
            <a:pathLst>
              <a:path extrusionOk="0" h="2030628" w="1170380">
                <a:moveTo>
                  <a:pt x="0" y="0"/>
                </a:moveTo>
                <a:lnTo>
                  <a:pt x="1170381" y="0"/>
                </a:lnTo>
                <a:lnTo>
                  <a:pt x="1170381" y="2030628"/>
                </a:lnTo>
                <a:lnTo>
                  <a:pt x="0" y="2030628"/>
                </a:lnTo>
                <a:lnTo>
                  <a:pt x="0" y="0"/>
                </a:lnTo>
                <a:close/>
              </a:path>
            </a:pathLst>
          </a:custGeom>
          <a:blipFill rotWithShape="1">
            <a:blip r:embed="rId8">
              <a:alphaModFix/>
            </a:blip>
            <a:stretch>
              <a:fillRect b="0" l="0" r="0" t="0"/>
            </a:stretch>
          </a:blipFill>
          <a:ln>
            <a:noFill/>
          </a:ln>
        </p:spPr>
      </p:sp>
      <p:sp>
        <p:nvSpPr>
          <p:cNvPr id="260" name="Google Shape;260;p10"/>
          <p:cNvSpPr txBox="1"/>
          <p:nvPr/>
        </p:nvSpPr>
        <p:spPr>
          <a:xfrm>
            <a:off x="12319860"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HOME</a:t>
            </a:r>
            <a:endParaRPr b="0" i="0" sz="1400" u="none" cap="none" strike="noStrike">
              <a:solidFill>
                <a:srgbClr val="000000"/>
              </a:solidFill>
              <a:latin typeface="Arial"/>
              <a:ea typeface="Arial"/>
              <a:cs typeface="Arial"/>
              <a:sym typeface="Arial"/>
            </a:endParaRPr>
          </a:p>
        </p:txBody>
      </p:sp>
      <p:sp>
        <p:nvSpPr>
          <p:cNvPr id="261" name="Google Shape;261;p10"/>
          <p:cNvSpPr txBox="1"/>
          <p:nvPr/>
        </p:nvSpPr>
        <p:spPr>
          <a:xfrm>
            <a:off x="13424041" y="1111629"/>
            <a:ext cx="847412"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SERVICE</a:t>
            </a:r>
            <a:endParaRPr b="0" i="0" sz="1400" u="none" cap="none" strike="noStrike">
              <a:solidFill>
                <a:srgbClr val="000000"/>
              </a:solidFill>
              <a:latin typeface="Arial"/>
              <a:ea typeface="Arial"/>
              <a:cs typeface="Arial"/>
              <a:sym typeface="Arial"/>
            </a:endParaRPr>
          </a:p>
        </p:txBody>
      </p:sp>
      <p:sp>
        <p:nvSpPr>
          <p:cNvPr id="262" name="Google Shape;262;p10"/>
          <p:cNvSpPr txBox="1"/>
          <p:nvPr/>
        </p:nvSpPr>
        <p:spPr>
          <a:xfrm>
            <a:off x="14528628" y="1111629"/>
            <a:ext cx="110573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ABOUT US</a:t>
            </a:r>
            <a:endParaRPr b="0" i="0" sz="1400" u="none" cap="none" strike="noStrike">
              <a:solidFill>
                <a:srgbClr val="000000"/>
              </a:solidFill>
              <a:latin typeface="Arial"/>
              <a:ea typeface="Arial"/>
              <a:cs typeface="Arial"/>
              <a:sym typeface="Arial"/>
            </a:endParaRPr>
          </a:p>
        </p:txBody>
      </p:sp>
      <p:sp>
        <p:nvSpPr>
          <p:cNvPr id="263" name="Google Shape;263;p10"/>
          <p:cNvSpPr txBox="1"/>
          <p:nvPr/>
        </p:nvSpPr>
        <p:spPr>
          <a:xfrm>
            <a:off x="15923945" y="1111629"/>
            <a:ext cx="1335355" cy="221513"/>
          </a:xfrm>
          <a:prstGeom prst="rect">
            <a:avLst/>
          </a:prstGeom>
          <a:noFill/>
          <a:ln>
            <a:noFill/>
          </a:ln>
        </p:spPr>
        <p:txBody>
          <a:bodyPr anchorCtr="0" anchor="t" bIns="0" lIns="0" spcFirstLastPara="1" rIns="0" wrap="square" tIns="0">
            <a:spAutoFit/>
          </a:bodyPr>
          <a:lstStyle/>
          <a:p>
            <a:pPr indent="0" lvl="1" marL="0" marR="0" rtl="0" algn="ctr">
              <a:lnSpc>
                <a:spcPct val="128974"/>
              </a:lnSpc>
              <a:spcBef>
                <a:spcPts val="0"/>
              </a:spcBef>
              <a:spcAft>
                <a:spcPts val="0"/>
              </a:spcAft>
              <a:buClr>
                <a:srgbClr val="000000"/>
              </a:buClr>
              <a:buSzPts val="1453"/>
              <a:buFont typeface="Arial"/>
              <a:buNone/>
            </a:pPr>
            <a:r>
              <a:rPr b="0" i="0" lang="en-US" sz="1453" u="none" cap="none" strike="noStrike">
                <a:solidFill>
                  <a:srgbClr val="343434"/>
                </a:solidFill>
                <a:latin typeface="DM Sans"/>
                <a:ea typeface="DM Sans"/>
                <a:cs typeface="DM Sans"/>
                <a:sym typeface="DM Sans"/>
              </a:rPr>
              <a:t>CONTACT US</a:t>
            </a:r>
            <a:endParaRPr b="0" i="0" sz="1400" u="none" cap="none" strike="noStrike">
              <a:solidFill>
                <a:srgbClr val="000000"/>
              </a:solidFill>
              <a:latin typeface="Arial"/>
              <a:ea typeface="Arial"/>
              <a:cs typeface="Arial"/>
              <a:sym typeface="Arial"/>
            </a:endParaRPr>
          </a:p>
        </p:txBody>
      </p:sp>
      <p:sp>
        <p:nvSpPr>
          <p:cNvPr id="264" name="Google Shape;264;p10"/>
          <p:cNvSpPr txBox="1"/>
          <p:nvPr/>
        </p:nvSpPr>
        <p:spPr>
          <a:xfrm>
            <a:off x="16253563" y="8991600"/>
            <a:ext cx="1005600" cy="2310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500"/>
              <a:buFont typeface="Arial"/>
              <a:buNone/>
            </a:pPr>
            <a:r>
              <a:rPr b="1" i="0" lang="en-US" sz="1500" u="none" cap="none" strike="noStrike">
                <a:solidFill>
                  <a:srgbClr val="343434"/>
                </a:solidFill>
                <a:latin typeface="DM Sans"/>
                <a:ea typeface="DM Sans"/>
                <a:cs typeface="DM Sans"/>
                <a:sym typeface="DM Sans"/>
              </a:rPr>
              <a:t>Page 1</a:t>
            </a:r>
            <a:r>
              <a:rPr b="1" lang="en-US" sz="1500">
                <a:solidFill>
                  <a:srgbClr val="343434"/>
                </a:solidFill>
                <a:latin typeface="DM Sans"/>
                <a:ea typeface="DM Sans"/>
                <a:cs typeface="DM Sans"/>
                <a:sym typeface="DM Sans"/>
              </a:rPr>
              <a:t>2</a:t>
            </a:r>
            <a:endParaRPr b="0" i="0" sz="1400" u="none" cap="none" strike="noStrike">
              <a:solidFill>
                <a:srgbClr val="000000"/>
              </a:solidFill>
              <a:latin typeface="Arial"/>
              <a:ea typeface="Arial"/>
              <a:cs typeface="Arial"/>
              <a:sym typeface="Arial"/>
            </a:endParaRPr>
          </a:p>
        </p:txBody>
      </p:sp>
      <p:sp>
        <p:nvSpPr>
          <p:cNvPr id="265" name="Google Shape;265;p10"/>
          <p:cNvSpPr txBox="1"/>
          <p:nvPr/>
        </p:nvSpPr>
        <p:spPr>
          <a:xfrm>
            <a:off x="85924" y="182065"/>
            <a:ext cx="4479095" cy="243569"/>
          </a:xfrm>
          <a:prstGeom prst="rect">
            <a:avLst/>
          </a:prstGeom>
          <a:noFill/>
          <a:ln>
            <a:noFill/>
          </a:ln>
        </p:spPr>
        <p:txBody>
          <a:bodyPr anchorCtr="0" anchor="t" bIns="0" lIns="0" spcFirstLastPara="1" rIns="0" wrap="square" tIns="0">
            <a:spAutoFit/>
          </a:bodyPr>
          <a:lstStyle/>
          <a:p>
            <a:pPr indent="0" lvl="0" marL="0" marR="0" rtl="0" algn="l">
              <a:lnSpc>
                <a:spcPct val="100997"/>
              </a:lnSpc>
              <a:spcBef>
                <a:spcPts val="0"/>
              </a:spcBef>
              <a:spcAft>
                <a:spcPts val="0"/>
              </a:spcAft>
              <a:buClr>
                <a:srgbClr val="000000"/>
              </a:buClr>
              <a:buSzPts val="1804"/>
              <a:buFont typeface="Arial"/>
              <a:buNone/>
            </a:pPr>
            <a:r>
              <a:rPr b="1" i="0" lang="en-US" sz="1804" u="none" cap="none" strike="noStrike">
                <a:solidFill>
                  <a:srgbClr val="343434"/>
                </a:solidFill>
                <a:latin typeface="DM Sans"/>
                <a:ea typeface="DM Sans"/>
                <a:cs typeface="DM Sans"/>
                <a:sym typeface="DM Sans"/>
              </a:rPr>
              <a:t>UNIVERSITAS PAMULANG KOTA SERANG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