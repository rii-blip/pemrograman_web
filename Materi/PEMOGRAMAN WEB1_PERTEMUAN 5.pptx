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8288000" cy="10287000"/>
  <p:notesSz cx="6858000" cy="9144000"/>
  <p:embeddedFontLst>
    <p:embeddedFont>
      <p:font typeface="DM Sans"/>
      <p:regular r:id="rId15"/>
    </p:embeddedFont>
    <p:embeddedFont>
      <p:font typeface="Roboto Mono" panose="00000009000000000000"/>
      <p:regular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914400" marR="0" lvl="1"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1371600" marR="0" lvl="2"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828800" marR="0" lvl="3"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2286000" marR="0" lvl="4"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743200" marR="0" lvl="5"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3200400" marR="0" lvl="6"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657600" marR="0" lvl="7"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4114800" marR="0" lvl="8"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99"/>
        <p:cNvGrpSpPr/>
        <p:nvPr/>
      </p:nvGrpSpPr>
      <p:grpSpPr>
        <a:xfrm>
          <a:off x="0" y="0"/>
          <a:ext cx="0" cy="0"/>
          <a:chOff x="0" y="0"/>
          <a:chExt cx="0" cy="0"/>
        </a:xfrm>
      </p:grpSpPr>
      <p:sp>
        <p:nvSpPr>
          <p:cNvPr id="100" name="Google Shape;100;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01" name="Google Shape;101;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 name="Shape 113"/>
        <p:cNvGrpSpPr/>
        <p:nvPr/>
      </p:nvGrpSpPr>
      <p:grpSpPr>
        <a:xfrm>
          <a:off x="0" y="0"/>
          <a:ext cx="0" cy="0"/>
          <a:chOff x="0" y="0"/>
          <a:chExt cx="0" cy="0"/>
        </a:xfrm>
      </p:grpSpPr>
      <p:sp>
        <p:nvSpPr>
          <p:cNvPr id="114" name="Google Shape;114;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15" name="Google Shape;115;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130"/>
        <p:cNvGrpSpPr/>
        <p:nvPr/>
      </p:nvGrpSpPr>
      <p:grpSpPr>
        <a:xfrm>
          <a:off x="0" y="0"/>
          <a:ext cx="0" cy="0"/>
          <a:chOff x="0" y="0"/>
          <a:chExt cx="0" cy="0"/>
        </a:xfrm>
      </p:grpSpPr>
      <p:sp>
        <p:nvSpPr>
          <p:cNvPr id="131" name="Google Shape;131;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32" name="Google Shape;132;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 name="Shape 146"/>
        <p:cNvGrpSpPr/>
        <p:nvPr/>
      </p:nvGrpSpPr>
      <p:grpSpPr>
        <a:xfrm>
          <a:off x="0" y="0"/>
          <a:ext cx="0" cy="0"/>
          <a:chOff x="0" y="0"/>
          <a:chExt cx="0" cy="0"/>
        </a:xfrm>
      </p:grpSpPr>
      <p:sp>
        <p:nvSpPr>
          <p:cNvPr id="147" name="Google Shape;147;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48" name="Google Shape;148;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Google Shape;163;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64" name="Google Shape;164;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7" name="Shape 177"/>
        <p:cNvGrpSpPr/>
        <p:nvPr/>
      </p:nvGrpSpPr>
      <p:grpSpPr>
        <a:xfrm>
          <a:off x="0" y="0"/>
          <a:ext cx="0" cy="0"/>
          <a:chOff x="0" y="0"/>
          <a:chExt cx="0" cy="0"/>
        </a:xfrm>
      </p:grpSpPr>
      <p:sp>
        <p:nvSpPr>
          <p:cNvPr id="178" name="Google Shape;178;g33064f6f14d_0_2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79" name="Google Shape;179;g33064f6f14d_0_24: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0" name="Shape 190"/>
        <p:cNvGrpSpPr/>
        <p:nvPr/>
      </p:nvGrpSpPr>
      <p:grpSpPr>
        <a:xfrm>
          <a:off x="0" y="0"/>
          <a:ext cx="0" cy="0"/>
          <a:chOff x="0" y="0"/>
          <a:chExt cx="0" cy="0"/>
        </a:xfrm>
      </p:grpSpPr>
      <p:sp>
        <p:nvSpPr>
          <p:cNvPr id="191" name="Google Shape;191;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92" name="Google Shape;192;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24" name="Google Shape;24;p1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6" name="Google Shape;36;p1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7" name="Google Shape;37;p1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3" name="Google Shape;43;p1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4" name="Google Shape;44;p1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5" name="Google Shape;45;p1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6" name="Google Shape;46;p1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p:txBody>
      </p:sp>
      <p:sp>
        <p:nvSpPr>
          <p:cNvPr id="57" name="Google Shape;57;p1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58" name="Google Shape;58;p1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type="pic" idx="2"/>
          </p:nvPr>
        </p:nvSpPr>
        <p:spPr>
          <a:xfrm>
            <a:off x="1792288" y="612775"/>
            <a:ext cx="5486400" cy="4114800"/>
          </a:xfrm>
          <a:prstGeom prst="rect">
            <a:avLst/>
          </a:prstGeom>
          <a:noFill/>
          <a:ln>
            <a:noFill/>
          </a:ln>
        </p:spPr>
      </p:sp>
      <p:sp>
        <p:nvSpPr>
          <p:cNvPr id="64" name="Google Shape;64;p2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65" name="Google Shape;65;p2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1" name="Google Shape;71;p2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7" name="Google Shape;77;p2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
        <p:nvSpPr>
          <p:cNvPr id="7" name="Google Shape;7;p1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panose="020B0604020202090204"/>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9pPr>
          </a:lstStyle>
          <a:p/>
        </p:txBody>
      </p:sp>
      <p:sp>
        <p:nvSpPr>
          <p:cNvPr id="8" name="Google Shape;8;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9" name="Google Shape;9;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10" name="Google Shape;10;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83" name="Shape 83"/>
        <p:cNvGrpSpPr/>
        <p:nvPr/>
      </p:nvGrpSpPr>
      <p:grpSpPr>
        <a:xfrm>
          <a:off x="0" y="0"/>
          <a:ext cx="0" cy="0"/>
          <a:chOff x="0" y="0"/>
          <a:chExt cx="0" cy="0"/>
        </a:xfrm>
      </p:grpSpPr>
      <p:sp>
        <p:nvSpPr>
          <p:cNvPr id="84" name="Google Shape;84;p1"/>
          <p:cNvSpPr/>
          <p:nvPr/>
        </p:nvSpPr>
        <p:spPr>
          <a:xfrm>
            <a:off x="-722887" y="-4247682"/>
            <a:ext cx="19258069" cy="19258069"/>
          </a:xfrm>
          <a:custGeom>
            <a:avLst/>
            <a:gdLst/>
            <a:ahLst/>
            <a:cxnLst/>
            <a:rect l="l" t="t" r="r" b="b"/>
            <a:pathLst>
              <a:path w="19258069" h="19258069" extrusionOk="0">
                <a:moveTo>
                  <a:pt x="0" y="0"/>
                </a:moveTo>
                <a:lnTo>
                  <a:pt x="19258069" y="0"/>
                </a:lnTo>
                <a:lnTo>
                  <a:pt x="19258069" y="19258069"/>
                </a:lnTo>
                <a:lnTo>
                  <a:pt x="0" y="19258069"/>
                </a:lnTo>
                <a:lnTo>
                  <a:pt x="0" y="0"/>
                </a:lnTo>
                <a:close/>
              </a:path>
            </a:pathLst>
          </a:custGeom>
          <a:blipFill rotWithShape="1">
            <a:blip r:embed="rId1">
              <a:alphaModFix amt="4000"/>
            </a:blip>
            <a:stretch>
              <a:fillRect/>
            </a:stretch>
          </a:blipFill>
          <a:ln>
            <a:noFill/>
          </a:ln>
        </p:spPr>
      </p:sp>
      <p:sp>
        <p:nvSpPr>
          <p:cNvPr id="85" name="Google Shape;85;p1"/>
          <p:cNvSpPr/>
          <p:nvPr/>
        </p:nvSpPr>
        <p:spPr>
          <a:xfrm>
            <a:off x="11218332" y="2731879"/>
            <a:ext cx="3701593" cy="4723610"/>
          </a:xfrm>
          <a:custGeom>
            <a:avLst/>
            <a:gdLst/>
            <a:ahLst/>
            <a:cxnLst/>
            <a:rect l="l" t="t" r="r" b="b"/>
            <a:pathLst>
              <a:path w="3701593" h="4723610" extrusionOk="0">
                <a:moveTo>
                  <a:pt x="0" y="0"/>
                </a:moveTo>
                <a:lnTo>
                  <a:pt x="3701593" y="0"/>
                </a:lnTo>
                <a:lnTo>
                  <a:pt x="3701593" y="4723610"/>
                </a:lnTo>
                <a:lnTo>
                  <a:pt x="0" y="4723610"/>
                </a:lnTo>
                <a:lnTo>
                  <a:pt x="0" y="0"/>
                </a:lnTo>
                <a:close/>
              </a:path>
            </a:pathLst>
          </a:custGeom>
          <a:blipFill rotWithShape="1">
            <a:blip r:embed="rId2"/>
            <a:stretch>
              <a:fillRect/>
            </a:stretch>
          </a:blipFill>
          <a:ln>
            <a:noFill/>
          </a:ln>
        </p:spPr>
      </p:sp>
      <p:sp>
        <p:nvSpPr>
          <p:cNvPr id="86" name="Google Shape;86;p1"/>
          <p:cNvSpPr/>
          <p:nvPr/>
        </p:nvSpPr>
        <p:spPr>
          <a:xfrm>
            <a:off x="9456031" y="5686468"/>
            <a:ext cx="3718302" cy="2393234"/>
          </a:xfrm>
          <a:custGeom>
            <a:avLst/>
            <a:gdLst/>
            <a:ahLst/>
            <a:cxnLst/>
            <a:rect l="l" t="t" r="r" b="b"/>
            <a:pathLst>
              <a:path w="3718302" h="2393234" extrusionOk="0">
                <a:moveTo>
                  <a:pt x="0" y="0"/>
                </a:moveTo>
                <a:lnTo>
                  <a:pt x="3718301" y="0"/>
                </a:lnTo>
                <a:lnTo>
                  <a:pt x="3718301" y="2393234"/>
                </a:lnTo>
                <a:lnTo>
                  <a:pt x="0" y="2393234"/>
                </a:lnTo>
                <a:lnTo>
                  <a:pt x="0" y="0"/>
                </a:lnTo>
                <a:close/>
              </a:path>
            </a:pathLst>
          </a:custGeom>
          <a:blipFill rotWithShape="1">
            <a:blip r:embed="rId3"/>
            <a:stretch>
              <a:fillRect/>
            </a:stretch>
          </a:blipFill>
          <a:ln>
            <a:noFill/>
          </a:ln>
        </p:spPr>
      </p:sp>
      <p:sp>
        <p:nvSpPr>
          <p:cNvPr id="87" name="Google Shape;87;p1"/>
          <p:cNvSpPr/>
          <p:nvPr/>
        </p:nvSpPr>
        <p:spPr>
          <a:xfrm>
            <a:off x="14377104" y="3974852"/>
            <a:ext cx="2882196" cy="3943304"/>
          </a:xfrm>
          <a:custGeom>
            <a:avLst/>
            <a:gdLst/>
            <a:ahLst/>
            <a:cxnLst/>
            <a:rect l="l" t="t" r="r" b="b"/>
            <a:pathLst>
              <a:path w="2882196" h="3943304" extrusionOk="0">
                <a:moveTo>
                  <a:pt x="0" y="0"/>
                </a:moveTo>
                <a:lnTo>
                  <a:pt x="2882196" y="0"/>
                </a:lnTo>
                <a:lnTo>
                  <a:pt x="2882196" y="3943304"/>
                </a:lnTo>
                <a:lnTo>
                  <a:pt x="0" y="3943304"/>
                </a:lnTo>
                <a:lnTo>
                  <a:pt x="0" y="0"/>
                </a:lnTo>
                <a:close/>
              </a:path>
            </a:pathLst>
          </a:custGeom>
          <a:blipFill rotWithShape="1">
            <a:blip r:embed="rId4"/>
            <a:stretch>
              <a:fillRect/>
            </a:stretch>
          </a:blipFill>
          <a:ln>
            <a:noFill/>
          </a:ln>
        </p:spPr>
      </p:sp>
      <p:sp>
        <p:nvSpPr>
          <p:cNvPr id="88" name="Google Shape;88;p1"/>
          <p:cNvSpPr txBox="1"/>
          <p:nvPr/>
        </p:nvSpPr>
        <p:spPr>
          <a:xfrm>
            <a:off x="1028700" y="3098954"/>
            <a:ext cx="9904500" cy="14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9313"/>
              <a:buFont typeface="Arial" panose="020B0604020202090204"/>
              <a:buNone/>
            </a:pPr>
            <a:r>
              <a:rPr lang="en-US" sz="9315" b="1" i="0" u="none" strike="noStrike" cap="none">
                <a:solidFill>
                  <a:srgbClr val="343434"/>
                </a:solidFill>
                <a:latin typeface="Arial" panose="020B0604020202090204"/>
                <a:ea typeface="Arial" panose="020B0604020202090204"/>
                <a:cs typeface="Arial" panose="020B0604020202090204"/>
                <a:sym typeface="Arial" panose="020B0604020202090204"/>
              </a:rPr>
              <a:t>PEMROGRAMAN </a:t>
            </a:r>
            <a:endParaRPr sz="5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89" name="Google Shape;89;p1"/>
          <p:cNvSpPr txBox="1"/>
          <p:nvPr/>
        </p:nvSpPr>
        <p:spPr>
          <a:xfrm>
            <a:off x="1028700" y="4620822"/>
            <a:ext cx="8626948" cy="208144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0463"/>
              <a:buFont typeface="Arial" panose="020B0604020202090204"/>
              <a:buNone/>
            </a:pPr>
            <a:r>
              <a:rPr lang="en-US" sz="10465" b="0" i="0" u="none" strike="noStrike" cap="none">
                <a:solidFill>
                  <a:srgbClr val="343434"/>
                </a:solidFill>
                <a:latin typeface="Arial" panose="020B0604020202090204"/>
                <a:ea typeface="Arial" panose="020B0604020202090204"/>
                <a:cs typeface="Arial" panose="020B0604020202090204"/>
                <a:sym typeface="Arial" panose="020B0604020202090204"/>
              </a:rPr>
              <a:t>WEB 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0" name="Google Shape;90;p1"/>
          <p:cNvSpPr txBox="1"/>
          <p:nvPr/>
        </p:nvSpPr>
        <p:spPr>
          <a:xfrm>
            <a:off x="1055075" y="589884"/>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1" name="Google Shape;91;p1"/>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2" name="Google Shape;92;p1"/>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 name="Google Shape;93;p1"/>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4" name="Google Shape;94;p1"/>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5" name="Google Shape;95;p1"/>
          <p:cNvSpPr txBox="1"/>
          <p:nvPr/>
        </p:nvSpPr>
        <p:spPr>
          <a:xfrm>
            <a:off x="1055075" y="7364050"/>
            <a:ext cx="9164400" cy="554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3599"/>
              <a:buFont typeface="Arial" panose="020B0604020202090204"/>
              <a:buNone/>
            </a:pPr>
            <a:r>
              <a:rPr lang="en-US" sz="3600" b="0" i="0" u="none" strike="noStrike" cap="none">
                <a:solidFill>
                  <a:srgbClr val="343434"/>
                </a:solidFill>
                <a:latin typeface="DM Sans"/>
                <a:ea typeface="DM Sans"/>
                <a:cs typeface="DM Sans"/>
                <a:sym typeface="DM Sans"/>
              </a:rPr>
              <a:t>#</a:t>
            </a:r>
            <a:r>
              <a:rPr lang="en-US" sz="3600">
                <a:solidFill>
                  <a:srgbClr val="343434"/>
                </a:solidFill>
                <a:latin typeface="DM Sans"/>
                <a:ea typeface="DM Sans"/>
                <a:cs typeface="DM Sans"/>
                <a:sym typeface="DM Sans"/>
              </a:rPr>
              <a:t> Link pada HTML</a:t>
            </a:r>
            <a:endParaRPr sz="3600" b="0" i="0" u="none" strike="noStrike" cap="none">
              <a:solidFill>
                <a:srgbClr val="343434"/>
              </a:solidFill>
              <a:latin typeface="DM Sans"/>
              <a:ea typeface="DM Sans"/>
              <a:cs typeface="DM Sans"/>
              <a:sym typeface="DM Sans"/>
            </a:endParaRPr>
          </a:p>
        </p:txBody>
      </p:sp>
      <p:sp>
        <p:nvSpPr>
          <p:cNvPr id="96" name="Google Shape;96;p1"/>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8" name="Google Shape;98;p1"/>
          <p:cNvSpPr txBox="1"/>
          <p:nvPr/>
        </p:nvSpPr>
        <p:spPr>
          <a:xfrm>
            <a:off x="1207475" y="6790746"/>
            <a:ext cx="77931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3599"/>
              <a:buFont typeface="Arial" panose="020B0604020202090204"/>
              <a:buNone/>
            </a:pPr>
            <a:r>
              <a:rPr lang="en-US" sz="3600" b="0" i="0" u="none" strike="noStrike" cap="none">
                <a:solidFill>
                  <a:srgbClr val="343434"/>
                </a:solidFill>
                <a:latin typeface="DM Sans"/>
                <a:ea typeface="DM Sans"/>
                <a:cs typeface="DM Sans"/>
                <a:sym typeface="DM Sans"/>
              </a:rPr>
              <a:t>Pertemuan #</a:t>
            </a:r>
            <a:r>
              <a:rPr lang="en-US" sz="3600">
                <a:solidFill>
                  <a:srgbClr val="343434"/>
                </a:solidFill>
                <a:latin typeface="DM Sans"/>
                <a:ea typeface="DM Sans"/>
                <a:cs typeface="DM Sans"/>
                <a:sym typeface="DM Sans"/>
              </a:rPr>
              <a:t>5</a:t>
            </a:r>
            <a:endParaRPr sz="3600" b="0" i="0" u="none" strike="noStrike" cap="none">
              <a:solidFill>
                <a:srgbClr val="343434"/>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02" name="Shape 102"/>
        <p:cNvGrpSpPr/>
        <p:nvPr/>
      </p:nvGrpSpPr>
      <p:grpSpPr>
        <a:xfrm>
          <a:off x="0" y="0"/>
          <a:ext cx="0" cy="0"/>
          <a:chOff x="0" y="0"/>
          <a:chExt cx="0" cy="0"/>
        </a:xfrm>
      </p:grpSpPr>
      <p:sp>
        <p:nvSpPr>
          <p:cNvPr id="103" name="Google Shape;103;p2"/>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04" name="Google Shape;104;p2"/>
          <p:cNvSpPr/>
          <p:nvPr/>
        </p:nvSpPr>
        <p:spPr>
          <a:xfrm>
            <a:off x="12051477" y="2039141"/>
            <a:ext cx="5610468" cy="6246472"/>
          </a:xfrm>
          <a:custGeom>
            <a:avLst/>
            <a:gdLst/>
            <a:ahLst/>
            <a:cxnLst/>
            <a:rect l="l" t="t" r="r" b="b"/>
            <a:pathLst>
              <a:path w="5610468" h="6246472" extrusionOk="0">
                <a:moveTo>
                  <a:pt x="0" y="0"/>
                </a:moveTo>
                <a:lnTo>
                  <a:pt x="5610468" y="0"/>
                </a:lnTo>
                <a:lnTo>
                  <a:pt x="5610468" y="6246472"/>
                </a:lnTo>
                <a:lnTo>
                  <a:pt x="0" y="6246472"/>
                </a:lnTo>
                <a:lnTo>
                  <a:pt x="0" y="0"/>
                </a:lnTo>
                <a:close/>
              </a:path>
            </a:pathLst>
          </a:custGeom>
          <a:blipFill rotWithShape="1">
            <a:blip r:embed="rId2"/>
            <a:stretch>
              <a:fillRect/>
            </a:stretch>
          </a:blipFill>
          <a:ln>
            <a:noFill/>
          </a:ln>
        </p:spPr>
      </p:sp>
      <p:sp>
        <p:nvSpPr>
          <p:cNvPr id="105" name="Google Shape;105;p2"/>
          <p:cNvSpPr txBox="1"/>
          <p:nvPr/>
        </p:nvSpPr>
        <p:spPr>
          <a:xfrm>
            <a:off x="348725" y="865904"/>
            <a:ext cx="7072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i="0" u="none" strike="noStrike" cap="none">
                <a:solidFill>
                  <a:srgbClr val="343434"/>
                </a:solidFill>
                <a:latin typeface="Arial" panose="020B0604020202090204"/>
                <a:ea typeface="Arial" panose="020B0604020202090204"/>
                <a:cs typeface="Arial" panose="020B0604020202090204"/>
                <a:sym typeface="Arial" panose="020B0604020202090204"/>
              </a:rPr>
              <a:t>## Pendahuluan</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6" name="Google Shape;106;p2"/>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7" name="Google Shape;107;p2"/>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8" name="Google Shape;108;p2"/>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 name="Google Shape;109;p2"/>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0" name="Google Shape;110;p2"/>
          <p:cNvSpPr txBox="1"/>
          <p:nvPr/>
        </p:nvSpPr>
        <p:spPr>
          <a:xfrm>
            <a:off x="505625" y="2229575"/>
            <a:ext cx="11148000" cy="53718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600">
                <a:solidFill>
                  <a:schemeClr val="dk1"/>
                </a:solidFill>
              </a:rPr>
              <a:t>Link atau tautan adalah salah satu elemen penting dalam HTML yang memungkinkan pengguna untuk berpindah dari satu halaman ke halaman lainnya atau menuju bagian tertentu dalam halaman yang sama. Dalam mata kuliah Pemrograman Web 1, pemahaman tentang cara membuat dan mengelola link sangatlah penting.</a:t>
            </a:r>
            <a:endParaRPr sz="2600">
              <a:solidFill>
                <a:schemeClr val="dk1"/>
              </a:solidFill>
            </a:endParaRPr>
          </a:p>
          <a:p>
            <a:pPr marL="0" lvl="0" indent="0" algn="l" rtl="0">
              <a:lnSpc>
                <a:spcPct val="115000"/>
              </a:lnSpc>
              <a:spcBef>
                <a:spcPts val="1800"/>
              </a:spcBef>
              <a:spcAft>
                <a:spcPts val="0"/>
              </a:spcAft>
              <a:buClr>
                <a:schemeClr val="dk1"/>
              </a:buClr>
              <a:buSzPts val="1100"/>
              <a:buFont typeface="Arial" panose="020B0604020202090204"/>
              <a:buNone/>
            </a:pPr>
            <a:r>
              <a:rPr lang="en-US" sz="3200" b="1">
                <a:solidFill>
                  <a:schemeClr val="dk1"/>
                </a:solidFill>
              </a:rPr>
              <a:t>1. Pengertian Link</a:t>
            </a:r>
            <a:endParaRPr sz="32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600">
                <a:solidFill>
                  <a:schemeClr val="dk1"/>
                </a:solidFill>
              </a:rPr>
              <a:t>Link dalam HTML biasanya dibuat menggunakan elemen </a:t>
            </a:r>
            <a:r>
              <a:rPr lang="en-US" sz="2600">
                <a:solidFill>
                  <a:srgbClr val="188038"/>
                </a:solidFill>
                <a:latin typeface="Roboto Mono" panose="00000009000000000000"/>
                <a:ea typeface="Roboto Mono" panose="00000009000000000000"/>
                <a:cs typeface="Roboto Mono" panose="00000009000000000000"/>
                <a:sym typeface="Roboto Mono" panose="00000009000000000000"/>
              </a:rPr>
              <a:t>&lt;a&gt;</a:t>
            </a:r>
            <a:r>
              <a:rPr lang="en-US" sz="2600">
                <a:solidFill>
                  <a:schemeClr val="dk1"/>
                </a:solidFill>
              </a:rPr>
              <a:t> (anchor). Elemen ini menghubungkan satu halaman dengan halaman lainnya, baik di dalam situs yang sama maupun di situs yang berbeda</a:t>
            </a:r>
            <a:endParaRPr sz="2600">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800">
              <a:solidFill>
                <a:schemeClr val="dk1"/>
              </a:solidFill>
            </a:endParaRPr>
          </a:p>
        </p:txBody>
      </p:sp>
      <p:sp>
        <p:nvSpPr>
          <p:cNvPr id="111" name="Google Shape;111;p2"/>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02</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2" name="Google Shape;112;p2"/>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16" name="Shape 116"/>
        <p:cNvGrpSpPr/>
        <p:nvPr/>
      </p:nvGrpSpPr>
      <p:grpSpPr>
        <a:xfrm>
          <a:off x="0" y="0"/>
          <a:ext cx="0" cy="0"/>
          <a:chOff x="0" y="0"/>
          <a:chExt cx="0" cy="0"/>
        </a:xfrm>
      </p:grpSpPr>
      <p:sp>
        <p:nvSpPr>
          <p:cNvPr id="117" name="Google Shape;117;p3"/>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18" name="Google Shape;118;p3"/>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9" name="Google Shape;119;p3"/>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0" name="Google Shape;120;p3"/>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1" name="Google Shape;121;p3"/>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2" name="Google Shape;122;p3"/>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03</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3" name="Google Shape;123;p3"/>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 name="Google Shape;124;p3"/>
          <p:cNvSpPr txBox="1"/>
          <p:nvPr/>
        </p:nvSpPr>
        <p:spPr>
          <a:xfrm>
            <a:off x="488200" y="2169000"/>
            <a:ext cx="11505000" cy="922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400" b="1">
                <a:solidFill>
                  <a:schemeClr val="dk1"/>
                </a:solidFill>
              </a:rPr>
              <a:t>Struktur dasar dari link dalam HTML adalah sebagai berikut:</a:t>
            </a:r>
            <a:endParaRPr sz="2400" b="1">
              <a:solidFill>
                <a:schemeClr val="dk1"/>
              </a:solidFill>
            </a:endParaRPr>
          </a:p>
          <a:p>
            <a:pPr marL="0" marR="0" lvl="0" indent="0" algn="l" rtl="0">
              <a:lnSpc>
                <a:spcPct val="115000"/>
              </a:lnSpc>
              <a:spcBef>
                <a:spcPts val="1200"/>
              </a:spcBef>
              <a:spcAft>
                <a:spcPts val="0"/>
              </a:spcAft>
              <a:buClr>
                <a:schemeClr val="dk1"/>
              </a:buClr>
              <a:buSzPts val="1100"/>
              <a:buFont typeface="Arial" panose="020B0604020202090204"/>
              <a:buNone/>
            </a:pPr>
            <a:endParaRPr sz="2400" b="1">
              <a:solidFill>
                <a:schemeClr val="dk1"/>
              </a:solidFill>
            </a:endParaRPr>
          </a:p>
          <a:p>
            <a:pPr marL="0" marR="0" lvl="0" indent="0" algn="l" rtl="0">
              <a:lnSpc>
                <a:spcPct val="115000"/>
              </a:lnSpc>
              <a:spcBef>
                <a:spcPts val="1200"/>
              </a:spcBef>
              <a:spcAft>
                <a:spcPts val="0"/>
              </a:spcAft>
              <a:buClr>
                <a:schemeClr val="dk1"/>
              </a:buClr>
              <a:buSzPts val="1100"/>
              <a:buFont typeface="Arial" panose="020B0604020202090204"/>
              <a:buNone/>
            </a:pPr>
            <a:endParaRPr sz="2400" b="1">
              <a:solidFill>
                <a:schemeClr val="dk1"/>
              </a:solidFill>
            </a:endParaRPr>
          </a:p>
          <a:p>
            <a:pPr marL="457200" lvl="0" indent="-368300" algn="l" rtl="0">
              <a:lnSpc>
                <a:spcPct val="115000"/>
              </a:lnSpc>
              <a:spcBef>
                <a:spcPts val="120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href</a:t>
            </a:r>
            <a:r>
              <a:rPr lang="en-US" sz="2200">
                <a:solidFill>
                  <a:schemeClr val="dk1"/>
                </a:solidFill>
              </a:rPr>
              <a:t>: Atribut ini digunakan untuk menentukan URL yang akan dituju ketika tautan diklik.</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Teks Tautan</a:t>
            </a:r>
            <a:r>
              <a:rPr lang="en-US" sz="2200">
                <a:solidFill>
                  <a:schemeClr val="dk1"/>
                </a:solidFill>
              </a:rPr>
              <a:t>: Teks yang akan ditampilkan sebagai tautan.</a:t>
            </a:r>
            <a:endParaRPr sz="22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300" b="1">
                <a:solidFill>
                  <a:schemeClr val="dk1"/>
                </a:solidFill>
              </a:rPr>
              <a:t>Contoh:</a:t>
            </a:r>
            <a:endParaRPr sz="2300" b="1">
              <a:solidFill>
                <a:schemeClr val="dk1"/>
              </a:solidFill>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a:solidFill>
                <a:schemeClr val="dk1"/>
              </a:solidFill>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chemeClr val="dk1"/>
              </a:buClr>
              <a:buSzPts val="11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200"/>
              </a:spcBef>
              <a:spcAft>
                <a:spcPts val="0"/>
              </a:spcAft>
              <a:buClr>
                <a:srgbClr val="000000"/>
              </a:buClr>
              <a:buSzPts val="4100"/>
              <a:buFont typeface="Arial" panose="020B0604020202090204"/>
              <a:buNone/>
            </a:pPr>
            <a:endParaRPr sz="4100" b="1"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
        <p:nvSpPr>
          <p:cNvPr id="125" name="Google Shape;125;p3"/>
          <p:cNvSpPr/>
          <p:nvPr/>
        </p:nvSpPr>
        <p:spPr>
          <a:xfrm>
            <a:off x="14008032" y="2976004"/>
            <a:ext cx="3701593" cy="4723610"/>
          </a:xfrm>
          <a:custGeom>
            <a:avLst/>
            <a:gdLst/>
            <a:ahLst/>
            <a:cxnLst/>
            <a:rect l="l" t="t" r="r" b="b"/>
            <a:pathLst>
              <a:path w="3701593" h="4723610" extrusionOk="0">
                <a:moveTo>
                  <a:pt x="0" y="0"/>
                </a:moveTo>
                <a:lnTo>
                  <a:pt x="3701593" y="0"/>
                </a:lnTo>
                <a:lnTo>
                  <a:pt x="3701593" y="4723610"/>
                </a:lnTo>
                <a:lnTo>
                  <a:pt x="0" y="4723610"/>
                </a:lnTo>
                <a:lnTo>
                  <a:pt x="0" y="0"/>
                </a:lnTo>
                <a:close/>
              </a:path>
            </a:pathLst>
          </a:custGeom>
          <a:blipFill rotWithShape="1">
            <a:blip r:embed="rId2"/>
            <a:stretch>
              <a:fillRect/>
            </a:stretch>
          </a:blipFill>
          <a:ln>
            <a:noFill/>
          </a:ln>
        </p:spPr>
      </p:sp>
      <p:sp>
        <p:nvSpPr>
          <p:cNvPr id="126" name="Google Shape;126;p3"/>
          <p:cNvSpPr/>
          <p:nvPr/>
        </p:nvSpPr>
        <p:spPr>
          <a:xfrm>
            <a:off x="12245731" y="5930593"/>
            <a:ext cx="3718302" cy="2393234"/>
          </a:xfrm>
          <a:custGeom>
            <a:avLst/>
            <a:gdLst/>
            <a:ahLst/>
            <a:cxnLst/>
            <a:rect l="l" t="t" r="r" b="b"/>
            <a:pathLst>
              <a:path w="3718302" h="2393234" extrusionOk="0">
                <a:moveTo>
                  <a:pt x="0" y="0"/>
                </a:moveTo>
                <a:lnTo>
                  <a:pt x="3718301" y="0"/>
                </a:lnTo>
                <a:lnTo>
                  <a:pt x="3718301" y="2393234"/>
                </a:lnTo>
                <a:lnTo>
                  <a:pt x="0" y="2393234"/>
                </a:lnTo>
                <a:lnTo>
                  <a:pt x="0" y="0"/>
                </a:lnTo>
                <a:close/>
              </a:path>
            </a:pathLst>
          </a:custGeom>
          <a:blipFill rotWithShape="1">
            <a:blip r:embed="rId3"/>
            <a:stretch>
              <a:fillRect/>
            </a:stretch>
          </a:blipFill>
          <a:ln>
            <a:noFill/>
          </a:ln>
        </p:spPr>
      </p:sp>
      <p:sp>
        <p:nvSpPr>
          <p:cNvPr id="127" name="Google Shape;127;p3"/>
          <p:cNvSpPr txBox="1"/>
          <p:nvPr/>
        </p:nvSpPr>
        <p:spPr>
          <a:xfrm>
            <a:off x="3886000" y="999192"/>
            <a:ext cx="7072500" cy="523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400" b="1"/>
              <a:t> Struktur Dasar Link</a:t>
            </a:r>
            <a:endParaRPr sz="3400" b="1" i="0" u="none" strike="noStrike" cap="none">
              <a:solidFill>
                <a:srgbClr val="000000"/>
              </a:solidFill>
            </a:endParaRPr>
          </a:p>
        </p:txBody>
      </p:sp>
      <p:pic>
        <p:nvPicPr>
          <p:cNvPr id="128" name="Google Shape;128;p3"/>
          <p:cNvPicPr preferRelativeResize="0"/>
          <p:nvPr/>
        </p:nvPicPr>
        <p:blipFill>
          <a:blip r:embed="rId4"/>
          <a:stretch>
            <a:fillRect/>
          </a:stretch>
        </p:blipFill>
        <p:spPr>
          <a:xfrm>
            <a:off x="609750" y="2711400"/>
            <a:ext cx="10687050" cy="819150"/>
          </a:xfrm>
          <a:prstGeom prst="rect">
            <a:avLst/>
          </a:prstGeom>
          <a:noFill/>
          <a:ln>
            <a:noFill/>
          </a:ln>
        </p:spPr>
      </p:pic>
      <p:pic>
        <p:nvPicPr>
          <p:cNvPr id="129" name="Google Shape;129;p3"/>
          <p:cNvPicPr preferRelativeResize="0"/>
          <p:nvPr/>
        </p:nvPicPr>
        <p:blipFill>
          <a:blip r:embed="rId5"/>
          <a:stretch>
            <a:fillRect/>
          </a:stretch>
        </p:blipFill>
        <p:spPr>
          <a:xfrm>
            <a:off x="609750" y="5847225"/>
            <a:ext cx="10687050" cy="819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33" name="Shape 133"/>
        <p:cNvGrpSpPr/>
        <p:nvPr/>
      </p:nvGrpSpPr>
      <p:grpSpPr>
        <a:xfrm>
          <a:off x="0" y="0"/>
          <a:ext cx="0" cy="0"/>
          <a:chOff x="0" y="0"/>
          <a:chExt cx="0" cy="0"/>
        </a:xfrm>
      </p:grpSpPr>
      <p:sp>
        <p:nvSpPr>
          <p:cNvPr id="134" name="Google Shape;134;p4"/>
          <p:cNvSpPr/>
          <p:nvPr/>
        </p:nvSpPr>
        <p:spPr>
          <a:xfrm>
            <a:off x="14669258" y="1865429"/>
            <a:ext cx="3102858" cy="5004610"/>
          </a:xfrm>
          <a:custGeom>
            <a:avLst/>
            <a:gdLst/>
            <a:ahLst/>
            <a:cxnLst/>
            <a:rect l="l" t="t" r="r" b="b"/>
            <a:pathLst>
              <a:path w="3102858" h="5004610" extrusionOk="0">
                <a:moveTo>
                  <a:pt x="0" y="0"/>
                </a:moveTo>
                <a:lnTo>
                  <a:pt x="3102858" y="0"/>
                </a:lnTo>
                <a:lnTo>
                  <a:pt x="3102858" y="5004610"/>
                </a:lnTo>
                <a:lnTo>
                  <a:pt x="0" y="5004610"/>
                </a:lnTo>
                <a:lnTo>
                  <a:pt x="0" y="0"/>
                </a:lnTo>
                <a:close/>
              </a:path>
            </a:pathLst>
          </a:custGeom>
          <a:blipFill rotWithShape="1">
            <a:blip r:embed="rId1"/>
            <a:stretch>
              <a:fillRect/>
            </a:stretch>
          </a:blipFill>
          <a:ln>
            <a:noFill/>
          </a:ln>
        </p:spPr>
      </p:sp>
      <p:sp>
        <p:nvSpPr>
          <p:cNvPr id="135" name="Google Shape;135;p4"/>
          <p:cNvSpPr txBox="1"/>
          <p:nvPr/>
        </p:nvSpPr>
        <p:spPr>
          <a:xfrm>
            <a:off x="3695075" y="942025"/>
            <a:ext cx="9109200" cy="585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800" b="1">
                <a:solidFill>
                  <a:srgbClr val="343434"/>
                </a:solidFill>
              </a:rPr>
              <a:t>Jenis-jenis Link</a:t>
            </a:r>
            <a:endParaRPr sz="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6" name="Google Shape;136;p4"/>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7" name="Google Shape;137;p4"/>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8" name="Google Shape;138;p4"/>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 name="Google Shape;139;p4"/>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0" name="Google Shape;140;p4"/>
          <p:cNvSpPr txBox="1"/>
          <p:nvPr/>
        </p:nvSpPr>
        <p:spPr>
          <a:xfrm>
            <a:off x="767175" y="2402850"/>
            <a:ext cx="12874200" cy="79752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US" sz="2700" b="1">
                <a:solidFill>
                  <a:schemeClr val="dk1"/>
                </a:solidFill>
              </a:rPr>
              <a:t>3.1. Link Eksternal</a:t>
            </a:r>
            <a:endParaRPr sz="27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500">
                <a:solidFill>
                  <a:schemeClr val="dk1"/>
                </a:solidFill>
              </a:rPr>
              <a:t>Link yang mengarah ke halaman di luar situs web yang sedang dibuka.</a:t>
            </a:r>
            <a:endParaRPr sz="25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5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38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600" b="1">
                <a:solidFill>
                  <a:schemeClr val="dk1"/>
                </a:solidFill>
              </a:rPr>
              <a:t>3.2. Link Internal</a:t>
            </a:r>
            <a:endParaRPr sz="26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400">
                <a:solidFill>
                  <a:schemeClr val="dk1"/>
                </a:solidFill>
              </a:rPr>
              <a:t>Link yang mengarah ke halaman lain dalam situs yang sama.</a:t>
            </a:r>
            <a:endParaRPr sz="24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600" b="1">
                <a:solidFill>
                  <a:schemeClr val="dk1"/>
                </a:solidFill>
              </a:rPr>
              <a:t>3.3. Link ke Bagian Tertentu</a:t>
            </a:r>
            <a:endParaRPr sz="26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400">
                <a:solidFill>
                  <a:schemeClr val="dk1"/>
                </a:solidFill>
              </a:rPr>
              <a:t>Link yang mengarah ke bagian tertentu dalam halaman yang sama menggunakan ID.</a:t>
            </a:r>
            <a:endParaRPr sz="24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4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500">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600">
              <a:solidFill>
                <a:schemeClr val="dk1"/>
              </a:solidFill>
            </a:endParaRPr>
          </a:p>
        </p:txBody>
      </p:sp>
      <p:sp>
        <p:nvSpPr>
          <p:cNvPr id="141" name="Google Shape;141;p4"/>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04</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2" name="Google Shape;142;p4"/>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43" name="Google Shape;143;p4"/>
          <p:cNvPicPr preferRelativeResize="0"/>
          <p:nvPr/>
        </p:nvPicPr>
        <p:blipFill>
          <a:blip r:embed="rId2"/>
          <a:stretch>
            <a:fillRect/>
          </a:stretch>
        </p:blipFill>
        <p:spPr>
          <a:xfrm>
            <a:off x="767175" y="3727300"/>
            <a:ext cx="10687050" cy="819150"/>
          </a:xfrm>
          <a:prstGeom prst="rect">
            <a:avLst/>
          </a:prstGeom>
          <a:noFill/>
          <a:ln>
            <a:noFill/>
          </a:ln>
        </p:spPr>
      </p:pic>
      <p:pic>
        <p:nvPicPr>
          <p:cNvPr id="144" name="Google Shape;144;p4"/>
          <p:cNvPicPr preferRelativeResize="0"/>
          <p:nvPr/>
        </p:nvPicPr>
        <p:blipFill>
          <a:blip r:embed="rId3"/>
          <a:stretch>
            <a:fillRect/>
          </a:stretch>
        </p:blipFill>
        <p:spPr>
          <a:xfrm>
            <a:off x="767175" y="6268075"/>
            <a:ext cx="10687050" cy="819150"/>
          </a:xfrm>
          <a:prstGeom prst="rect">
            <a:avLst/>
          </a:prstGeom>
          <a:noFill/>
          <a:ln>
            <a:noFill/>
          </a:ln>
        </p:spPr>
      </p:pic>
      <p:pic>
        <p:nvPicPr>
          <p:cNvPr id="145" name="Google Shape;145;p4"/>
          <p:cNvPicPr preferRelativeResize="0"/>
          <p:nvPr/>
        </p:nvPicPr>
        <p:blipFill>
          <a:blip r:embed="rId4"/>
          <a:stretch>
            <a:fillRect/>
          </a:stretch>
        </p:blipFill>
        <p:spPr>
          <a:xfrm>
            <a:off x="767175" y="8512125"/>
            <a:ext cx="10687050" cy="1562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49" name="Shape 149"/>
        <p:cNvGrpSpPr/>
        <p:nvPr/>
      </p:nvGrpSpPr>
      <p:grpSpPr>
        <a:xfrm>
          <a:off x="0" y="0"/>
          <a:ext cx="0" cy="0"/>
          <a:chOff x="0" y="0"/>
          <a:chExt cx="0" cy="0"/>
        </a:xfrm>
      </p:grpSpPr>
      <p:sp>
        <p:nvSpPr>
          <p:cNvPr id="150" name="Google Shape;150;p5"/>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51" name="Google Shape;151;p5"/>
          <p:cNvSpPr/>
          <p:nvPr/>
        </p:nvSpPr>
        <p:spPr>
          <a:xfrm>
            <a:off x="13675814" y="1993414"/>
            <a:ext cx="4355876" cy="6337915"/>
          </a:xfrm>
          <a:custGeom>
            <a:avLst/>
            <a:gdLst/>
            <a:ahLst/>
            <a:cxnLst/>
            <a:rect l="l" t="t" r="r" b="b"/>
            <a:pathLst>
              <a:path w="4355876" h="6337915" extrusionOk="0">
                <a:moveTo>
                  <a:pt x="0" y="0"/>
                </a:moveTo>
                <a:lnTo>
                  <a:pt x="4355877" y="0"/>
                </a:lnTo>
                <a:lnTo>
                  <a:pt x="4355877" y="6337915"/>
                </a:lnTo>
                <a:lnTo>
                  <a:pt x="0" y="6337915"/>
                </a:lnTo>
                <a:lnTo>
                  <a:pt x="0" y="0"/>
                </a:lnTo>
                <a:close/>
              </a:path>
            </a:pathLst>
          </a:custGeom>
          <a:blipFill rotWithShape="1">
            <a:blip r:embed="rId2"/>
            <a:stretch>
              <a:fillRect/>
            </a:stretch>
          </a:blipFill>
          <a:ln>
            <a:noFill/>
          </a:ln>
        </p:spPr>
      </p:sp>
      <p:sp>
        <p:nvSpPr>
          <p:cNvPr id="152" name="Google Shape;152;p5"/>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3" name="Google Shape;153;p5"/>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4" name="Google Shape;154;p5"/>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5" name="Google Shape;155;p5"/>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6" name="Google Shape;156;p5"/>
          <p:cNvSpPr txBox="1"/>
          <p:nvPr/>
        </p:nvSpPr>
        <p:spPr>
          <a:xfrm>
            <a:off x="601750" y="2680825"/>
            <a:ext cx="12202500" cy="70608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US" sz="2400" b="1">
                <a:solidFill>
                  <a:schemeClr val="dk1"/>
                </a:solidFill>
              </a:rPr>
              <a:t>4.1. Target</a:t>
            </a:r>
            <a:endParaRPr sz="24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Atribut </a:t>
            </a: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target</a:t>
            </a:r>
            <a:r>
              <a:rPr lang="en-US" sz="2200">
                <a:solidFill>
                  <a:schemeClr val="dk1"/>
                </a:solidFill>
              </a:rPr>
              <a:t> digunakan untuk menentukan di mana halaman yang dituju akan dibuka.</a:t>
            </a:r>
            <a:endParaRPr sz="2200">
              <a:solidFill>
                <a:schemeClr val="dk1"/>
              </a:solidFill>
            </a:endParaRPr>
          </a:p>
          <a:p>
            <a:pPr marL="457200" lvl="0" indent="-368300" algn="l" rtl="0">
              <a:lnSpc>
                <a:spcPct val="115000"/>
              </a:lnSpc>
              <a:spcBef>
                <a:spcPts val="120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_blank</a:t>
            </a:r>
            <a:r>
              <a:rPr lang="en-US" sz="2200">
                <a:solidFill>
                  <a:schemeClr val="dk1"/>
                </a:solidFill>
              </a:rPr>
              <a:t>: Membuka link di tab baru.</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_self</a:t>
            </a:r>
            <a:r>
              <a:rPr lang="en-US" sz="2200">
                <a:solidFill>
                  <a:schemeClr val="dk1"/>
                </a:solidFill>
              </a:rPr>
              <a:t>: Membuka link di tab yang sama (default).</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_parent</a:t>
            </a:r>
            <a:r>
              <a:rPr lang="en-US" sz="2200">
                <a:solidFill>
                  <a:schemeClr val="dk1"/>
                </a:solidFill>
              </a:rPr>
              <a:t>: Membuka link di frame parent.</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_top</a:t>
            </a:r>
            <a:r>
              <a:rPr lang="en-US" sz="2200">
                <a:solidFill>
                  <a:schemeClr val="dk1"/>
                </a:solidFill>
              </a:rPr>
              <a:t>: Membuka link di seluruh jendela.</a:t>
            </a:r>
            <a:endParaRPr sz="22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300" b="1">
                <a:solidFill>
                  <a:schemeClr val="dk1"/>
                </a:solidFill>
              </a:rPr>
              <a:t>4.2. Title</a:t>
            </a:r>
            <a:endParaRPr sz="2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100">
                <a:solidFill>
                  <a:schemeClr val="dk1"/>
                </a:solidFill>
              </a:rPr>
              <a:t>Atribut </a:t>
            </a:r>
            <a:r>
              <a:rPr lang="en-US" sz="2100">
                <a:solidFill>
                  <a:srgbClr val="188038"/>
                </a:solidFill>
                <a:latin typeface="Roboto Mono" panose="00000009000000000000"/>
                <a:ea typeface="Roboto Mono" panose="00000009000000000000"/>
                <a:cs typeface="Roboto Mono" panose="00000009000000000000"/>
                <a:sym typeface="Roboto Mono" panose="00000009000000000000"/>
              </a:rPr>
              <a:t>title</a:t>
            </a:r>
            <a:r>
              <a:rPr lang="en-US" sz="2100">
                <a:solidFill>
                  <a:schemeClr val="dk1"/>
                </a:solidFill>
              </a:rPr>
              <a:t> memberikan informasi tambahan tentang tautan saat pengguna mengarahkan kursor ke tautan tersebut.</a:t>
            </a:r>
            <a:endParaRPr sz="21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700">
              <a:solidFill>
                <a:srgbClr val="343434"/>
              </a:solidFill>
              <a:latin typeface="DM Sans"/>
              <a:ea typeface="DM Sans"/>
              <a:cs typeface="DM Sans"/>
              <a:sym typeface="DM Sans"/>
            </a:endParaRPr>
          </a:p>
        </p:txBody>
      </p:sp>
      <p:sp>
        <p:nvSpPr>
          <p:cNvPr id="157" name="Google Shape;157;p5"/>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05</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8" name="Google Shape;158;p5"/>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9" name="Google Shape;159;p5"/>
          <p:cNvSpPr txBox="1"/>
          <p:nvPr/>
        </p:nvSpPr>
        <p:spPr>
          <a:xfrm>
            <a:off x="3695075" y="942025"/>
            <a:ext cx="9109200" cy="585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800" b="1">
                <a:solidFill>
                  <a:srgbClr val="343434"/>
                </a:solidFill>
              </a:rPr>
              <a:t>Atribut Tambahan pada Link</a:t>
            </a:r>
            <a:endParaRPr sz="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60" name="Google Shape;160;p5"/>
          <p:cNvPicPr preferRelativeResize="0"/>
          <p:nvPr/>
        </p:nvPicPr>
        <p:blipFill>
          <a:blip r:embed="rId3"/>
          <a:stretch>
            <a:fillRect/>
          </a:stretch>
        </p:blipFill>
        <p:spPr>
          <a:xfrm>
            <a:off x="601750" y="5589550"/>
            <a:ext cx="11772900" cy="1200150"/>
          </a:xfrm>
          <a:prstGeom prst="rect">
            <a:avLst/>
          </a:prstGeom>
          <a:noFill/>
          <a:ln>
            <a:noFill/>
          </a:ln>
        </p:spPr>
      </p:pic>
      <p:pic>
        <p:nvPicPr>
          <p:cNvPr id="161" name="Google Shape;161;p5"/>
          <p:cNvPicPr preferRelativeResize="0"/>
          <p:nvPr/>
        </p:nvPicPr>
        <p:blipFill>
          <a:blip r:embed="rId4"/>
          <a:stretch>
            <a:fillRect/>
          </a:stretch>
        </p:blipFill>
        <p:spPr>
          <a:xfrm>
            <a:off x="677075" y="8524875"/>
            <a:ext cx="11772900" cy="1200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65" name="Shape 165"/>
        <p:cNvGrpSpPr/>
        <p:nvPr/>
      </p:nvGrpSpPr>
      <p:grpSpPr>
        <a:xfrm>
          <a:off x="0" y="0"/>
          <a:ext cx="0" cy="0"/>
          <a:chOff x="0" y="0"/>
          <a:chExt cx="0" cy="0"/>
        </a:xfrm>
      </p:grpSpPr>
      <p:sp>
        <p:nvSpPr>
          <p:cNvPr id="166" name="Google Shape;166;p6"/>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67" name="Google Shape;167;p6"/>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8" name="Google Shape;168;p6"/>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9" name="Google Shape;169;p6"/>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0" name="Google Shape;170;p6"/>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1" name="Google Shape;171;p6"/>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06</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2" name="Google Shape;172;p6"/>
          <p:cNvSpPr txBox="1"/>
          <p:nvPr/>
        </p:nvSpPr>
        <p:spPr>
          <a:xfrm>
            <a:off x="1351349" y="2198650"/>
            <a:ext cx="12568800" cy="16557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Link sering digunakan dalam menu navigasi untuk memudahkan pengguna menjelajahi situs web.</a:t>
            </a:r>
            <a:endParaRPr sz="22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400" b="1">
                <a:solidFill>
                  <a:schemeClr val="dk1"/>
                </a:solidFill>
              </a:rPr>
              <a:t>Contoh Menu Navigasi:</a:t>
            </a:r>
            <a:endParaRPr sz="2400" b="1">
              <a:solidFill>
                <a:schemeClr val="dk1"/>
              </a:solidFill>
            </a:endParaRPr>
          </a:p>
          <a:p>
            <a:pPr marL="0" marR="0" lvl="0" indent="0" algn="ctr" rtl="0">
              <a:lnSpc>
                <a:spcPct val="140000"/>
              </a:lnSpc>
              <a:spcBef>
                <a:spcPts val="1200"/>
              </a:spcBef>
              <a:spcAft>
                <a:spcPts val="0"/>
              </a:spcAft>
              <a:buClr>
                <a:srgbClr val="000000"/>
              </a:buClr>
              <a:buSzPts val="2000"/>
              <a:buFont typeface="Arial" panose="020B0604020202090204"/>
              <a:buNone/>
            </a:pPr>
            <a:endParaRPr sz="3300">
              <a:solidFill>
                <a:schemeClr val="dk1"/>
              </a:solidFill>
            </a:endParaRPr>
          </a:p>
        </p:txBody>
      </p:sp>
      <p:sp>
        <p:nvSpPr>
          <p:cNvPr id="173" name="Google Shape;173;p6"/>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4" name="Google Shape;174;p6"/>
          <p:cNvSpPr/>
          <p:nvPr/>
        </p:nvSpPr>
        <p:spPr>
          <a:xfrm>
            <a:off x="14115554" y="2963602"/>
            <a:ext cx="2882196" cy="3943304"/>
          </a:xfrm>
          <a:custGeom>
            <a:avLst/>
            <a:gdLst/>
            <a:ahLst/>
            <a:cxnLst/>
            <a:rect l="l" t="t" r="r" b="b"/>
            <a:pathLst>
              <a:path w="2882196" h="3943304" extrusionOk="0">
                <a:moveTo>
                  <a:pt x="0" y="0"/>
                </a:moveTo>
                <a:lnTo>
                  <a:pt x="2882196" y="0"/>
                </a:lnTo>
                <a:lnTo>
                  <a:pt x="2882196" y="3943304"/>
                </a:lnTo>
                <a:lnTo>
                  <a:pt x="0" y="3943304"/>
                </a:lnTo>
                <a:lnTo>
                  <a:pt x="0" y="0"/>
                </a:lnTo>
                <a:close/>
              </a:path>
            </a:pathLst>
          </a:custGeom>
          <a:blipFill rotWithShape="1">
            <a:blip r:embed="rId2"/>
            <a:stretch>
              <a:fillRect/>
            </a:stretch>
          </a:blipFill>
          <a:ln>
            <a:noFill/>
          </a:ln>
        </p:spPr>
      </p:sp>
      <p:sp>
        <p:nvSpPr>
          <p:cNvPr id="175" name="Google Shape;175;p6"/>
          <p:cNvSpPr txBox="1"/>
          <p:nvPr/>
        </p:nvSpPr>
        <p:spPr>
          <a:xfrm>
            <a:off x="3695075" y="942025"/>
            <a:ext cx="9109200" cy="585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800" b="1">
                <a:solidFill>
                  <a:srgbClr val="343434"/>
                </a:solidFill>
              </a:rPr>
              <a:t>Menggunakan Link dalam Navigasi</a:t>
            </a:r>
            <a:endParaRPr sz="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76" name="Google Shape;176;p6"/>
          <p:cNvPicPr preferRelativeResize="0"/>
          <p:nvPr/>
        </p:nvPicPr>
        <p:blipFill>
          <a:blip r:embed="rId3"/>
          <a:stretch>
            <a:fillRect/>
          </a:stretch>
        </p:blipFill>
        <p:spPr>
          <a:xfrm>
            <a:off x="1394375" y="3277900"/>
            <a:ext cx="11772900" cy="3314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80" name="Shape 180"/>
        <p:cNvGrpSpPr/>
        <p:nvPr/>
      </p:nvGrpSpPr>
      <p:grpSpPr>
        <a:xfrm>
          <a:off x="0" y="0"/>
          <a:ext cx="0" cy="0"/>
          <a:chOff x="0" y="0"/>
          <a:chExt cx="0" cy="0"/>
        </a:xfrm>
      </p:grpSpPr>
      <p:sp>
        <p:nvSpPr>
          <p:cNvPr id="181" name="Google Shape;181;g33064f6f14d_0_24"/>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82" name="Google Shape;182;g33064f6f14d_0_24"/>
          <p:cNvSpPr txBox="1"/>
          <p:nvPr/>
        </p:nvSpPr>
        <p:spPr>
          <a:xfrm>
            <a:off x="1262026" y="760675"/>
            <a:ext cx="13771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i="0" u="none" strike="noStrike" cap="none">
                <a:solidFill>
                  <a:srgbClr val="343434"/>
                </a:solidFill>
                <a:latin typeface="Arial" panose="020B0604020202090204"/>
                <a:ea typeface="Arial" panose="020B0604020202090204"/>
                <a:cs typeface="Arial" panose="020B0604020202090204"/>
                <a:sym typeface="Arial" panose="020B0604020202090204"/>
              </a:rPr>
              <a:t>Kesimpulan</a:t>
            </a:r>
            <a:endParaRPr sz="6000" b="1" i="0" u="none" strike="noStrike" cap="none">
              <a:solidFill>
                <a:srgbClr val="343434"/>
              </a:solidFill>
              <a:latin typeface="Arial" panose="020B0604020202090204"/>
              <a:ea typeface="Arial" panose="020B0604020202090204"/>
              <a:cs typeface="Arial" panose="020B0604020202090204"/>
              <a:sym typeface="Arial" panose="020B0604020202090204"/>
            </a:endParaRPr>
          </a:p>
        </p:txBody>
      </p:sp>
      <p:sp>
        <p:nvSpPr>
          <p:cNvPr id="183" name="Google Shape;183;g33064f6f14d_0_24"/>
          <p:cNvSpPr txBox="1"/>
          <p:nvPr/>
        </p:nvSpPr>
        <p:spPr>
          <a:xfrm>
            <a:off x="12319860"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4" name="Google Shape;184;g33064f6f14d_0_24"/>
          <p:cNvSpPr txBox="1"/>
          <p:nvPr/>
        </p:nvSpPr>
        <p:spPr>
          <a:xfrm>
            <a:off x="13424041"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5" name="Google Shape;185;g33064f6f14d_0_24"/>
          <p:cNvSpPr txBox="1"/>
          <p:nvPr/>
        </p:nvSpPr>
        <p:spPr>
          <a:xfrm>
            <a:off x="14528628" y="1111629"/>
            <a:ext cx="11058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6" name="Google Shape;186;g33064f6f14d_0_24"/>
          <p:cNvSpPr txBox="1"/>
          <p:nvPr/>
        </p:nvSpPr>
        <p:spPr>
          <a:xfrm>
            <a:off x="15923945" y="1111629"/>
            <a:ext cx="13353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7" name="Google Shape;187;g33064f6f14d_0_24"/>
          <p:cNvSpPr txBox="1"/>
          <p:nvPr/>
        </p:nvSpPr>
        <p:spPr>
          <a:xfrm>
            <a:off x="1662475" y="3202200"/>
            <a:ext cx="13971900" cy="23952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600" b="1">
                <a:solidFill>
                  <a:schemeClr val="dk1"/>
                </a:solidFill>
              </a:rPr>
              <a:t>Link adalah elemen fundamental dalam HTML yang memungkinkan navigasi antar halaman. Dengan memahami cara membuat dan mengelola link, Anda dapat meningkatkan pengalaman pengguna di situs web Anda. Pastikan untuk menggunakan atribut yang tepat untuk mengoptimalkan fungsi dan aksesibilitas link.</a:t>
            </a:r>
            <a:endParaRPr sz="2600" b="1">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2600" b="1">
              <a:solidFill>
                <a:schemeClr val="dk1"/>
              </a:solidFill>
            </a:endParaRPr>
          </a:p>
        </p:txBody>
      </p:sp>
      <p:sp>
        <p:nvSpPr>
          <p:cNvPr id="188" name="Google Shape;188;g33064f6f14d_0_24"/>
          <p:cNvSpPr txBox="1"/>
          <p:nvPr/>
        </p:nvSpPr>
        <p:spPr>
          <a:xfrm>
            <a:off x="16253563" y="8991600"/>
            <a:ext cx="1005600" cy="5541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07</a:t>
            </a:r>
            <a:endParaRPr sz="1500" b="1" i="0" u="none" strike="noStrike" cap="none">
              <a:solidFill>
                <a:srgbClr val="343434"/>
              </a:solidFill>
              <a:latin typeface="DM Sans"/>
              <a:ea typeface="DM Sans"/>
              <a:cs typeface="DM Sans"/>
              <a:sym typeface="DM Sans"/>
            </a:endParaRPr>
          </a:p>
          <a:p>
            <a:pPr marL="0" marR="0" lvl="0" indent="0" algn="r" rtl="0">
              <a:lnSpc>
                <a:spcPct val="140000"/>
              </a:lnSpc>
              <a:spcBef>
                <a:spcPts val="0"/>
              </a:spcBef>
              <a:spcAft>
                <a:spcPts val="0"/>
              </a:spcAft>
              <a:buClr>
                <a:srgbClr val="000000"/>
              </a:buClr>
              <a:buSzPts val="1500"/>
              <a:buFont typeface="Arial" panose="020B0604020202090204"/>
              <a:buNone/>
            </a:pPr>
            <a:endParaRPr sz="1500" b="1" i="0" u="none" strike="noStrike" cap="none">
              <a:solidFill>
                <a:srgbClr val="343434"/>
              </a:solidFill>
              <a:latin typeface="DM Sans"/>
              <a:ea typeface="DM Sans"/>
              <a:cs typeface="DM Sans"/>
              <a:sym typeface="DM Sans"/>
            </a:endParaRPr>
          </a:p>
        </p:txBody>
      </p:sp>
      <p:sp>
        <p:nvSpPr>
          <p:cNvPr id="189" name="Google Shape;189;g33064f6f14d_0_24"/>
          <p:cNvSpPr txBox="1"/>
          <p:nvPr/>
        </p:nvSpPr>
        <p:spPr>
          <a:xfrm>
            <a:off x="85924" y="182065"/>
            <a:ext cx="4479000" cy="277800"/>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93" name="Shape 193"/>
        <p:cNvGrpSpPr/>
        <p:nvPr/>
      </p:nvGrpSpPr>
      <p:grpSpPr>
        <a:xfrm>
          <a:off x="0" y="0"/>
          <a:ext cx="0" cy="0"/>
          <a:chOff x="0" y="0"/>
          <a:chExt cx="0" cy="0"/>
        </a:xfrm>
      </p:grpSpPr>
      <p:sp>
        <p:nvSpPr>
          <p:cNvPr id="194" name="Google Shape;194;p10"/>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95" name="Google Shape;195;p10"/>
          <p:cNvSpPr txBox="1"/>
          <p:nvPr/>
        </p:nvSpPr>
        <p:spPr>
          <a:xfrm>
            <a:off x="933983" y="3152569"/>
            <a:ext cx="16420035" cy="387481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19362"/>
              <a:buFont typeface="Arial" panose="020B0604020202090204"/>
              <a:buNone/>
            </a:pPr>
            <a:r>
              <a:rPr lang="en-US" sz="19360" b="1" i="0" u="none" strike="noStrike" cap="none">
                <a:solidFill>
                  <a:srgbClr val="343434"/>
                </a:solidFill>
                <a:latin typeface="Arial" panose="020B0604020202090204"/>
                <a:ea typeface="Arial" panose="020B0604020202090204"/>
                <a:cs typeface="Arial" panose="020B0604020202090204"/>
                <a:sym typeface="Arial" panose="020B0604020202090204"/>
              </a:rPr>
              <a:t>THANK YOU</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6" name="Google Shape;196;p10"/>
          <p:cNvSpPr/>
          <p:nvPr/>
        </p:nvSpPr>
        <p:spPr>
          <a:xfrm>
            <a:off x="5684547" y="6631976"/>
            <a:ext cx="442897" cy="442897"/>
          </a:xfrm>
          <a:custGeom>
            <a:avLst/>
            <a:gdLst/>
            <a:ahLst/>
            <a:cxnLst/>
            <a:rect l="l" t="t" r="r" b="b"/>
            <a:pathLst>
              <a:path w="442897" h="442897" extrusionOk="0">
                <a:moveTo>
                  <a:pt x="0" y="0"/>
                </a:moveTo>
                <a:lnTo>
                  <a:pt x="442897" y="0"/>
                </a:lnTo>
                <a:lnTo>
                  <a:pt x="442897" y="442897"/>
                </a:lnTo>
                <a:lnTo>
                  <a:pt x="0" y="442897"/>
                </a:lnTo>
                <a:lnTo>
                  <a:pt x="0" y="0"/>
                </a:lnTo>
                <a:close/>
              </a:path>
            </a:pathLst>
          </a:custGeom>
          <a:blipFill rotWithShape="1">
            <a:blip r:embed="rId2"/>
            <a:stretch>
              <a:fillRect/>
            </a:stretch>
          </a:blipFill>
          <a:ln>
            <a:noFill/>
          </a:ln>
        </p:spPr>
      </p:sp>
      <p:sp>
        <p:nvSpPr>
          <p:cNvPr id="197" name="Google Shape;197;p10"/>
          <p:cNvSpPr/>
          <p:nvPr/>
        </p:nvSpPr>
        <p:spPr>
          <a:xfrm rot="-1354446">
            <a:off x="15843106" y="2606653"/>
            <a:ext cx="1497033" cy="2339114"/>
          </a:xfrm>
          <a:custGeom>
            <a:avLst/>
            <a:gdLst/>
            <a:ahLst/>
            <a:cxnLst/>
            <a:rect l="l" t="t" r="r" b="b"/>
            <a:pathLst>
              <a:path w="1497033" h="2339114" extrusionOk="0">
                <a:moveTo>
                  <a:pt x="0" y="0"/>
                </a:moveTo>
                <a:lnTo>
                  <a:pt x="1497033" y="0"/>
                </a:lnTo>
                <a:lnTo>
                  <a:pt x="1497033" y="2339115"/>
                </a:lnTo>
                <a:lnTo>
                  <a:pt x="0" y="2339115"/>
                </a:lnTo>
                <a:lnTo>
                  <a:pt x="0" y="0"/>
                </a:lnTo>
                <a:close/>
              </a:path>
            </a:pathLst>
          </a:custGeom>
          <a:blipFill rotWithShape="1">
            <a:blip r:embed="rId3"/>
            <a:stretch>
              <a:fillRect/>
            </a:stretch>
          </a:blipFill>
          <a:ln>
            <a:noFill/>
          </a:ln>
        </p:spPr>
      </p:sp>
      <p:sp>
        <p:nvSpPr>
          <p:cNvPr id="198" name="Google Shape;198;p10"/>
          <p:cNvSpPr/>
          <p:nvPr/>
        </p:nvSpPr>
        <p:spPr>
          <a:xfrm rot="885027">
            <a:off x="5092713" y="2195823"/>
            <a:ext cx="2206219" cy="1740908"/>
          </a:xfrm>
          <a:custGeom>
            <a:avLst/>
            <a:gdLst/>
            <a:ahLst/>
            <a:cxnLst/>
            <a:rect l="l" t="t" r="r" b="b"/>
            <a:pathLst>
              <a:path w="2206219" h="1740908" extrusionOk="0">
                <a:moveTo>
                  <a:pt x="0" y="0"/>
                </a:moveTo>
                <a:lnTo>
                  <a:pt x="2206220" y="0"/>
                </a:lnTo>
                <a:lnTo>
                  <a:pt x="2206220" y="1740908"/>
                </a:lnTo>
                <a:lnTo>
                  <a:pt x="0" y="1740908"/>
                </a:lnTo>
                <a:lnTo>
                  <a:pt x="0" y="0"/>
                </a:lnTo>
                <a:close/>
              </a:path>
            </a:pathLst>
          </a:custGeom>
          <a:blipFill rotWithShape="1">
            <a:blip r:embed="rId4"/>
            <a:stretch>
              <a:fillRect/>
            </a:stretch>
          </a:blipFill>
          <a:ln>
            <a:noFill/>
          </a:ln>
        </p:spPr>
      </p:sp>
      <p:sp>
        <p:nvSpPr>
          <p:cNvPr id="199" name="Google Shape;199;p10"/>
          <p:cNvSpPr/>
          <p:nvPr/>
        </p:nvSpPr>
        <p:spPr>
          <a:xfrm>
            <a:off x="91839" y="8205407"/>
            <a:ext cx="4202073" cy="2521244"/>
          </a:xfrm>
          <a:custGeom>
            <a:avLst/>
            <a:gdLst/>
            <a:ahLst/>
            <a:cxnLst/>
            <a:rect l="l" t="t" r="r" b="b"/>
            <a:pathLst>
              <a:path w="4202073" h="2521244" extrusionOk="0">
                <a:moveTo>
                  <a:pt x="0" y="0"/>
                </a:moveTo>
                <a:lnTo>
                  <a:pt x="4202074" y="0"/>
                </a:lnTo>
                <a:lnTo>
                  <a:pt x="4202074" y="2521245"/>
                </a:lnTo>
                <a:lnTo>
                  <a:pt x="0" y="2521245"/>
                </a:lnTo>
                <a:lnTo>
                  <a:pt x="0" y="0"/>
                </a:lnTo>
                <a:close/>
              </a:path>
            </a:pathLst>
          </a:custGeom>
          <a:blipFill rotWithShape="1">
            <a:blip r:embed="rId5"/>
            <a:stretch>
              <a:fillRect/>
            </a:stretch>
          </a:blipFill>
          <a:ln>
            <a:noFill/>
          </a:ln>
        </p:spPr>
      </p:sp>
      <p:sp>
        <p:nvSpPr>
          <p:cNvPr id="200" name="Google Shape;200;p10"/>
          <p:cNvSpPr/>
          <p:nvPr/>
        </p:nvSpPr>
        <p:spPr>
          <a:xfrm rot="839221">
            <a:off x="9785300" y="7617346"/>
            <a:ext cx="1170380" cy="2030628"/>
          </a:xfrm>
          <a:custGeom>
            <a:avLst/>
            <a:gdLst/>
            <a:ahLst/>
            <a:cxnLst/>
            <a:rect l="l" t="t" r="r" b="b"/>
            <a:pathLst>
              <a:path w="1170380" h="2030628" extrusionOk="0">
                <a:moveTo>
                  <a:pt x="0" y="0"/>
                </a:moveTo>
                <a:lnTo>
                  <a:pt x="1170381" y="0"/>
                </a:lnTo>
                <a:lnTo>
                  <a:pt x="1170381" y="2030628"/>
                </a:lnTo>
                <a:lnTo>
                  <a:pt x="0" y="2030628"/>
                </a:lnTo>
                <a:lnTo>
                  <a:pt x="0" y="0"/>
                </a:lnTo>
                <a:close/>
              </a:path>
            </a:pathLst>
          </a:custGeom>
          <a:blipFill rotWithShape="1">
            <a:blip r:embed="rId6"/>
            <a:stretch>
              <a:fillRect/>
            </a:stretch>
          </a:blipFill>
          <a:ln>
            <a:noFill/>
          </a:ln>
        </p:spPr>
      </p:sp>
      <p:sp>
        <p:nvSpPr>
          <p:cNvPr id="201" name="Google Shape;201;p10"/>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2" name="Google Shape;202;p10"/>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3" name="Google Shape;203;p10"/>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4" name="Google Shape;204;p10"/>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5" name="Google Shape;205;p10"/>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10</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6" name="Google Shape;206;p10"/>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2465</Words>
  <Application>WPS Presentation</Application>
  <PresentationFormat/>
  <Paragraphs>176</Paragraphs>
  <Slides>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vt:i4>
      </vt:variant>
    </vt:vector>
  </HeadingPairs>
  <TitlesOfParts>
    <vt:vector size="20" baseType="lpstr">
      <vt:lpstr>Arial</vt:lpstr>
      <vt:lpstr>SimSun</vt:lpstr>
      <vt:lpstr>Wingdings</vt:lpstr>
      <vt:lpstr>Arial</vt:lpstr>
      <vt:lpstr>Calibri</vt:lpstr>
      <vt:lpstr>Helvetica Neue</vt:lpstr>
      <vt:lpstr>DM Sans</vt:lpstr>
      <vt:lpstr>Roboto Mono</vt:lpstr>
      <vt:lpstr>Microsoft YaHei</vt:lpstr>
      <vt:lpstr>汉仪旗黑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macbookairm1</cp:lastModifiedBy>
  <cp:revision>1</cp:revision>
  <dcterms:created xsi:type="dcterms:W3CDTF">2025-02-17T08:54:04Z</dcterms:created>
  <dcterms:modified xsi:type="dcterms:W3CDTF">2025-02-17T08:54:04Z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5DDBF08DCAE8FF472CF9B2671B7E55FC_42</vt:lpwstr>
  </property>
  <property fmtid="{D5CDD505-2E9C-101B-9397-08002B2CF9AE}" pid="3" name="KSOProductBuildVer">
    <vt:lpwstr>1033-6.11.0.8603</vt:lpwstr>
  </property>
</Properties>
</file>