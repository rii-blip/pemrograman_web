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8288000" cy="10287000"/>
  <p:notesSz cx="6858000" cy="9144000"/>
  <p:embeddedFontLst>
    <p:embeddedFont>
      <p:font typeface="DM Sans"/>
      <p:regular r:id="rId19"/>
    </p:embeddedFont>
    <p:embeddedFont>
      <p:font typeface="Roboto Mono" panose="0000000900000000000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1" name="Google Shape;101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15" name="Google Shape;115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29" name="Google Shape;129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45" name="Google Shape;14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61" name="Google Shape;161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75" name="Google Shape;175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89" name="Google Shape;189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203" name="Google Shape;203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064f6f14d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218" name="Google Shape;218;g33064f6f14d_0_1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064f6f14d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231" name="Google Shape;231;g33064f6f14d_0_24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244" name="Google Shape;244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722887" y="-4247682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4000"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1218332" y="2731879"/>
            <a:ext cx="3701593" cy="4723610"/>
          </a:xfrm>
          <a:custGeom>
            <a:avLst/>
            <a:gdLst/>
            <a:ahLst/>
            <a:cxnLst/>
            <a:rect l="l" t="t" r="r" b="b"/>
            <a:pathLst>
              <a:path w="3701593" h="4723610" extrusionOk="0">
                <a:moveTo>
                  <a:pt x="0" y="0"/>
                </a:moveTo>
                <a:lnTo>
                  <a:pt x="3701593" y="0"/>
                </a:lnTo>
                <a:lnTo>
                  <a:pt x="3701593" y="4723610"/>
                </a:lnTo>
                <a:lnTo>
                  <a:pt x="0" y="4723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9456031" y="5686468"/>
            <a:ext cx="3718302" cy="2393234"/>
          </a:xfrm>
          <a:custGeom>
            <a:avLst/>
            <a:gdLst/>
            <a:ahLst/>
            <a:cxnLst/>
            <a:rect l="l" t="t" r="r" b="b"/>
            <a:pathLst>
              <a:path w="3718302" h="2393234" extrusionOk="0">
                <a:moveTo>
                  <a:pt x="0" y="0"/>
                </a:moveTo>
                <a:lnTo>
                  <a:pt x="3718301" y="0"/>
                </a:lnTo>
                <a:lnTo>
                  <a:pt x="3718301" y="2393234"/>
                </a:lnTo>
                <a:lnTo>
                  <a:pt x="0" y="23932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4377104" y="3974852"/>
            <a:ext cx="2882196" cy="3943304"/>
          </a:xfrm>
          <a:custGeom>
            <a:avLst/>
            <a:gdLst/>
            <a:ahLst/>
            <a:cxnLst/>
            <a:rect l="l" t="t" r="r" b="b"/>
            <a:pathLst>
              <a:path w="2882196" h="3943304" extrusionOk="0">
                <a:moveTo>
                  <a:pt x="0" y="0"/>
                </a:moveTo>
                <a:lnTo>
                  <a:pt x="2882196" y="0"/>
                </a:lnTo>
                <a:lnTo>
                  <a:pt x="2882196" y="3943304"/>
                </a:lnTo>
                <a:lnTo>
                  <a:pt x="0" y="3943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1028700" y="3098954"/>
            <a:ext cx="9904500" cy="14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13"/>
              <a:buFont typeface="Arial" panose="020B0604020202090204"/>
              <a:buNone/>
            </a:pPr>
            <a:r>
              <a:rPr lang="en-US" sz="9315" b="1" i="0" u="none" strike="noStrike" cap="none">
                <a:solidFill>
                  <a:srgbClr val="34343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PEMROGRAMAN </a:t>
            </a:r>
            <a:endParaRPr sz="5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4620822"/>
            <a:ext cx="8626948" cy="2081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63"/>
              <a:buFont typeface="Arial" panose="020B0604020202090204"/>
              <a:buNone/>
            </a:pPr>
            <a:r>
              <a:rPr lang="en-US" sz="10465" b="0" i="0" u="none" strike="noStrike" cap="none">
                <a:solidFill>
                  <a:srgbClr val="34343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WEB 1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55075" y="589884"/>
            <a:ext cx="4479095" cy="24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 panose="020B0604020202090204"/>
              <a:buNone/>
            </a:pPr>
            <a:r>
              <a:rPr lang="en-US" sz="1805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UNIVERSITAS PAMULANG KOTA SERANG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2319860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3424041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4528628" y="1111629"/>
            <a:ext cx="110573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5923945" y="1111629"/>
            <a:ext cx="133535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55075" y="7364046"/>
            <a:ext cx="7793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9"/>
              <a:buFont typeface="Arial" panose="020B0604020202090204"/>
              <a:buNone/>
            </a:pPr>
            <a:r>
              <a:rPr lang="en-US" sz="3600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#</a:t>
            </a:r>
            <a:r>
              <a:rPr lang="en-US" sz="36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HTML dan Struktur halaman Web.</a:t>
            </a:r>
            <a:endParaRPr sz="36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01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207475" y="6790746"/>
            <a:ext cx="7793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9"/>
              <a:buFont typeface="Arial" panose="020B0604020202090204"/>
              <a:buNone/>
            </a:pPr>
            <a:r>
              <a:rPr lang="en-US" sz="36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Pertemuan #2</a:t>
            </a:r>
            <a:endParaRPr sz="36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4000"/>
            </a:blip>
            <a:stretch>
              <a:fillRect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12051477" y="2039141"/>
            <a:ext cx="5610468" cy="6246472"/>
          </a:xfrm>
          <a:custGeom>
            <a:avLst/>
            <a:gdLst/>
            <a:ahLst/>
            <a:cxnLst/>
            <a:rect l="l" t="t" r="r" b="b"/>
            <a:pathLst>
              <a:path w="5610468" h="6246472" extrusionOk="0">
                <a:moveTo>
                  <a:pt x="0" y="0"/>
                </a:moveTo>
                <a:lnTo>
                  <a:pt x="5610468" y="0"/>
                </a:lnTo>
                <a:lnTo>
                  <a:pt x="5610468" y="6246472"/>
                </a:lnTo>
                <a:lnTo>
                  <a:pt x="0" y="6246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05" name="Google Shape;105;p2"/>
          <p:cNvSpPr txBox="1"/>
          <p:nvPr/>
        </p:nvSpPr>
        <p:spPr>
          <a:xfrm>
            <a:off x="348725" y="865904"/>
            <a:ext cx="7072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90204"/>
              <a:buNone/>
            </a:pPr>
            <a:r>
              <a:rPr lang="en-US" sz="6000" b="1">
                <a:solidFill>
                  <a:srgbClr val="343434"/>
                </a:solidFill>
              </a:rPr>
              <a:t>Pengenalan HTML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2319860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3424041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4528628" y="1111629"/>
            <a:ext cx="110573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5923945" y="1111629"/>
            <a:ext cx="133535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505625" y="2229575"/>
            <a:ext cx="11148000" cy="55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600" b="1">
                <a:solidFill>
                  <a:schemeClr val="dk1"/>
                </a:solidFill>
              </a:rPr>
              <a:t>1.1 Apa itu HTML?</a:t>
            </a:r>
            <a:endParaRPr sz="2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400">
                <a:solidFill>
                  <a:schemeClr val="dk1"/>
                </a:solidFill>
              </a:rPr>
              <a:t>HTML (HyperText Markup Language) adalah bahasa markup standar untuk membuat halaman web. HTML digunakan untuk menentukan struktur konten pada halaman web dengan menggunakan elemen-elemen yang disebut tag.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600" b="1">
                <a:solidFill>
                  <a:schemeClr val="dk1"/>
                </a:solidFill>
              </a:rPr>
              <a:t>1.2 Sejarah Singkat HTML</a:t>
            </a:r>
            <a:endParaRPr sz="2600" b="1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1991: Tim Berners-Lee memperkenalkan HTML pertama kali.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1995: HTML 2.0 dirilis sebagai standar pertama.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1997: HTML 4.0 diperkenalkan dengan fitur baru seperti tabel dan formulir.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2014: HTML5 menjadi standar utama dengan fitur lebih modern seperti elemen video, audio, dan canvas.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90204"/>
              <a:buNone/>
            </a:pPr>
            <a:endParaRPr sz="39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02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85924" y="182065"/>
            <a:ext cx="4479095" cy="24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 panose="020B0604020202090204"/>
              <a:buNone/>
            </a:pPr>
            <a:r>
              <a:rPr lang="en-US" sz="1805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UNIVERSITAS PAMULANG KOTA SERANG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4000"/>
            </a:blip>
            <a:stretch>
              <a:fillRect/>
            </a:stretch>
          </a:blipFill>
          <a:ln>
            <a:noFill/>
          </a:ln>
        </p:spPr>
      </p:sp>
      <p:sp>
        <p:nvSpPr>
          <p:cNvPr id="118" name="Google Shape;118;p3"/>
          <p:cNvSpPr txBox="1"/>
          <p:nvPr/>
        </p:nvSpPr>
        <p:spPr>
          <a:xfrm>
            <a:off x="4189945" y="760675"/>
            <a:ext cx="10843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90204"/>
              <a:buNone/>
            </a:pPr>
            <a:r>
              <a:rPr lang="en-US" sz="6000" b="1">
                <a:solidFill>
                  <a:srgbClr val="343434"/>
                </a:solidFill>
              </a:rPr>
              <a:t>Struktur Dasar HTML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12319860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3424041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4528628" y="1111629"/>
            <a:ext cx="110573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5923945" y="1111629"/>
            <a:ext cx="133535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03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85924" y="182065"/>
            <a:ext cx="4479095" cy="24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 panose="020B0604020202090204"/>
              <a:buNone/>
            </a:pPr>
            <a:r>
              <a:rPr lang="en-US" sz="1805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UNIVERSITAS PAMULANG KOTA SERANG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15250" y="1949375"/>
            <a:ext cx="9210626" cy="535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557950" y="1949375"/>
            <a:ext cx="6876300" cy="7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chemeClr val="dk1"/>
                </a:solidFill>
              </a:rPr>
              <a:t>Penjelasan Struktur:</a:t>
            </a:r>
            <a:endParaRPr sz="30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&lt;!DOCTYPE html&gt;</a:t>
            </a:r>
            <a:r>
              <a:rPr lang="en-US" sz="2800">
                <a:solidFill>
                  <a:schemeClr val="dk1"/>
                </a:solidFill>
              </a:rPr>
              <a:t>: Menentukan bahwa dokumen menggunakan HTML5.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&lt;html&gt;</a:t>
            </a:r>
            <a:r>
              <a:rPr lang="en-US" sz="2800">
                <a:solidFill>
                  <a:schemeClr val="dk1"/>
                </a:solidFill>
              </a:rPr>
              <a:t>: Elemen root yang membungkus semua konten.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&lt;head&gt;</a:t>
            </a:r>
            <a:r>
              <a:rPr lang="en-US" sz="2800">
                <a:solidFill>
                  <a:schemeClr val="dk1"/>
                </a:solidFill>
              </a:rPr>
              <a:t>: Bagian kepala yang berisi metadata seperti judul dan pengaturan karakter.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&lt;title&gt;</a:t>
            </a:r>
            <a:r>
              <a:rPr lang="en-US" sz="2800">
                <a:solidFill>
                  <a:schemeClr val="dk1"/>
                </a:solidFill>
              </a:rPr>
              <a:t>: Menentukan judul halaman yang muncul di tab browser.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&lt;body&gt;</a:t>
            </a:r>
            <a:r>
              <a:rPr lang="en-US" sz="2800">
                <a:solidFill>
                  <a:schemeClr val="dk1"/>
                </a:solidFill>
              </a:rPr>
              <a:t>: Bagian utama yang berisi konten yang ditampilkan di halaman web.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14669258" y="1865429"/>
            <a:ext cx="3102858" cy="5004610"/>
          </a:xfrm>
          <a:custGeom>
            <a:avLst/>
            <a:gdLst/>
            <a:ahLst/>
            <a:cxnLst/>
            <a:rect l="l" t="t" r="r" b="b"/>
            <a:pathLst>
              <a:path w="3102858" h="5004610" extrusionOk="0">
                <a:moveTo>
                  <a:pt x="0" y="0"/>
                </a:moveTo>
                <a:lnTo>
                  <a:pt x="3102858" y="0"/>
                </a:lnTo>
                <a:lnTo>
                  <a:pt x="3102858" y="5004610"/>
                </a:lnTo>
                <a:lnTo>
                  <a:pt x="0" y="5004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32" name="Google Shape;132;p4"/>
          <p:cNvSpPr txBox="1"/>
          <p:nvPr/>
        </p:nvSpPr>
        <p:spPr>
          <a:xfrm>
            <a:off x="3695075" y="942025"/>
            <a:ext cx="9109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90204"/>
              <a:buNone/>
            </a:pPr>
            <a:r>
              <a:rPr lang="en-US" sz="6000" b="1">
                <a:solidFill>
                  <a:srgbClr val="343434"/>
                </a:solidFill>
              </a:rPr>
              <a:t>Elemen-Elemen HTML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2319860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13424041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4528628" y="1111629"/>
            <a:ext cx="110573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5923945" y="1111629"/>
            <a:ext cx="133535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767175" y="2402850"/>
            <a:ext cx="12874200" cy="27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400">
                <a:solidFill>
                  <a:schemeClr val="dk1"/>
                </a:solidFill>
              </a:rPr>
              <a:t>HTML terdiri dari berbagai elemen yang memiliki fungsi masing-masing. Beberapa elemen utama adalah: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600" b="1">
                <a:solidFill>
                  <a:schemeClr val="dk1"/>
                </a:solidFill>
              </a:rPr>
              <a:t>3.1 Elemen Heading</a:t>
            </a:r>
            <a:endParaRPr sz="2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400">
                <a:solidFill>
                  <a:schemeClr val="dk1"/>
                </a:solidFill>
              </a:rPr>
              <a:t>Digunakan untuk membuat judul dengan berbagai tingkat, dari </a:t>
            </a:r>
            <a:r>
              <a:rPr lang="en-US" sz="2400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&lt;h1&gt;</a:t>
            </a:r>
            <a:r>
              <a:rPr lang="en-US" sz="2400">
                <a:solidFill>
                  <a:schemeClr val="dk1"/>
                </a:solidFill>
              </a:rPr>
              <a:t> hingga </a:t>
            </a:r>
            <a:r>
              <a:rPr lang="en-US" sz="2400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&lt;h6&gt;</a:t>
            </a:r>
            <a:r>
              <a:rPr lang="en-US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90204"/>
              <a:buNone/>
            </a:pPr>
            <a:endParaRPr sz="3700" b="1">
              <a:solidFill>
                <a:schemeClr val="dk1"/>
              </a:solidFill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04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85924" y="182065"/>
            <a:ext cx="4479095" cy="24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 panose="020B0604020202090204"/>
              <a:buNone/>
            </a:pPr>
            <a:r>
              <a:rPr lang="en-US" sz="1805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UNIVERSITAS PAMULANG KOTA SERANG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40" name="Google Shape;140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67175" y="4736800"/>
            <a:ext cx="1082040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 txBox="1"/>
          <p:nvPr/>
        </p:nvSpPr>
        <p:spPr>
          <a:xfrm>
            <a:off x="767175" y="6573225"/>
            <a:ext cx="11025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400" b="1">
                <a:solidFill>
                  <a:schemeClr val="dk1"/>
                </a:solidFill>
              </a:rPr>
              <a:t>3.2 Elemen Paragraf dan Format Teks</a:t>
            </a:r>
            <a:endParaRPr sz="2400" b="1">
              <a:solidFill>
                <a:schemeClr val="dk1"/>
              </a:solidFill>
            </a:endParaRPr>
          </a:p>
        </p:txBody>
      </p:sp>
      <p:pic>
        <p:nvPicPr>
          <p:cNvPr id="142" name="Google Shape;142;p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67175" y="7171875"/>
            <a:ext cx="108204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4000"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5"/>
          <p:cNvSpPr/>
          <p:nvPr/>
        </p:nvSpPr>
        <p:spPr>
          <a:xfrm>
            <a:off x="13675814" y="1993414"/>
            <a:ext cx="4355876" cy="6337915"/>
          </a:xfrm>
          <a:custGeom>
            <a:avLst/>
            <a:gdLst/>
            <a:ahLst/>
            <a:cxnLst/>
            <a:rect l="l" t="t" r="r" b="b"/>
            <a:pathLst>
              <a:path w="4355876" h="6337915" extrusionOk="0">
                <a:moveTo>
                  <a:pt x="0" y="0"/>
                </a:moveTo>
                <a:lnTo>
                  <a:pt x="4355877" y="0"/>
                </a:lnTo>
                <a:lnTo>
                  <a:pt x="4355877" y="6337915"/>
                </a:lnTo>
                <a:lnTo>
                  <a:pt x="0" y="63379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49" name="Google Shape;149;p5"/>
          <p:cNvSpPr txBox="1"/>
          <p:nvPr/>
        </p:nvSpPr>
        <p:spPr>
          <a:xfrm>
            <a:off x="12319860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3424041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14528628" y="1111629"/>
            <a:ext cx="110573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15923945" y="1111629"/>
            <a:ext cx="133535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601750" y="2680830"/>
            <a:ext cx="6543900" cy="20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300" b="1">
                <a:solidFill>
                  <a:schemeClr val="dk1"/>
                </a:solidFill>
              </a:rPr>
              <a:t>3.3 Elemen Gambar</a:t>
            </a:r>
            <a:endParaRPr sz="2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100">
                <a:solidFill>
                  <a:schemeClr val="dk1"/>
                </a:solidFill>
              </a:rPr>
              <a:t>Digunakan untuk menampilkan gambar di halaman web.</a:t>
            </a:r>
            <a:endParaRPr sz="21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90204"/>
              <a:buNone/>
            </a:pPr>
            <a:endParaRPr sz="37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05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85924" y="182065"/>
            <a:ext cx="4479095" cy="24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 panose="020B0604020202090204"/>
              <a:buNone/>
            </a:pPr>
            <a:r>
              <a:rPr lang="en-US" sz="1805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UNIVERSITAS PAMULANG KOTA SERANG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56" name="Google Shape;156;p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01750" y="4198100"/>
            <a:ext cx="108204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601750" y="5300425"/>
            <a:ext cx="10820400" cy="16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3.4 Elemen Hyperlink</a:t>
            </a:r>
            <a:endParaRPr sz="2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Digunakan untuk membuat tautan ke halaman lain atau sumber eksternal.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2300">
              <a:solidFill>
                <a:schemeClr val="dk1"/>
              </a:solidFill>
            </a:endParaRPr>
          </a:p>
        </p:txBody>
      </p:sp>
      <p:pic>
        <p:nvPicPr>
          <p:cNvPr id="158" name="Google Shape;158;p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00000" y="6487025"/>
            <a:ext cx="108204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4000"/>
            </a:blip>
            <a:stretch>
              <a:fillRect/>
            </a:stretch>
          </a:blipFill>
          <a:ln>
            <a:noFill/>
          </a:ln>
        </p:spPr>
      </p:sp>
      <p:sp>
        <p:nvSpPr>
          <p:cNvPr id="164" name="Google Shape;164;p6"/>
          <p:cNvSpPr txBox="1"/>
          <p:nvPr/>
        </p:nvSpPr>
        <p:spPr>
          <a:xfrm>
            <a:off x="12319860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13424041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14528628" y="1111629"/>
            <a:ext cx="110573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5923945" y="1111629"/>
            <a:ext cx="133535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06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1368777" y="803825"/>
            <a:ext cx="8715600" cy="56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400" b="1">
                <a:solidFill>
                  <a:schemeClr val="dk1"/>
                </a:solidFill>
              </a:rPr>
              <a:t>3.5 Elemen Daftar</a:t>
            </a:r>
            <a:endParaRPr sz="2400" b="1">
              <a:solidFill>
                <a:schemeClr val="dk1"/>
              </a:solidFill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Daftar tidak berurutan (unordered list)</a:t>
            </a:r>
            <a:endParaRPr sz="22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200">
                <a:solidFill>
                  <a:schemeClr val="dk1"/>
                </a:solidFill>
              </a:rPr>
              <a:t>Daftar berurutan (ordered list)</a:t>
            </a:r>
            <a:endParaRPr sz="22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90204"/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85924" y="182065"/>
            <a:ext cx="4479095" cy="24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 panose="020B0604020202090204"/>
              <a:buNone/>
            </a:pPr>
            <a:r>
              <a:rPr lang="en-US" sz="1805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UNIVERSITAS PAMULANG KOTA SERANG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71" name="Google Shape;171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873350" y="1811200"/>
            <a:ext cx="105918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873350" y="5097500"/>
            <a:ext cx="1059180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4000"/>
            </a:blip>
            <a:stretch>
              <a:fillRect/>
            </a:stretch>
          </a:blipFill>
          <a:ln>
            <a:noFill/>
          </a:ln>
        </p:spPr>
      </p:sp>
      <p:sp>
        <p:nvSpPr>
          <p:cNvPr id="178" name="Google Shape;178;p7"/>
          <p:cNvSpPr/>
          <p:nvPr/>
        </p:nvSpPr>
        <p:spPr>
          <a:xfrm>
            <a:off x="13327633" y="1947506"/>
            <a:ext cx="4652055" cy="6106516"/>
          </a:xfrm>
          <a:custGeom>
            <a:avLst/>
            <a:gdLst/>
            <a:ahLst/>
            <a:cxnLst/>
            <a:rect l="l" t="t" r="r" b="b"/>
            <a:pathLst>
              <a:path w="4652055" h="6106516" extrusionOk="0">
                <a:moveTo>
                  <a:pt x="0" y="0"/>
                </a:moveTo>
                <a:lnTo>
                  <a:pt x="4652055" y="0"/>
                </a:lnTo>
                <a:lnTo>
                  <a:pt x="4652055" y="6106516"/>
                </a:lnTo>
                <a:lnTo>
                  <a:pt x="0" y="6106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79" name="Google Shape;179;p7"/>
          <p:cNvSpPr txBox="1"/>
          <p:nvPr/>
        </p:nvSpPr>
        <p:spPr>
          <a:xfrm>
            <a:off x="12319860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13424041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14528628" y="1111629"/>
            <a:ext cx="110573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15923945" y="1111629"/>
            <a:ext cx="133535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967900" y="934480"/>
            <a:ext cx="6543900" cy="15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200" b="1">
                <a:solidFill>
                  <a:schemeClr val="dk1"/>
                </a:solidFill>
              </a:rPr>
              <a:t>3.6 Elemen Tabel</a:t>
            </a:r>
            <a:endParaRPr sz="2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000">
                <a:solidFill>
                  <a:schemeClr val="dk1"/>
                </a:solidFill>
              </a:rPr>
              <a:t>Digunakan untuk menyajikan data dalam format tabel.</a:t>
            </a:r>
            <a:endParaRPr sz="20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90204"/>
              <a:buNone/>
            </a:pPr>
            <a:endParaRPr sz="3100" b="1">
              <a:solidFill>
                <a:schemeClr val="dk1"/>
              </a:solidFill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07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85924" y="182065"/>
            <a:ext cx="4479095" cy="24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 panose="020B0604020202090204"/>
              <a:buNone/>
            </a:pPr>
            <a:r>
              <a:rPr lang="en-US" sz="1805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UNIVERSITAS PAMULANG KOTA SERANG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186" name="Google Shape;186;p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67900" y="2117450"/>
            <a:ext cx="10591800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4000"/>
            </a:blip>
            <a:stretch>
              <a:fillRect/>
            </a:stretch>
          </a:blipFill>
          <a:ln>
            <a:noFill/>
          </a:ln>
        </p:spPr>
      </p:sp>
      <p:sp>
        <p:nvSpPr>
          <p:cNvPr id="192" name="Google Shape;192;p8"/>
          <p:cNvSpPr/>
          <p:nvPr/>
        </p:nvSpPr>
        <p:spPr>
          <a:xfrm>
            <a:off x="12064459" y="1803314"/>
            <a:ext cx="6034097" cy="6718124"/>
          </a:xfrm>
          <a:custGeom>
            <a:avLst/>
            <a:gdLst/>
            <a:ahLst/>
            <a:cxnLst/>
            <a:rect l="l" t="t" r="r" b="b"/>
            <a:pathLst>
              <a:path w="6034097" h="6718124" extrusionOk="0">
                <a:moveTo>
                  <a:pt x="0" y="0"/>
                </a:moveTo>
                <a:lnTo>
                  <a:pt x="6034097" y="0"/>
                </a:lnTo>
                <a:lnTo>
                  <a:pt x="6034097" y="6718124"/>
                </a:lnTo>
                <a:lnTo>
                  <a:pt x="0" y="67181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93" name="Google Shape;193;p8"/>
          <p:cNvSpPr txBox="1"/>
          <p:nvPr/>
        </p:nvSpPr>
        <p:spPr>
          <a:xfrm>
            <a:off x="12319860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13424041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14528628" y="1111629"/>
            <a:ext cx="110573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15923945" y="1111629"/>
            <a:ext cx="133535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915575" y="882155"/>
            <a:ext cx="6543900" cy="21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200" b="1">
                <a:solidFill>
                  <a:schemeClr val="dk1"/>
                </a:solidFill>
              </a:rPr>
              <a:t>3.7 Elemen Formulir</a:t>
            </a:r>
            <a:endParaRPr sz="2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000">
                <a:solidFill>
                  <a:schemeClr val="dk1"/>
                </a:solidFill>
              </a:rPr>
              <a:t>Digunakan untuk mengumpulkan input dari pengguna.</a:t>
            </a:r>
            <a:endParaRPr sz="20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500" b="1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90204"/>
              <a:buNone/>
            </a:pPr>
            <a:endParaRPr sz="3100" b="0" i="0" u="none" strike="noStrike" cap="none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08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85924" y="182065"/>
            <a:ext cx="4479095" cy="24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 panose="020B0604020202090204"/>
              <a:buNone/>
            </a:pPr>
            <a:r>
              <a:rPr lang="en-US" sz="1805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UNIVERSITAS PAMULANG KOTA SERANG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200" name="Google Shape;200;p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15575" y="1968300"/>
            <a:ext cx="105918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-589635" y="-516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4000"/>
            </a:blip>
            <a:stretch>
              <a:fillRect/>
            </a:stretch>
          </a:blipFill>
          <a:ln>
            <a:noFill/>
          </a:ln>
        </p:spPr>
      </p:sp>
      <p:sp>
        <p:nvSpPr>
          <p:cNvPr id="206" name="Google Shape;206;p9"/>
          <p:cNvSpPr txBox="1"/>
          <p:nvPr/>
        </p:nvSpPr>
        <p:spPr>
          <a:xfrm>
            <a:off x="1028700" y="1111625"/>
            <a:ext cx="12699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90204"/>
              <a:buNone/>
            </a:pPr>
            <a:r>
              <a:rPr lang="en-US" sz="5600" b="1">
                <a:solidFill>
                  <a:srgbClr val="343434"/>
                </a:solidFill>
              </a:rPr>
              <a:t>Struktur Halaman Web yang Baik</a:t>
            </a:r>
            <a:endParaRPr sz="10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12319860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13424041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14528628" y="1111629"/>
            <a:ext cx="110573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15923945" y="1111629"/>
            <a:ext cx="133535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1108250" y="2399050"/>
            <a:ext cx="13509300" cy="13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300">
                <a:solidFill>
                  <a:schemeClr val="dk1"/>
                </a:solidFill>
              </a:rPr>
              <a:t>Sebuah halaman web yang baik memiliki struktur yang rapi dan mudah dipahami. Berikut contoh layout standar:</a:t>
            </a:r>
            <a:endParaRPr sz="23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90204"/>
              <a:buNone/>
            </a:pPr>
            <a:endParaRPr sz="2300">
              <a:solidFill>
                <a:schemeClr val="dk1"/>
              </a:solidFill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09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85924" y="182065"/>
            <a:ext cx="4479095" cy="24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 panose="020B0604020202090204"/>
              <a:buNone/>
            </a:pPr>
            <a:r>
              <a:rPr lang="en-US" sz="1805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UNIVERSITAS PAMULANG KOTA SERANG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214" name="Google Shape;214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108250" y="3155850"/>
            <a:ext cx="9143725" cy="687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0450575" y="3155850"/>
            <a:ext cx="7462451" cy="6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3064f6f14d_0_11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4000"/>
            </a:blip>
            <a:stretch>
              <a:fillRect/>
            </a:stretch>
          </a:blipFill>
          <a:ln>
            <a:noFill/>
          </a:ln>
        </p:spPr>
      </p:sp>
      <p:sp>
        <p:nvSpPr>
          <p:cNvPr id="221" name="Google Shape;221;g33064f6f14d_0_11"/>
          <p:cNvSpPr txBox="1"/>
          <p:nvPr/>
        </p:nvSpPr>
        <p:spPr>
          <a:xfrm>
            <a:off x="1262026" y="760675"/>
            <a:ext cx="1377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90204"/>
              <a:buNone/>
            </a:pPr>
            <a:r>
              <a:rPr lang="en-US" sz="6000" b="1">
                <a:solidFill>
                  <a:srgbClr val="343434"/>
                </a:solidFill>
              </a:rPr>
              <a:t>Struktur Halaman Web yang Baik</a:t>
            </a:r>
            <a:endParaRPr sz="6000" b="1" i="0" u="none" strike="noStrike" cap="none">
              <a:solidFill>
                <a:srgbClr val="34343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2" name="Google Shape;222;g33064f6f14d_0_11"/>
          <p:cNvSpPr txBox="1"/>
          <p:nvPr/>
        </p:nvSpPr>
        <p:spPr>
          <a:xfrm>
            <a:off x="12319860" y="1111629"/>
            <a:ext cx="847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3" name="Google Shape;223;g33064f6f14d_0_11"/>
          <p:cNvSpPr txBox="1"/>
          <p:nvPr/>
        </p:nvSpPr>
        <p:spPr>
          <a:xfrm>
            <a:off x="13424041" y="1111629"/>
            <a:ext cx="847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4" name="Google Shape;224;g33064f6f14d_0_11"/>
          <p:cNvSpPr txBox="1"/>
          <p:nvPr/>
        </p:nvSpPr>
        <p:spPr>
          <a:xfrm>
            <a:off x="14528628" y="1111629"/>
            <a:ext cx="11058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5" name="Google Shape;225;g33064f6f14d_0_11"/>
          <p:cNvSpPr txBox="1"/>
          <p:nvPr/>
        </p:nvSpPr>
        <p:spPr>
          <a:xfrm>
            <a:off x="15923945" y="1111629"/>
            <a:ext cx="13353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6" name="Google Shape;226;g33064f6f14d_0_11"/>
          <p:cNvSpPr txBox="1"/>
          <p:nvPr/>
        </p:nvSpPr>
        <p:spPr>
          <a:xfrm>
            <a:off x="1662475" y="3202200"/>
            <a:ext cx="13971900" cy="39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600" b="1">
                <a:solidFill>
                  <a:schemeClr val="dk1"/>
                </a:solidFill>
              </a:rPr>
              <a:t>Penjelasan Layout:</a:t>
            </a:r>
            <a:endParaRPr sz="2600" b="1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 b="1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&lt;header&gt;</a:t>
            </a:r>
            <a:r>
              <a:rPr lang="en-US" sz="2400">
                <a:solidFill>
                  <a:schemeClr val="dk1"/>
                </a:solidFill>
              </a:rPr>
              <a:t>: Berisi judul situs dan navigasi.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 b="1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&lt;nav&gt;</a:t>
            </a:r>
            <a:r>
              <a:rPr lang="en-US" sz="2400">
                <a:solidFill>
                  <a:schemeClr val="dk1"/>
                </a:solidFill>
              </a:rPr>
              <a:t>: Menu navigasi untuk berpindah antar halaman.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 b="1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&lt;main&gt;</a:t>
            </a:r>
            <a:r>
              <a:rPr lang="en-US" sz="2400">
                <a:solidFill>
                  <a:schemeClr val="dk1"/>
                </a:solidFill>
              </a:rPr>
              <a:t>: Konten utama dari halaman web.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 b="1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&lt;article&gt;</a:t>
            </a:r>
            <a:r>
              <a:rPr lang="en-US" sz="2400">
                <a:solidFill>
                  <a:schemeClr val="dk1"/>
                </a:solidFill>
              </a:rPr>
              <a:t>: Digunakan untuk menampilkan artikel atau informasi utama.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 b="1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&lt;aside&gt;</a:t>
            </a:r>
            <a:r>
              <a:rPr lang="en-US" sz="2400">
                <a:solidFill>
                  <a:schemeClr val="dk1"/>
                </a:solidFill>
              </a:rPr>
              <a:t>: Bagian samping untuk informasi tambahan.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 b="1">
                <a:solidFill>
                  <a:srgbClr val="188038"/>
                </a:solidFill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&lt;footer&gt;</a:t>
            </a:r>
            <a:r>
              <a:rPr lang="en-US" sz="2400">
                <a:solidFill>
                  <a:schemeClr val="dk1"/>
                </a:solidFill>
              </a:rPr>
              <a:t>: Bagian bawah untuk informasi hak cipta atau kontak.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90204"/>
              <a:buNone/>
            </a:pPr>
            <a:endParaRPr sz="3900" b="1">
              <a:solidFill>
                <a:schemeClr val="dk1"/>
              </a:solidFill>
            </a:endParaRPr>
          </a:p>
        </p:txBody>
      </p:sp>
      <p:sp>
        <p:nvSpPr>
          <p:cNvPr id="227" name="Google Shape;227;g33064f6f14d_0_11"/>
          <p:cNvSpPr txBox="1"/>
          <p:nvPr/>
        </p:nvSpPr>
        <p:spPr>
          <a:xfrm>
            <a:off x="16253563" y="8991600"/>
            <a:ext cx="1005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03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8" name="Google Shape;228;g33064f6f14d_0_11"/>
          <p:cNvSpPr txBox="1"/>
          <p:nvPr/>
        </p:nvSpPr>
        <p:spPr>
          <a:xfrm>
            <a:off x="85924" y="182065"/>
            <a:ext cx="44790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 panose="020B0604020202090204"/>
              <a:buNone/>
            </a:pPr>
            <a:r>
              <a:rPr lang="en-US" sz="1805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UNIVERSITAS PAMULANG KOTA SERANG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3064f6f14d_0_24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4000"/>
            </a:blip>
            <a:stretch>
              <a:fillRect/>
            </a:stretch>
          </a:blipFill>
          <a:ln>
            <a:noFill/>
          </a:ln>
        </p:spPr>
      </p:sp>
      <p:sp>
        <p:nvSpPr>
          <p:cNvPr id="234" name="Google Shape;234;g33064f6f14d_0_24"/>
          <p:cNvSpPr txBox="1"/>
          <p:nvPr/>
        </p:nvSpPr>
        <p:spPr>
          <a:xfrm>
            <a:off x="1262026" y="760675"/>
            <a:ext cx="1377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90204"/>
              <a:buNone/>
            </a:pPr>
            <a:r>
              <a:rPr lang="en-US" sz="6000" b="1" i="0" u="none" strike="noStrike" cap="none">
                <a:solidFill>
                  <a:srgbClr val="34343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Kesimpulan</a:t>
            </a:r>
            <a:endParaRPr sz="6000" b="1" i="0" u="none" strike="noStrike" cap="none">
              <a:solidFill>
                <a:srgbClr val="34343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5" name="Google Shape;235;g33064f6f14d_0_24"/>
          <p:cNvSpPr txBox="1"/>
          <p:nvPr/>
        </p:nvSpPr>
        <p:spPr>
          <a:xfrm>
            <a:off x="12319860" y="1111629"/>
            <a:ext cx="847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6" name="Google Shape;236;g33064f6f14d_0_24"/>
          <p:cNvSpPr txBox="1"/>
          <p:nvPr/>
        </p:nvSpPr>
        <p:spPr>
          <a:xfrm>
            <a:off x="13424041" y="1111629"/>
            <a:ext cx="8475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7" name="Google Shape;237;g33064f6f14d_0_24"/>
          <p:cNvSpPr txBox="1"/>
          <p:nvPr/>
        </p:nvSpPr>
        <p:spPr>
          <a:xfrm>
            <a:off x="14528628" y="1111629"/>
            <a:ext cx="11058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8" name="Google Shape;238;g33064f6f14d_0_24"/>
          <p:cNvSpPr txBox="1"/>
          <p:nvPr/>
        </p:nvSpPr>
        <p:spPr>
          <a:xfrm>
            <a:off x="15923945" y="1111629"/>
            <a:ext cx="13353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39" name="Google Shape;239;g33064f6f14d_0_24"/>
          <p:cNvSpPr txBox="1"/>
          <p:nvPr/>
        </p:nvSpPr>
        <p:spPr>
          <a:xfrm>
            <a:off x="1662475" y="3202200"/>
            <a:ext cx="13971900" cy="30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600" b="1">
                <a:solidFill>
                  <a:schemeClr val="dk1"/>
                </a:solidFill>
              </a:rPr>
              <a:t>HTML adalah fondasi utama dalam pembuatan halaman web. Dengan memahami elemen-elemen HTML serta struktur halaman yang baik, kita dapat membuat situs web yang rapi dan mudah diakses.</a:t>
            </a:r>
            <a:endParaRPr sz="2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600" b="1">
                <a:solidFill>
                  <a:schemeClr val="dk1"/>
                </a:solidFill>
              </a:rPr>
              <a:t>Langkah berikutnya dalam pemrograman web adalah mempelajari CSS untuk mengatur tampilan halaman web dan JavaScript untuk menambahkan interaktivitas.</a:t>
            </a:r>
            <a:endParaRPr sz="2600" b="1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90204"/>
              <a:buNone/>
            </a:pPr>
            <a:endParaRPr sz="2600" b="1">
              <a:solidFill>
                <a:schemeClr val="dk1"/>
              </a:solidFill>
            </a:endParaRPr>
          </a:p>
        </p:txBody>
      </p:sp>
      <p:sp>
        <p:nvSpPr>
          <p:cNvPr id="240" name="Google Shape;240;g33064f6f14d_0_24"/>
          <p:cNvSpPr txBox="1"/>
          <p:nvPr/>
        </p:nvSpPr>
        <p:spPr>
          <a:xfrm>
            <a:off x="16253563" y="8991600"/>
            <a:ext cx="1005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03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41" name="Google Shape;241;g33064f6f14d_0_24"/>
          <p:cNvSpPr txBox="1"/>
          <p:nvPr/>
        </p:nvSpPr>
        <p:spPr>
          <a:xfrm>
            <a:off x="85924" y="182065"/>
            <a:ext cx="44790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 panose="020B0604020202090204"/>
              <a:buNone/>
            </a:pPr>
            <a:r>
              <a:rPr lang="en-US" sz="1805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UNIVERSITAS PAMULANG KOTA SERANG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/>
          <p:nvPr/>
        </p:nvSpPr>
        <p:spPr>
          <a:xfrm>
            <a:off x="-485035" y="-448553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 extrusionOk="0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4000"/>
            </a:blip>
            <a:stretch>
              <a:fillRect/>
            </a:stretch>
          </a:blipFill>
          <a:ln>
            <a:noFill/>
          </a:ln>
        </p:spPr>
      </p:sp>
      <p:sp>
        <p:nvSpPr>
          <p:cNvPr id="247" name="Google Shape;247;p10"/>
          <p:cNvSpPr txBox="1"/>
          <p:nvPr/>
        </p:nvSpPr>
        <p:spPr>
          <a:xfrm>
            <a:off x="933983" y="3152569"/>
            <a:ext cx="16420035" cy="3874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62"/>
              <a:buFont typeface="Arial" panose="020B0604020202090204"/>
              <a:buNone/>
            </a:pPr>
            <a:r>
              <a:rPr lang="en-US" sz="19360" b="1" i="0" u="none" strike="noStrike" cap="none">
                <a:solidFill>
                  <a:srgbClr val="34343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684547" y="6631976"/>
            <a:ext cx="442897" cy="442897"/>
          </a:xfrm>
          <a:custGeom>
            <a:avLst/>
            <a:gdLst/>
            <a:ahLst/>
            <a:cxnLst/>
            <a:rect l="l" t="t" r="r" b="b"/>
            <a:pathLst>
              <a:path w="442897" h="442897" extrusionOk="0">
                <a:moveTo>
                  <a:pt x="0" y="0"/>
                </a:moveTo>
                <a:lnTo>
                  <a:pt x="442897" y="0"/>
                </a:lnTo>
                <a:lnTo>
                  <a:pt x="442897" y="442897"/>
                </a:lnTo>
                <a:lnTo>
                  <a:pt x="0" y="442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249" name="Google Shape;249;p10"/>
          <p:cNvSpPr/>
          <p:nvPr/>
        </p:nvSpPr>
        <p:spPr>
          <a:xfrm rot="-1354446">
            <a:off x="15843106" y="2606653"/>
            <a:ext cx="1497033" cy="2339114"/>
          </a:xfrm>
          <a:custGeom>
            <a:avLst/>
            <a:gdLst/>
            <a:ahLst/>
            <a:cxnLst/>
            <a:rect l="l" t="t" r="r" b="b"/>
            <a:pathLst>
              <a:path w="1497033" h="2339114" extrusionOk="0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250" name="Google Shape;250;p10"/>
          <p:cNvSpPr/>
          <p:nvPr/>
        </p:nvSpPr>
        <p:spPr>
          <a:xfrm rot="885027">
            <a:off x="5092713" y="2195823"/>
            <a:ext cx="2206219" cy="1740908"/>
          </a:xfrm>
          <a:custGeom>
            <a:avLst/>
            <a:gdLst/>
            <a:ahLst/>
            <a:cxnLst/>
            <a:rect l="l" t="t" r="r" b="b"/>
            <a:pathLst>
              <a:path w="2206219" h="1740908" extrusionOk="0">
                <a:moveTo>
                  <a:pt x="0" y="0"/>
                </a:moveTo>
                <a:lnTo>
                  <a:pt x="2206220" y="0"/>
                </a:lnTo>
                <a:lnTo>
                  <a:pt x="2206220" y="1740908"/>
                </a:lnTo>
                <a:lnTo>
                  <a:pt x="0" y="1740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251" name="Google Shape;251;p10"/>
          <p:cNvSpPr/>
          <p:nvPr/>
        </p:nvSpPr>
        <p:spPr>
          <a:xfrm>
            <a:off x="91839" y="8205407"/>
            <a:ext cx="4202073" cy="2521244"/>
          </a:xfrm>
          <a:custGeom>
            <a:avLst/>
            <a:gdLst/>
            <a:ahLst/>
            <a:cxnLst/>
            <a:rect l="l" t="t" r="r" b="b"/>
            <a:pathLst>
              <a:path w="4202073" h="2521244" extrusionOk="0">
                <a:moveTo>
                  <a:pt x="0" y="0"/>
                </a:moveTo>
                <a:lnTo>
                  <a:pt x="4202074" y="0"/>
                </a:lnTo>
                <a:lnTo>
                  <a:pt x="4202074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252" name="Google Shape;252;p10"/>
          <p:cNvSpPr/>
          <p:nvPr/>
        </p:nvSpPr>
        <p:spPr>
          <a:xfrm rot="839221">
            <a:off x="9785300" y="7617346"/>
            <a:ext cx="1170380" cy="2030628"/>
          </a:xfrm>
          <a:custGeom>
            <a:avLst/>
            <a:gdLst/>
            <a:ahLst/>
            <a:cxnLst/>
            <a:rect l="l" t="t" r="r" b="b"/>
            <a:pathLst>
              <a:path w="1170380" h="2030628" extrusionOk="0">
                <a:moveTo>
                  <a:pt x="0" y="0"/>
                </a:moveTo>
                <a:lnTo>
                  <a:pt x="1170381" y="0"/>
                </a:lnTo>
                <a:lnTo>
                  <a:pt x="1170381" y="2030628"/>
                </a:lnTo>
                <a:lnTo>
                  <a:pt x="0" y="2030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253" name="Google Shape;253;p10"/>
          <p:cNvSpPr txBox="1"/>
          <p:nvPr/>
        </p:nvSpPr>
        <p:spPr>
          <a:xfrm>
            <a:off x="12319860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HOME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13424041" y="1111629"/>
            <a:ext cx="847412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14528628" y="1111629"/>
            <a:ext cx="110573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ABOUT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15923945" y="1111629"/>
            <a:ext cx="1335355" cy="2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3"/>
              <a:buFont typeface="Arial" panose="020B0604020202090204"/>
              <a:buNone/>
            </a:pPr>
            <a:r>
              <a:rPr lang="en-US" sz="1455" b="0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CONTACT US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90204"/>
              <a:buNone/>
            </a:pPr>
            <a:r>
              <a:rPr lang="en-US" sz="1500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10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85924" y="182065"/>
            <a:ext cx="4479095" cy="24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4"/>
              <a:buFont typeface="Arial" panose="020B0604020202090204"/>
              <a:buNone/>
            </a:pPr>
            <a:r>
              <a:rPr lang="en-US" sz="1805" b="1" i="0" u="none" strike="noStrike" cap="non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UNIVERSITAS PAMULANG KOTA SERANG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3241</Words>
  <Application>WPS Presentation</Application>
  <PresentationFormat/>
  <Paragraphs>234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Helvetica Neue</vt:lpstr>
      <vt:lpstr>DM Sans</vt:lpstr>
      <vt:lpstr>Roboto Mono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macbookairm1</cp:lastModifiedBy>
  <cp:revision>1</cp:revision>
  <dcterms:created xsi:type="dcterms:W3CDTF">2025-02-17T08:53:43Z</dcterms:created>
  <dcterms:modified xsi:type="dcterms:W3CDTF">2025-02-17T08:53:43Z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CC2D12F3899A32A417F9B2672748C4CE_42</vt:lpwstr>
  </property>
  <property fmtid="{D5CDD505-2E9C-101B-9397-08002B2CF9AE}" pid="3" name="KSOProductBuildVer">
    <vt:lpwstr>1033-6.11.0.8603</vt:lpwstr>
  </property>
</Properties>
</file>