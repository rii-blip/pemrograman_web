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8288000" cy="10287000"/>
  <p:notesSz cx="6858000" cy="9144000"/>
  <p:embeddedFontLst>
    <p:embeddedFont>
      <p:font typeface="DM Sans"/>
      <p:regular r:id="rId15"/>
    </p:embeddedFont>
    <p:embeddedFont>
      <p:font typeface="Roboto Mono" panose="0000000900000000000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5" name="Google Shape;115;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1" name="Google Shape;131;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5" name="Google Shape;145;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0" name="Google Shape;160;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4" name="Google Shape;174;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7" name="Google Shape;18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 Foto dan Video pada Halaman Web</a:t>
            </a:r>
            <a:endParaRPr sz="3600" b="0" i="0" u="none" strike="noStrike" cap="none">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a:t>
            </a:r>
            <a:r>
              <a:rPr lang="en-US" sz="3600">
                <a:solidFill>
                  <a:srgbClr val="343434"/>
                </a:solidFill>
                <a:latin typeface="DM Sans"/>
                <a:ea typeface="DM Sans"/>
                <a:cs typeface="DM Sans"/>
                <a:sym typeface="DM Sans"/>
              </a:rPr>
              <a:t>7</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4"/>
            <a:ext cx="7072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 Pendahuluan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64263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Tabel adalah salah satu elemen penting dalam HTML yang digunakan untuk menyajikan data dalam format yang terstruktur. Tabel memungkinkan kita untuk menampilkan informasi dalam baris dan kolom, sehingga memudahkan pembaca untuk memahami data yang disajikan. Dalam materi ini, kita akan membahas cara membuat tabel, mengatur elemen tabel, dan beberapa atribut yang dapat digunakan untuk mempercantik tampilan tabel.</a:t>
            </a:r>
            <a:endParaRPr sz="2200">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en-US" sz="2800" b="1">
                <a:solidFill>
                  <a:schemeClr val="dk1"/>
                </a:solidFill>
              </a:rPr>
              <a:t>Struktur Dasar Tabel</a:t>
            </a:r>
            <a:endParaRPr sz="28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Struktur dasar tabel dalam HTML terdiri dari beberapa elemen utama:</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&lt;table&gt;</a:t>
            </a:r>
            <a:r>
              <a:rPr lang="en-US" sz="2200">
                <a:solidFill>
                  <a:schemeClr val="dk1"/>
                </a:solidFill>
              </a:rPr>
              <a:t>: Elemen ini digunakan untuk mendefinisikan tabel.</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&lt;tr&gt;</a:t>
            </a:r>
            <a:r>
              <a:rPr lang="en-US" sz="2200">
                <a:solidFill>
                  <a:schemeClr val="dk1"/>
                </a:solidFill>
              </a:rPr>
              <a:t>: Elemen ini digunakan untuk mendefinisikan baris dalam tabel.</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&lt;th&gt;</a:t>
            </a:r>
            <a:r>
              <a:rPr lang="en-US" sz="2200">
                <a:solidFill>
                  <a:schemeClr val="dk1"/>
                </a:solidFill>
              </a:rPr>
              <a:t>: Elemen ini digunakan untuk mendefinisikan sel header dalam tabel.</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&lt;td&gt;</a:t>
            </a:r>
            <a:r>
              <a:rPr lang="en-US" sz="2200">
                <a:solidFill>
                  <a:schemeClr val="dk1"/>
                </a:solidFill>
              </a:rPr>
              <a:t>: Elemen ini digunakan untuk mendefinisikan sel data dalam tabel.</a:t>
            </a:r>
            <a:endParaRPr sz="2200">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6200">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6" name="Shape 116"/>
        <p:cNvGrpSpPr/>
        <p:nvPr/>
      </p:nvGrpSpPr>
      <p:grpSpPr>
        <a:xfrm>
          <a:off x="0" y="0"/>
          <a:ext cx="0" cy="0"/>
          <a:chOff x="0" y="0"/>
          <a:chExt cx="0" cy="0"/>
        </a:xfrm>
      </p:grpSpPr>
      <p:sp>
        <p:nvSpPr>
          <p:cNvPr id="117" name="Google Shape;117;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18" name="Google Shape;118;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9" name="Google Shape;119;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0" name="Google Shape;120;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488200" y="2169000"/>
            <a:ext cx="11505000" cy="726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b="1">
                <a:solidFill>
                  <a:schemeClr val="dk1"/>
                </a:solidFill>
              </a:rPr>
              <a:t>Berikut adalah contoh sederhana dari tabel dalam HTML:</a:t>
            </a:r>
            <a:endParaRPr sz="2200" b="1">
              <a:solidFill>
                <a:schemeClr val="dk1"/>
              </a:solidFill>
            </a:endParaRPr>
          </a:p>
          <a:p>
            <a:pPr marL="0" marR="0" lvl="0" indent="0" algn="l" rtl="0">
              <a:lnSpc>
                <a:spcPct val="115000"/>
              </a:lnSpc>
              <a:spcBef>
                <a:spcPts val="1400"/>
              </a:spcBef>
              <a:spcAft>
                <a:spcPts val="0"/>
              </a:spcAft>
              <a:buClr>
                <a:schemeClr val="dk1"/>
              </a:buClr>
              <a:buSzPts val="1100"/>
              <a:buFont typeface="Arial" panose="020B0604020202090204"/>
              <a:buNone/>
            </a:pPr>
            <a:endParaRPr sz="2200" b="1">
              <a:solidFill>
                <a:schemeClr val="dk1"/>
              </a:solidFill>
            </a:endParaRPr>
          </a:p>
          <a:p>
            <a:pPr marL="0" marR="0" lvl="0" indent="0" algn="l" rtl="0">
              <a:lnSpc>
                <a:spcPct val="115000"/>
              </a:lnSpc>
              <a:spcBef>
                <a:spcPts val="1200"/>
              </a:spcBef>
              <a:spcAft>
                <a:spcPts val="0"/>
              </a:spcAft>
              <a:buClr>
                <a:schemeClr val="dk1"/>
              </a:buClr>
              <a:buSzPts val="1100"/>
              <a:buFont typeface="Arial" panose="020B0604020202090204"/>
              <a:buNone/>
            </a:pP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rgbClr val="000000"/>
              </a:buClr>
              <a:buSzPts val="22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200"/>
              </a:spcBef>
              <a:spcAft>
                <a:spcPts val="0"/>
              </a:spcAft>
              <a:buClr>
                <a:schemeClr val="dk1"/>
              </a:buClr>
              <a:buSzPts val="1100"/>
              <a:buFont typeface="Arial" panose="020B0604020202090204"/>
              <a:buNone/>
            </a:pPr>
            <a:endParaRPr sz="2200" b="1"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200"/>
              </a:spcBef>
              <a:spcAft>
                <a:spcPts val="0"/>
              </a:spcAft>
              <a:buClr>
                <a:srgbClr val="000000"/>
              </a:buClr>
              <a:buSzPts val="4100"/>
              <a:buFont typeface="Arial" panose="020B0604020202090204"/>
              <a:buNone/>
            </a:pPr>
            <a:endParaRPr sz="41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25" name="Google Shape;125;p3"/>
          <p:cNvSpPr/>
          <p:nvPr/>
        </p:nvSpPr>
        <p:spPr>
          <a:xfrm>
            <a:off x="14008032" y="2976004"/>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126" name="Google Shape;126;p3"/>
          <p:cNvSpPr/>
          <p:nvPr/>
        </p:nvSpPr>
        <p:spPr>
          <a:xfrm>
            <a:off x="12245731" y="5930593"/>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127" name="Google Shape;127;p3"/>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a:t>Contoh Struktur Tabel</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28" name="Google Shape;128;p3"/>
          <p:cNvPicPr preferRelativeResize="0"/>
          <p:nvPr/>
        </p:nvPicPr>
        <p:blipFill>
          <a:blip r:embed="rId4"/>
          <a:stretch>
            <a:fillRect/>
          </a:stretch>
        </p:blipFill>
        <p:spPr>
          <a:xfrm>
            <a:off x="680300" y="2770825"/>
            <a:ext cx="11043101" cy="72687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2" name="Shape 132"/>
        <p:cNvGrpSpPr/>
        <p:nvPr/>
      </p:nvGrpSpPr>
      <p:grpSpPr>
        <a:xfrm>
          <a:off x="0" y="0"/>
          <a:ext cx="0" cy="0"/>
          <a:chOff x="0" y="0"/>
          <a:chExt cx="0" cy="0"/>
        </a:xfrm>
      </p:grpSpPr>
      <p:sp>
        <p:nvSpPr>
          <p:cNvPr id="133" name="Google Shape;133;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4" name="Google Shape;134;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5" name="Google Shape;135;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6" name="Google Shape;136;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8" name="Google Shape;138;p4"/>
          <p:cNvSpPr txBox="1"/>
          <p:nvPr/>
        </p:nvSpPr>
        <p:spPr>
          <a:xfrm>
            <a:off x="749725" y="1984400"/>
            <a:ext cx="12874200" cy="3587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1. Menambahkan Atribut</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Anda dapat menambahkan beberapa atribut pada elemen tabel untuk mengatur tampilannya, seperti:</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border</a:t>
            </a:r>
            <a:r>
              <a:rPr lang="en-US" sz="2200">
                <a:solidFill>
                  <a:schemeClr val="dk1"/>
                </a:solidFill>
              </a:rPr>
              <a:t>: Menentukan apakah tabel memiliki batas.</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cellpadding</a:t>
            </a:r>
            <a:r>
              <a:rPr lang="en-US" sz="2200">
                <a:solidFill>
                  <a:schemeClr val="dk1"/>
                </a:solidFill>
              </a:rPr>
              <a:t>: Menentukan jarak antara isi sel dan batas sel.</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cellspacing</a:t>
            </a:r>
            <a:r>
              <a:rPr lang="en-US" sz="2200">
                <a:solidFill>
                  <a:schemeClr val="dk1"/>
                </a:solidFill>
              </a:rPr>
              <a:t>: Menentukan jarak antara sel-sel dalam tabel.</a:t>
            </a: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Contoh Penggunaan Atribut</a:t>
            </a:r>
            <a:endParaRPr sz="2400" b="1">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500" b="1">
              <a:solidFill>
                <a:schemeClr val="dk1"/>
              </a:solidFill>
            </a:endParaRPr>
          </a:p>
        </p:txBody>
      </p:sp>
      <p:sp>
        <p:nvSpPr>
          <p:cNvPr id="139" name="Google Shape;139;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0" name="Google Shape;140;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1" name="Google Shape;141;p4"/>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a:t>Mengatur Tabel</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42" name="Google Shape;142;p4"/>
          <p:cNvPicPr preferRelativeResize="0"/>
          <p:nvPr/>
        </p:nvPicPr>
        <p:blipFill>
          <a:blip r:embed="rId2"/>
          <a:stretch>
            <a:fillRect/>
          </a:stretch>
        </p:blipFill>
        <p:spPr>
          <a:xfrm>
            <a:off x="867275" y="4974475"/>
            <a:ext cx="8502325" cy="52039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6" name="Shape 146"/>
        <p:cNvGrpSpPr/>
        <p:nvPr/>
      </p:nvGrpSpPr>
      <p:grpSpPr>
        <a:xfrm>
          <a:off x="0" y="0"/>
          <a:ext cx="0" cy="0"/>
          <a:chOff x="0" y="0"/>
          <a:chExt cx="0" cy="0"/>
        </a:xfrm>
      </p:grpSpPr>
      <p:sp>
        <p:nvSpPr>
          <p:cNvPr id="147" name="Google Shape;147;p5"/>
          <p:cNvSpPr/>
          <p:nvPr/>
        </p:nvSpPr>
        <p:spPr>
          <a:xfrm>
            <a:off x="-4088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48" name="Google Shape;148;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9" name="Google Shape;149;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0" name="Google Shape;150;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1" name="Google Shape;151;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2" name="Google Shape;152;p5"/>
          <p:cNvSpPr txBox="1"/>
          <p:nvPr/>
        </p:nvSpPr>
        <p:spPr>
          <a:xfrm>
            <a:off x="601750" y="1780625"/>
            <a:ext cx="12202500" cy="13986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400">
                <a:solidFill>
                  <a:schemeClr val="dk1"/>
                </a:solidFill>
              </a:rPr>
              <a:t>Anda juga dapat menggunakan CSS untuk mempercantik tampilan tabel. Berikut adalah contoh penggunaan CSS untuk mengatur tabel:</a:t>
            </a:r>
            <a:endParaRPr sz="2400">
              <a:solidFill>
                <a:schemeClr val="dk1"/>
              </a:solidFill>
            </a:endParaRPr>
          </a:p>
          <a:p>
            <a:pPr marL="0" marR="0" lvl="0" indent="0" algn="l" rtl="0">
              <a:lnSpc>
                <a:spcPct val="115000"/>
              </a:lnSpc>
              <a:spcBef>
                <a:spcPts val="1400"/>
              </a:spcBef>
              <a:spcAft>
                <a:spcPts val="400"/>
              </a:spcAft>
              <a:buClr>
                <a:schemeClr val="dk1"/>
              </a:buClr>
              <a:buSzPts val="1100"/>
              <a:buFont typeface="Arial" panose="020B0604020202090204"/>
              <a:buNone/>
            </a:pPr>
            <a:endParaRPr sz="2400" b="1">
              <a:solidFill>
                <a:schemeClr val="dk1"/>
              </a:solidFill>
            </a:endParaRPr>
          </a:p>
        </p:txBody>
      </p:sp>
      <p:sp>
        <p:nvSpPr>
          <p:cNvPr id="153" name="Google Shape;153;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4" name="Google Shape;154;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5" name="Google Shape;155;p5"/>
          <p:cNvSpPr txBox="1"/>
          <p:nvPr/>
        </p:nvSpPr>
        <p:spPr>
          <a:xfrm>
            <a:off x="3886000" y="999192"/>
            <a:ext cx="7072500" cy="523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400" b="1"/>
              <a:t>Menggunakan CSS untuk Styling</a:t>
            </a:r>
            <a:endParaRPr sz="3400" b="1"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56" name="Google Shape;156;p5"/>
          <p:cNvPicPr preferRelativeResize="0"/>
          <p:nvPr/>
        </p:nvPicPr>
        <p:blipFill>
          <a:blip r:embed="rId2"/>
          <a:stretch>
            <a:fillRect/>
          </a:stretch>
        </p:blipFill>
        <p:spPr>
          <a:xfrm>
            <a:off x="561975" y="2759175"/>
            <a:ext cx="8020050" cy="7303675"/>
          </a:xfrm>
          <a:prstGeom prst="rect">
            <a:avLst/>
          </a:prstGeom>
          <a:noFill/>
          <a:ln>
            <a:noFill/>
          </a:ln>
        </p:spPr>
      </p:pic>
      <p:pic>
        <p:nvPicPr>
          <p:cNvPr id="157" name="Google Shape;157;p5"/>
          <p:cNvPicPr preferRelativeResize="0"/>
          <p:nvPr/>
        </p:nvPicPr>
        <p:blipFill>
          <a:blip r:embed="rId3"/>
          <a:stretch>
            <a:fillRect/>
          </a:stretch>
        </p:blipFill>
        <p:spPr>
          <a:xfrm>
            <a:off x="9401700" y="2759175"/>
            <a:ext cx="8020050" cy="7216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61" name="Shape 161"/>
        <p:cNvGrpSpPr/>
        <p:nvPr/>
      </p:nvGrpSpPr>
      <p:grpSpPr>
        <a:xfrm>
          <a:off x="0" y="0"/>
          <a:ext cx="0" cy="0"/>
          <a:chOff x="0" y="0"/>
          <a:chExt cx="0" cy="0"/>
        </a:xfrm>
      </p:grpSpPr>
      <p:sp>
        <p:nvSpPr>
          <p:cNvPr id="162" name="Google Shape;162;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3" name="Google Shape;163;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4" name="Google Shape;164;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5" name="Google Shape;165;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6" name="Google Shape;166;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7" name="Google Shape;167;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8" name="Google Shape;168;p6"/>
          <p:cNvSpPr txBox="1"/>
          <p:nvPr/>
        </p:nvSpPr>
        <p:spPr>
          <a:xfrm>
            <a:off x="1351349" y="2198650"/>
            <a:ext cx="12568800" cy="31980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1. Menggabungkan Sel</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Anda dapat menggabungkan sel menggunakan atribut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colspan</a:t>
            </a:r>
            <a:r>
              <a:rPr lang="en-US" sz="2200">
                <a:solidFill>
                  <a:schemeClr val="dk1"/>
                </a:solidFill>
              </a:rPr>
              <a:t> dan </a:t>
            </a: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rowspan</a:t>
            </a:r>
            <a:r>
              <a:rPr lang="en-US" sz="2200">
                <a:solidFill>
                  <a:schemeClr val="dk1"/>
                </a:solidFill>
              </a:rPr>
              <a:t>.</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colspan</a:t>
            </a:r>
            <a:r>
              <a:rPr lang="en-US" sz="2200">
                <a:solidFill>
                  <a:schemeClr val="dk1"/>
                </a:solidFill>
              </a:rPr>
              <a:t>: Menggabungkan beberapa kolom.</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rowspan</a:t>
            </a:r>
            <a:r>
              <a:rPr lang="en-US" sz="2200">
                <a:solidFill>
                  <a:schemeClr val="dk1"/>
                </a:solidFill>
              </a:rPr>
              <a:t>: Menggabungkan beberapa baris.</a:t>
            </a:r>
            <a:endParaRPr sz="2200">
              <a:solidFill>
                <a:schemeClr val="dk1"/>
              </a:solidFill>
            </a:endParaRPr>
          </a:p>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Contoh Penggabungan Sel</a:t>
            </a:r>
            <a:endParaRPr sz="2400" b="1">
              <a:solidFill>
                <a:schemeClr val="dk1"/>
              </a:solidFill>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3500" b="1">
              <a:solidFill>
                <a:schemeClr val="dk1"/>
              </a:solidFill>
            </a:endParaRPr>
          </a:p>
        </p:txBody>
      </p:sp>
      <p:sp>
        <p:nvSpPr>
          <p:cNvPr id="169" name="Google Shape;169;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0" name="Google Shape;170;p6"/>
          <p:cNvSpPr txBox="1"/>
          <p:nvPr/>
        </p:nvSpPr>
        <p:spPr>
          <a:xfrm>
            <a:off x="3695075" y="942025"/>
            <a:ext cx="9109200" cy="538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500" b="1">
                <a:solidFill>
                  <a:srgbClr val="343434"/>
                </a:solidFill>
              </a:rPr>
              <a:t>Tabel yang Lebih Kompleks</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71" name="Google Shape;171;p6"/>
          <p:cNvPicPr preferRelativeResize="0"/>
          <p:nvPr/>
        </p:nvPicPr>
        <p:blipFill>
          <a:blip r:embed="rId2"/>
          <a:stretch>
            <a:fillRect/>
          </a:stretch>
        </p:blipFill>
        <p:spPr>
          <a:xfrm>
            <a:off x="11339800" y="1602225"/>
            <a:ext cx="6366700" cy="8386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75" name="Shape 175"/>
        <p:cNvGrpSpPr/>
        <p:nvPr/>
      </p:nvGrpSpPr>
      <p:grpSpPr>
        <a:xfrm>
          <a:off x="0" y="0"/>
          <a:ext cx="0" cy="0"/>
          <a:chOff x="0" y="0"/>
          <a:chExt cx="0" cy="0"/>
        </a:xfrm>
      </p:grpSpPr>
      <p:sp>
        <p:nvSpPr>
          <p:cNvPr id="176" name="Google Shape;176;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77" name="Google Shape;177;g33064f6f14d_0_24"/>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78" name="Google Shape;178;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9" name="Google Shape;179;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0" name="Google Shape;180;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1" name="Google Shape;181;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2" name="Google Shape;182;g33064f6f14d_0_24"/>
          <p:cNvSpPr txBox="1"/>
          <p:nvPr/>
        </p:nvSpPr>
        <p:spPr>
          <a:xfrm>
            <a:off x="1662475" y="3202200"/>
            <a:ext cx="13971900" cy="2855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600" b="1">
                <a:solidFill>
                  <a:schemeClr val="dk1"/>
                </a:solidFill>
              </a:rPr>
              <a:t>Tabel adalah alat yang sangat berguna untuk menyajikan data dalam format yang terstruktur di halaman web. Dengan memahami cara membuat dan mengatur tabel, Anda dapat menyajikan informasi dengan cara yang lebih jelas dan menarik. Penggunaan CSS juga dapat meningkatkan tampilan tabel, membuatnya lebih profesional dan mudah dibaca.</a:t>
            </a:r>
            <a:endParaRPr sz="2600" b="1">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2600" b="1">
              <a:solidFill>
                <a:schemeClr val="dk1"/>
              </a:solidFill>
            </a:endParaRPr>
          </a:p>
        </p:txBody>
      </p:sp>
      <p:sp>
        <p:nvSpPr>
          <p:cNvPr id="183" name="Google Shape;183;g33064f6f14d_0_24"/>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07</a:t>
            </a:r>
            <a:endParaRPr sz="1500" b="1" i="0" u="none" strike="noStrike" cap="none">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i="0" u="none" strike="noStrike" cap="none">
              <a:solidFill>
                <a:srgbClr val="343434"/>
              </a:solidFill>
              <a:latin typeface="DM Sans"/>
              <a:ea typeface="DM Sans"/>
              <a:cs typeface="DM Sans"/>
              <a:sym typeface="DM Sans"/>
            </a:endParaRPr>
          </a:p>
        </p:txBody>
      </p:sp>
      <p:sp>
        <p:nvSpPr>
          <p:cNvPr id="184" name="Google Shape;184;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88" name="Shape 188"/>
        <p:cNvGrpSpPr/>
        <p:nvPr/>
      </p:nvGrpSpPr>
      <p:grpSpPr>
        <a:xfrm>
          <a:off x="0" y="0"/>
          <a:ext cx="0" cy="0"/>
          <a:chOff x="0" y="0"/>
          <a:chExt cx="0" cy="0"/>
        </a:xfrm>
      </p:grpSpPr>
      <p:sp>
        <p:nvSpPr>
          <p:cNvPr id="189" name="Google Shape;189;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0" name="Google Shape;190;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1" name="Google Shape;191;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192" name="Google Shape;192;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193" name="Google Shape;193;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194" name="Google Shape;194;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195" name="Google Shape;195;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196" name="Google Shape;196;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7" name="Google Shape;197;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8" name="Google Shape;198;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9" name="Google Shape;199;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0" name="Google Shape;200;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1" name="Google Shape;201;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2492</Words>
  <Application>WPS Presentation</Application>
  <PresentationFormat/>
  <Paragraphs>163</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Arial</vt:lpstr>
      <vt:lpstr>Calibri</vt:lpstr>
      <vt:lpstr>Helvetica Neue</vt:lpstr>
      <vt:lpstr>DM Sans</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2025-02-17T08:54:17Z</dcterms:created>
  <dcterms:modified xsi:type="dcterms:W3CDTF">2025-02-17T08:54:17Z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38E32D71DF67AF9B39F9B26765843E68_42</vt:lpwstr>
  </property>
  <property fmtid="{D5CDD505-2E9C-101B-9397-08002B2CF9AE}" pid="3" name="KSOProductBuildVer">
    <vt:lpwstr>1033-6.11.0.8603</vt:lpwstr>
  </property>
</Properties>
</file>