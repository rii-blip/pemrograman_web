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8288000" cy="10287000"/>
  <p:notesSz cx="6858000" cy="9144000"/>
  <p:embeddedFontLst>
    <p:embeddedFont>
      <p:font typeface="DM Sans"/>
      <p:regular r:id="rId16"/>
    </p:embeddedFont>
    <p:embeddedFont>
      <p:font typeface="Roboto Mono" panose="0000000900000000000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5" name="Google Shape;11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1" name="Google Shape;131;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5" name="Google Shape;14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2" name="Google Shape;162;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6" name="Google Shape;176;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g33074a72064_0_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0" name="Google Shape;190;g33074a72064_0_2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3" name="Google Shape;203;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a:solidFill>
                  <a:srgbClr val="343434"/>
                </a:solidFill>
                <a:latin typeface="DM Sans"/>
                <a:ea typeface="DM Sans"/>
                <a:cs typeface="DM Sans"/>
                <a:sym typeface="DM Sans"/>
              </a:rPr>
              <a:t> Pengenalan CSS</a:t>
            </a:r>
            <a:endParaRPr sz="3600" b="0" i="0" u="none" strike="noStrike" cap="none">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9</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7927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panose="020B0604020202090204"/>
              <a:buNone/>
            </a:pPr>
            <a:r>
              <a:rPr lang="en-US" sz="2900" b="1">
                <a:solidFill>
                  <a:schemeClr val="dk1"/>
                </a:solidFill>
              </a:rPr>
              <a:t>1. Apa itu CSS?</a:t>
            </a:r>
            <a:endParaRPr sz="29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CSS (Cascading Style Sheets) adalah bahasa stylesheet yang digunakan untuk mendesain dan mengatur tampilan halaman web. CSS memungkinkan pengembang web untuk memisahkan konten dari presentasi, sehingga memudahkan dalam pengelolaan dan pemeliharaan situs web.</a:t>
            </a:r>
            <a:endParaRPr sz="23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2900" b="1">
                <a:solidFill>
                  <a:schemeClr val="dk1"/>
                </a:solidFill>
              </a:rPr>
              <a:t>2. Mengapa Menggunakan CSS?</a:t>
            </a:r>
            <a:endParaRPr sz="2900" b="1">
              <a:solidFill>
                <a:schemeClr val="dk1"/>
              </a:solidFill>
            </a:endParaRPr>
          </a:p>
          <a:p>
            <a:pPr marL="457200" lvl="0" indent="-374650" algn="l" rtl="0">
              <a:lnSpc>
                <a:spcPct val="115000"/>
              </a:lnSpc>
              <a:spcBef>
                <a:spcPts val="1200"/>
              </a:spcBef>
              <a:spcAft>
                <a:spcPts val="0"/>
              </a:spcAft>
              <a:buClr>
                <a:schemeClr val="dk1"/>
              </a:buClr>
              <a:buSzPts val="2300"/>
              <a:buChar char="●"/>
            </a:pPr>
            <a:r>
              <a:rPr lang="en-US" sz="2300" b="1">
                <a:solidFill>
                  <a:schemeClr val="dk1"/>
                </a:solidFill>
              </a:rPr>
              <a:t>Memisahkan Konten dan Presentasi</a:t>
            </a:r>
            <a:r>
              <a:rPr lang="en-US" sz="2300">
                <a:solidFill>
                  <a:schemeClr val="dk1"/>
                </a:solidFill>
              </a:rPr>
              <a:t>: Dengan CSS, Anda dapat memisahkan struktur HTML dari gaya visual, membuat kode lebih bersih dan lebih mudah dikelola.</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b="1">
                <a:solidFill>
                  <a:schemeClr val="dk1"/>
                </a:solidFill>
              </a:rPr>
              <a:t>Konsistensi</a:t>
            </a:r>
            <a:r>
              <a:rPr lang="en-US" sz="2300">
                <a:solidFill>
                  <a:schemeClr val="dk1"/>
                </a:solidFill>
              </a:rPr>
              <a:t>: CSS memungkinkan Anda untuk menerapkan gaya yang sama di seluruh halaman web, sehingga menciptakan tampilan yang konsisten.</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b="1">
                <a:solidFill>
                  <a:schemeClr val="dk1"/>
                </a:solidFill>
              </a:rPr>
              <a:t>Penghematan Waktu</a:t>
            </a:r>
            <a:r>
              <a:rPr lang="en-US" sz="2300">
                <a:solidFill>
                  <a:schemeClr val="dk1"/>
                </a:solidFill>
              </a:rPr>
              <a:t>: Dengan menggunakan CSS, Anda dapat mengubah gaya di satu tempat dan secara otomatis memperbarui semua elemen yang terpengaruh di seluruh situs.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b="1">
                <a:solidFill>
                  <a:schemeClr val="dk1"/>
                </a:solidFill>
              </a:rPr>
              <a:t>Responsif</a:t>
            </a:r>
            <a:r>
              <a:rPr lang="en-US" sz="2300">
                <a:solidFill>
                  <a:schemeClr val="dk1"/>
                </a:solidFill>
              </a:rPr>
              <a:t>: CSS memungkinkan Anda untuk membuat desain yang responsif, yang dapat menyesuaikan tampilan di berbagai perangkat.</a:t>
            </a:r>
            <a:endParaRPr sz="2300">
              <a:solidFill>
                <a:schemeClr val="dk1"/>
              </a:solidFill>
            </a:endParaRPr>
          </a:p>
          <a:p>
            <a:pPr marL="0" marR="0" lvl="0" indent="0" algn="l" rtl="0">
              <a:lnSpc>
                <a:spcPct val="191000"/>
              </a:lnSpc>
              <a:spcBef>
                <a:spcPts val="1200"/>
              </a:spcBef>
              <a:spcAft>
                <a:spcPts val="0"/>
              </a:spcAft>
              <a:buClr>
                <a:schemeClr val="dk1"/>
              </a:buClr>
              <a:buSzPts val="1100"/>
              <a:buFont typeface="Arial" panose="020B0604020202090204"/>
              <a:buNone/>
            </a:pPr>
            <a:endParaRPr sz="3300">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8" name="Google Shape;118;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9" name="Google Shape;119;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488200" y="2169000"/>
            <a:ext cx="11505000" cy="512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ada tiga cara utama untuk menyisipkan CSS ke dalam halaman HTML:</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a. Inline CSS</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CSS dapat ditambahkan langsung ke elemen HTML menggunakan atribut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style</a:t>
            </a:r>
            <a:r>
              <a:rPr lang="en-US" sz="2200">
                <a:solidFill>
                  <a:schemeClr val="dk1"/>
                </a:solidFill>
              </a:rPr>
              <a:t>.</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b. Internal CSS</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CSS dapat ditulis di dalam tag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&lt;style&gt;</a:t>
            </a:r>
            <a:r>
              <a:rPr lang="en-US" sz="2100">
                <a:solidFill>
                  <a:schemeClr val="dk1"/>
                </a:solidFill>
              </a:rPr>
              <a:t> di bagian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&lt;head&gt;</a:t>
            </a:r>
            <a:r>
              <a:rPr lang="en-US" sz="2100">
                <a:solidFill>
                  <a:schemeClr val="dk1"/>
                </a:solidFill>
              </a:rPr>
              <a:t> dari dokumen HTML.</a:t>
            </a:r>
            <a:endParaRPr sz="2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marR="0" lvl="0" indent="0" algn="l" rtl="0">
              <a:lnSpc>
                <a:spcPct val="115000"/>
              </a:lnSpc>
              <a:spcBef>
                <a:spcPts val="1200"/>
              </a:spcBef>
              <a:spcAft>
                <a:spcPts val="0"/>
              </a:spcAft>
              <a:buClr>
                <a:srgbClr val="000000"/>
              </a:buClr>
              <a:buSzPts val="4100"/>
              <a:buFont typeface="Arial" panose="020B0604020202090204"/>
              <a:buNone/>
            </a:pPr>
            <a:endParaRPr sz="3300" b="1">
              <a:solidFill>
                <a:schemeClr val="dk1"/>
              </a:solidFill>
            </a:endParaRPr>
          </a:p>
        </p:txBody>
      </p:sp>
      <p:sp>
        <p:nvSpPr>
          <p:cNvPr id="125" name="Google Shape;125;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6" name="Google Shape;126;p3"/>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Cara Menyisipkan CSS</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27" name="Google Shape;127;p3"/>
          <p:cNvPicPr preferRelativeResize="0"/>
          <p:nvPr/>
        </p:nvPicPr>
        <p:blipFill>
          <a:blip r:embed="rId3"/>
          <a:stretch>
            <a:fillRect/>
          </a:stretch>
        </p:blipFill>
        <p:spPr>
          <a:xfrm>
            <a:off x="620950" y="3847450"/>
            <a:ext cx="11239500" cy="1066800"/>
          </a:xfrm>
          <a:prstGeom prst="rect">
            <a:avLst/>
          </a:prstGeom>
          <a:noFill/>
          <a:ln>
            <a:noFill/>
          </a:ln>
        </p:spPr>
      </p:pic>
      <p:pic>
        <p:nvPicPr>
          <p:cNvPr id="128" name="Google Shape;128;p3"/>
          <p:cNvPicPr preferRelativeResize="0"/>
          <p:nvPr/>
        </p:nvPicPr>
        <p:blipFill>
          <a:blip r:embed="rId4"/>
          <a:stretch>
            <a:fillRect/>
          </a:stretch>
        </p:blipFill>
        <p:spPr>
          <a:xfrm>
            <a:off x="620950" y="5987275"/>
            <a:ext cx="11239500" cy="3853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2" name="Shape 132"/>
        <p:cNvGrpSpPr/>
        <p:nvPr/>
      </p:nvGrpSpPr>
      <p:grpSpPr>
        <a:xfrm>
          <a:off x="0" y="0"/>
          <a:ext cx="0" cy="0"/>
          <a:chOff x="0" y="0"/>
          <a:chExt cx="0" cy="0"/>
        </a:xfrm>
      </p:grpSpPr>
      <p:sp>
        <p:nvSpPr>
          <p:cNvPr id="133" name="Google Shape;133;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4" name="Google Shape;134;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5" name="Google Shape;135;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732300" y="1111613"/>
            <a:ext cx="12874200" cy="7466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c. External CSS</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CSS dapat disimpan dalam file terpisah dengan ekstensi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.css</a:t>
            </a:r>
            <a:r>
              <a:rPr lang="en-US" sz="2200">
                <a:solidFill>
                  <a:schemeClr val="dk1"/>
                </a:solidFill>
              </a:rPr>
              <a:t> dan dihubungkan ke dokumen HTML menggunakan tag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&lt;link&gt;</a:t>
            </a:r>
            <a:r>
              <a:rPr lang="en-US" sz="2200">
                <a:solidFill>
                  <a:schemeClr val="dk1"/>
                </a:solidFill>
              </a:rPr>
              <a:t>.</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b="1">
                <a:solidFill>
                  <a:schemeClr val="dk1"/>
                </a:solidFill>
              </a:rPr>
              <a:t>Contoh file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styles.css</a:t>
            </a:r>
            <a:r>
              <a:rPr lang="en-US" sz="2100" b="1">
                <a:solidFill>
                  <a:schemeClr val="dk1"/>
                </a:solidFill>
              </a:rPr>
              <a:t>:</a:t>
            </a:r>
            <a:endParaRPr sz="21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500" b="1">
              <a:solidFill>
                <a:schemeClr val="dk1"/>
              </a:solidFill>
            </a:endParaRPr>
          </a:p>
        </p:txBody>
      </p:sp>
      <p:sp>
        <p:nvSpPr>
          <p:cNvPr id="139" name="Google Shape;139;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1" name="Google Shape;141;p4"/>
          <p:cNvPicPr preferRelativeResize="0"/>
          <p:nvPr/>
        </p:nvPicPr>
        <p:blipFill>
          <a:blip r:embed="rId2"/>
          <a:stretch>
            <a:fillRect/>
          </a:stretch>
        </p:blipFill>
        <p:spPr>
          <a:xfrm>
            <a:off x="732300" y="2507600"/>
            <a:ext cx="11239500" cy="4362450"/>
          </a:xfrm>
          <a:prstGeom prst="rect">
            <a:avLst/>
          </a:prstGeom>
          <a:noFill/>
          <a:ln>
            <a:noFill/>
          </a:ln>
        </p:spPr>
      </p:pic>
      <p:pic>
        <p:nvPicPr>
          <p:cNvPr id="142" name="Google Shape;142;p4"/>
          <p:cNvPicPr preferRelativeResize="0"/>
          <p:nvPr/>
        </p:nvPicPr>
        <p:blipFill>
          <a:blip r:embed="rId3"/>
          <a:stretch>
            <a:fillRect/>
          </a:stretch>
        </p:blipFill>
        <p:spPr>
          <a:xfrm>
            <a:off x="732300" y="7331825"/>
            <a:ext cx="11239500" cy="2619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6" name="Shape 146"/>
        <p:cNvGrpSpPr/>
        <p:nvPr/>
      </p:nvGrpSpPr>
      <p:grpSpPr>
        <a:xfrm>
          <a:off x="0" y="0"/>
          <a:ext cx="0" cy="0"/>
          <a:chOff x="0" y="0"/>
          <a:chExt cx="0" cy="0"/>
        </a:xfrm>
      </p:grpSpPr>
      <p:sp>
        <p:nvSpPr>
          <p:cNvPr id="147" name="Google Shape;147;p5"/>
          <p:cNvSpPr/>
          <p:nvPr/>
        </p:nvSpPr>
        <p:spPr>
          <a:xfrm>
            <a:off x="-4088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8" name="Google Shape;148;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9" name="Google Shape;149;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0" name="Google Shape;150;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601750" y="1632750"/>
            <a:ext cx="12202500" cy="8290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90204"/>
              <a:buNone/>
            </a:pPr>
            <a:r>
              <a:rPr lang="en-US" sz="2400" b="0" i="0" u="none" strike="noStrike" cap="none">
                <a:solidFill>
                  <a:schemeClr val="dk1"/>
                </a:solidFill>
                <a:latin typeface="Arial" panose="020B0604020202090204"/>
                <a:ea typeface="Arial" panose="020B0604020202090204"/>
                <a:cs typeface="Arial" panose="020B0604020202090204"/>
                <a:sym typeface="Arial" panose="020B0604020202090204"/>
              </a:rPr>
              <a:t>Anda juga dapat menggunakan CSS untuk mempercantik tampilan tabel. Berikut adalah contoh penggunaan CSS untuk mengatur tabel:</a:t>
            </a:r>
            <a:endParaRPr sz="2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b="1">
                <a:solidFill>
                  <a:schemeClr val="dk1"/>
                </a:solidFill>
              </a:rPr>
              <a:t>Selektor Kelas</a:t>
            </a:r>
            <a:r>
              <a:rPr lang="en-US" sz="2300">
                <a:solidFill>
                  <a:schemeClr val="dk1"/>
                </a:solidFill>
              </a:rPr>
              <a:t>: Memilih elemen dengan kelas tertentu, diawali dengan titik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a:t>
            </a:r>
            <a:r>
              <a:rPr lang="en-US" sz="2300">
                <a:solidFill>
                  <a:schemeClr val="dk1"/>
                </a:solidFill>
              </a:rPr>
              <a:t>).</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400" b="1">
                <a:solidFill>
                  <a:schemeClr val="dk1"/>
                </a:solidFill>
              </a:rPr>
              <a:t>Selektor ID</a:t>
            </a:r>
            <a:r>
              <a:rPr lang="en-US" sz="2400">
                <a:solidFill>
                  <a:schemeClr val="dk1"/>
                </a:solidFill>
              </a:rPr>
              <a:t>: Memilih elemen dengan ID tertentu, diawali dengan tanda pagar (</a:t>
            </a:r>
            <a:r>
              <a:rPr lang="en-US" sz="2400">
                <a:solidFill>
                  <a:srgbClr val="188038"/>
                </a:solidFill>
                <a:latin typeface="Roboto Mono" panose="00000009000000000000"/>
                <a:ea typeface="Roboto Mono" panose="00000009000000000000"/>
                <a:cs typeface="Roboto Mono" panose="00000009000000000000"/>
                <a:sym typeface="Roboto Mono" panose="00000009000000000000"/>
              </a:rPr>
              <a:t>#</a:t>
            </a:r>
            <a:r>
              <a:rPr lang="en-US" sz="2400">
                <a:solidFill>
                  <a:schemeClr val="dk1"/>
                </a:solidFill>
              </a:rPr>
              <a:t>).</a:t>
            </a: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500" b="1">
                <a:solidFill>
                  <a:schemeClr val="dk1"/>
                </a:solidFill>
              </a:rPr>
              <a:t>Selektor Gabungan</a:t>
            </a:r>
            <a:r>
              <a:rPr lang="en-US" sz="2500">
                <a:solidFill>
                  <a:schemeClr val="dk1"/>
                </a:solidFill>
              </a:rPr>
              <a:t>: Memilih elemen berdasarkan kombinasi selektor.</a:t>
            </a:r>
            <a:endParaRPr sz="25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300">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marR="0" lvl="0" indent="0" algn="l" rtl="0">
              <a:lnSpc>
                <a:spcPct val="115000"/>
              </a:lnSpc>
              <a:spcBef>
                <a:spcPts val="1400"/>
              </a:spcBef>
              <a:spcAft>
                <a:spcPts val="400"/>
              </a:spcAft>
              <a:buClr>
                <a:schemeClr val="dk1"/>
              </a:buClr>
              <a:buSzPts val="1100"/>
              <a:buFont typeface="Arial" panose="020B0604020202090204"/>
              <a:buNone/>
            </a:pP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5" name="Google Shape;155;p5"/>
          <p:cNvSpPr txBox="1"/>
          <p:nvPr/>
        </p:nvSpPr>
        <p:spPr>
          <a:xfrm>
            <a:off x="5141375" y="960780"/>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Selektor CSS</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6" name="Google Shape;156;p5"/>
          <p:cNvPicPr preferRelativeResize="0"/>
          <p:nvPr/>
        </p:nvPicPr>
        <p:blipFill>
          <a:blip r:embed="rId2"/>
          <a:stretch>
            <a:fillRect/>
          </a:stretch>
        </p:blipFill>
        <p:spPr>
          <a:xfrm>
            <a:off x="601750" y="2472475"/>
            <a:ext cx="11239500" cy="1212938"/>
          </a:xfrm>
          <a:prstGeom prst="rect">
            <a:avLst/>
          </a:prstGeom>
          <a:noFill/>
          <a:ln>
            <a:noFill/>
          </a:ln>
        </p:spPr>
      </p:pic>
      <p:pic>
        <p:nvPicPr>
          <p:cNvPr id="157" name="Google Shape;157;p5"/>
          <p:cNvPicPr preferRelativeResize="0"/>
          <p:nvPr/>
        </p:nvPicPr>
        <p:blipFill>
          <a:blip r:embed="rId3"/>
          <a:stretch>
            <a:fillRect/>
          </a:stretch>
        </p:blipFill>
        <p:spPr>
          <a:xfrm>
            <a:off x="601750" y="4165500"/>
            <a:ext cx="11239500" cy="1212950"/>
          </a:xfrm>
          <a:prstGeom prst="rect">
            <a:avLst/>
          </a:prstGeom>
          <a:noFill/>
          <a:ln>
            <a:noFill/>
          </a:ln>
        </p:spPr>
      </p:pic>
      <p:pic>
        <p:nvPicPr>
          <p:cNvPr id="158" name="Google Shape;158;p5"/>
          <p:cNvPicPr preferRelativeResize="0"/>
          <p:nvPr/>
        </p:nvPicPr>
        <p:blipFill>
          <a:blip r:embed="rId4"/>
          <a:stretch>
            <a:fillRect/>
          </a:stretch>
        </p:blipFill>
        <p:spPr>
          <a:xfrm>
            <a:off x="601750" y="5884675"/>
            <a:ext cx="11239500" cy="1070450"/>
          </a:xfrm>
          <a:prstGeom prst="rect">
            <a:avLst/>
          </a:prstGeom>
          <a:noFill/>
          <a:ln>
            <a:noFill/>
          </a:ln>
        </p:spPr>
      </p:pic>
      <p:pic>
        <p:nvPicPr>
          <p:cNvPr id="159" name="Google Shape;159;p5"/>
          <p:cNvPicPr preferRelativeResize="0"/>
          <p:nvPr/>
        </p:nvPicPr>
        <p:blipFill>
          <a:blip r:embed="rId5"/>
          <a:stretch>
            <a:fillRect/>
          </a:stretch>
        </p:blipFill>
        <p:spPr>
          <a:xfrm>
            <a:off x="601750" y="7741725"/>
            <a:ext cx="11239500" cy="1638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3" name="Shape 163"/>
        <p:cNvGrpSpPr/>
        <p:nvPr/>
      </p:nvGrpSpPr>
      <p:grpSpPr>
        <a:xfrm>
          <a:off x="0" y="0"/>
          <a:ext cx="0" cy="0"/>
          <a:chOff x="0" y="0"/>
          <a:chExt cx="0" cy="0"/>
        </a:xfrm>
      </p:grpSpPr>
      <p:sp>
        <p:nvSpPr>
          <p:cNvPr id="164" name="Google Shape;164;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5" name="Google Shape;165;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7" name="Google Shape;167;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9" name="Google Shape;169;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1351349" y="2198650"/>
            <a:ext cx="12568800" cy="5066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CSS memiliki banyak properti yang dapat digunakan untuk mengatur berbagai aspek tampilan elemen. Beberapa properti yang umum digunakan adalah:</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b="1">
                <a:solidFill>
                  <a:schemeClr val="dk1"/>
                </a:solidFill>
              </a:rPr>
              <a:t>Color</a:t>
            </a:r>
            <a:r>
              <a:rPr lang="en-US" sz="2200">
                <a:solidFill>
                  <a:schemeClr val="dk1"/>
                </a:solidFill>
              </a:rPr>
              <a:t>: Mengatur warna teks.</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Background-color</a:t>
            </a:r>
            <a:r>
              <a:rPr lang="en-US" sz="2200">
                <a:solidFill>
                  <a:schemeClr val="dk1"/>
                </a:solidFill>
              </a:rPr>
              <a:t>: Mengatur warna latar belakang.</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Font-size</a:t>
            </a:r>
            <a:r>
              <a:rPr lang="en-US" sz="2200">
                <a:solidFill>
                  <a:schemeClr val="dk1"/>
                </a:solidFill>
              </a:rPr>
              <a:t>: Mengatur ukuran font.</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Margin</a:t>
            </a:r>
            <a:r>
              <a:rPr lang="en-US" sz="2200">
                <a:solidFill>
                  <a:schemeClr val="dk1"/>
                </a:solidFill>
              </a:rPr>
              <a:t>: Mengatur jarak di luar elemen.</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Padding</a:t>
            </a:r>
            <a:r>
              <a:rPr lang="en-US" sz="2200">
                <a:solidFill>
                  <a:schemeClr val="dk1"/>
                </a:solidFill>
              </a:rPr>
              <a:t>: Mengatur jarak di dalam elemen.</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Border</a:t>
            </a:r>
            <a:r>
              <a:rPr lang="en-US" sz="2200">
                <a:solidFill>
                  <a:schemeClr val="dk1"/>
                </a:solidFill>
              </a:rPr>
              <a:t>: Mengatur batas elemen.</a:t>
            </a:r>
            <a:endParaRPr sz="2200">
              <a:solidFill>
                <a:schemeClr val="dk1"/>
              </a:solidFill>
            </a:endParaRPr>
          </a:p>
          <a:p>
            <a:pPr marL="0" lvl="0" indent="0" algn="l" rtl="0">
              <a:lnSpc>
                <a:spcPct val="115000"/>
              </a:lnSpc>
              <a:spcBef>
                <a:spcPts val="1200"/>
              </a:spcBef>
              <a:spcAft>
                <a:spcPts val="0"/>
              </a:spcAft>
              <a:buNone/>
            </a:pPr>
            <a:r>
              <a:rPr lang="en-US" sz="2300" b="1">
                <a:solidFill>
                  <a:schemeClr val="dk1"/>
                </a:solidFill>
              </a:rPr>
              <a:t>Contoh penggunaan properti CSS:</a:t>
            </a:r>
            <a:endParaRPr sz="2300" b="1">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500" b="1">
              <a:solidFill>
                <a:schemeClr val="dk1"/>
              </a:solidFill>
            </a:endParaRPr>
          </a:p>
        </p:txBody>
      </p:sp>
      <p:sp>
        <p:nvSpPr>
          <p:cNvPr id="171" name="Google Shape;171;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2" name="Google Shape;172;p6"/>
          <p:cNvSpPr txBox="1"/>
          <p:nvPr/>
        </p:nvSpPr>
        <p:spPr>
          <a:xfrm>
            <a:off x="3695075" y="942025"/>
            <a:ext cx="9109200" cy="538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00"/>
              <a:buFont typeface="Arial" panose="020B0604020202090204"/>
              <a:buNone/>
            </a:pPr>
            <a:r>
              <a:rPr lang="en-US" sz="3500" b="1">
                <a:solidFill>
                  <a:srgbClr val="343434"/>
                </a:solidFill>
              </a:rPr>
              <a:t>Properti CSS</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3" name="Google Shape;173;p6"/>
          <p:cNvPicPr preferRelativeResize="0"/>
          <p:nvPr/>
        </p:nvPicPr>
        <p:blipFill>
          <a:blip r:embed="rId2"/>
          <a:stretch>
            <a:fillRect/>
          </a:stretch>
        </p:blipFill>
        <p:spPr>
          <a:xfrm>
            <a:off x="1351350" y="6182350"/>
            <a:ext cx="11239500" cy="3257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7" name="Shape 177"/>
        <p:cNvGrpSpPr/>
        <p:nvPr/>
      </p:nvGrpSpPr>
      <p:grpSpPr>
        <a:xfrm>
          <a:off x="0" y="0"/>
          <a:ext cx="0" cy="0"/>
          <a:chOff x="0" y="0"/>
          <a:chExt cx="0" cy="0"/>
        </a:xfrm>
      </p:grpSpPr>
      <p:sp>
        <p:nvSpPr>
          <p:cNvPr id="178" name="Google Shape;178;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9" name="Google Shape;179;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00"/>
              <a:buFont typeface="Arial" panose="020B0604020202090204"/>
              <a:buNone/>
            </a:pPr>
            <a:r>
              <a:rPr lang="en-US" sz="6000" b="1">
                <a:solidFill>
                  <a:srgbClr val="343434"/>
                </a:solidFill>
              </a:rPr>
              <a:t> Media Queries</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80" name="Google Shape;180;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1" name="Google Shape;181;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2" name="Google Shape;182;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3" name="Google Shape;183;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4" name="Google Shape;184;g33064f6f14d_0_24"/>
          <p:cNvSpPr txBox="1"/>
          <p:nvPr/>
        </p:nvSpPr>
        <p:spPr>
          <a:xfrm>
            <a:off x="1662525" y="2260675"/>
            <a:ext cx="13971900" cy="1474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a:solidFill>
                  <a:schemeClr val="dk1"/>
                </a:solidFill>
              </a:rPr>
              <a:t>Media queries digunakan untuk menerapkan gaya yang berbeda berdasarkan karakteristik perangkat, seperti lebar layar. Ini sangat berguna untuk membuat desain responsif.</a:t>
            </a:r>
            <a:endParaRPr sz="26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a:solidFill>
                <a:schemeClr val="dk1"/>
              </a:solidFill>
            </a:endParaRPr>
          </a:p>
        </p:txBody>
      </p:sp>
      <p:sp>
        <p:nvSpPr>
          <p:cNvPr id="185" name="Google Shape;185;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6" name="Google Shape;186;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87" name="Google Shape;187;g33064f6f14d_0_24"/>
          <p:cNvPicPr preferRelativeResize="0"/>
          <p:nvPr/>
        </p:nvPicPr>
        <p:blipFill>
          <a:blip r:embed="rId2"/>
          <a:stretch>
            <a:fillRect/>
          </a:stretch>
        </p:blipFill>
        <p:spPr>
          <a:xfrm>
            <a:off x="1662525" y="3337775"/>
            <a:ext cx="11239500" cy="2495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91" name="Shape 191"/>
        <p:cNvGrpSpPr/>
        <p:nvPr/>
      </p:nvGrpSpPr>
      <p:grpSpPr>
        <a:xfrm>
          <a:off x="0" y="0"/>
          <a:ext cx="0" cy="0"/>
          <a:chOff x="0" y="0"/>
          <a:chExt cx="0" cy="0"/>
        </a:xfrm>
      </p:grpSpPr>
      <p:sp>
        <p:nvSpPr>
          <p:cNvPr id="192" name="Google Shape;192;g33074a72064_0_2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3" name="Google Shape;193;g33074a72064_0_22"/>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94" name="Google Shape;194;g33074a72064_0_22"/>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5" name="Google Shape;195;g33074a72064_0_22"/>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6" name="Google Shape;196;g33074a72064_0_22"/>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7" name="Google Shape;197;g33074a72064_0_22"/>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g33074a72064_0_22"/>
          <p:cNvSpPr txBox="1"/>
          <p:nvPr/>
        </p:nvSpPr>
        <p:spPr>
          <a:xfrm>
            <a:off x="1662475" y="3202200"/>
            <a:ext cx="13971900" cy="2081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1200"/>
              </a:spcBef>
              <a:spcAft>
                <a:spcPts val="0"/>
              </a:spcAft>
              <a:buClr>
                <a:srgbClr val="000000"/>
              </a:buClr>
              <a:buSzPts val="1700"/>
              <a:buFont typeface="Arial" panose="020B0604020202090204"/>
              <a:buNone/>
            </a:pPr>
            <a:r>
              <a:rPr lang="en-US" sz="2600" b="1">
                <a:solidFill>
                  <a:schemeClr val="dk1"/>
                </a:solidFill>
              </a:rPr>
              <a:t>CSS adalah alat yang sangat penting dalam pengembangan web. Dengan memahami cara menggunakan CSS, Anda dapat menciptakan halaman web yang menarik dan responsif. Materi ini memberikan pengantar dasar tentang CSS, dan Anda dapat mengeksplorasi lebih lanjut untuk mempelajari teknik dan fitur yang lebih kompleks.</a:t>
            </a: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99" name="Google Shape;199;g33074a72064_0_22"/>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200" name="Google Shape;200;g33074a72064_0_22"/>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204" name="Shape 204"/>
        <p:cNvGrpSpPr/>
        <p:nvPr/>
      </p:nvGrpSpPr>
      <p:grpSpPr>
        <a:xfrm>
          <a:off x="0" y="0"/>
          <a:ext cx="0" cy="0"/>
          <a:chOff x="0" y="0"/>
          <a:chExt cx="0" cy="0"/>
        </a:xfrm>
      </p:grpSpPr>
      <p:sp>
        <p:nvSpPr>
          <p:cNvPr id="205" name="Google Shape;205;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206" name="Google Shape;206;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7" name="Google Shape;207;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208" name="Google Shape;208;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209" name="Google Shape;209;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210" name="Google Shape;210;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211" name="Google Shape;211;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212" name="Google Shape;212;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3" name="Google Shape;213;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4" name="Google Shape;214;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5" name="Google Shape;215;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6" name="Google Shape;216;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7" name="Google Shape;217;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3224</Words>
  <Application>WPS Presentation</Application>
  <PresentationFormat/>
  <Paragraphs>196</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2025-02-17T08:54:37Z</dcterms:created>
  <dcterms:modified xsi:type="dcterms:W3CDTF">2025-02-17T08:54:37Z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61309906DC01CB1E4DF9B267817DFEE6_42</vt:lpwstr>
  </property>
  <property fmtid="{D5CDD505-2E9C-101B-9397-08002B2CF9AE}" pid="3" name="KSOProductBuildVer">
    <vt:lpwstr>1033-6.11.0.8603</vt:lpwstr>
  </property>
</Properties>
</file>