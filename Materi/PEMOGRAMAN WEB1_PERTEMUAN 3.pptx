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8288000" cy="10287000"/>
  <p:notesSz cx="6858000" cy="9144000"/>
  <p:embeddedFontLst>
    <p:embeddedFont>
      <p:font typeface="DM Sans"/>
      <p:regular r:id="rId17"/>
    </p:embeddedFont>
    <p:embeddedFont>
      <p:font typeface="Roboto Mono" panose="0000000900000000000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6" name="Google Shape;11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2" name="Google Shape;13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6" name="Google Shape;14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0" name="Google Shape;160;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4" name="Google Shape;17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0" name="Google Shape;190;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5" name="Google Shape;205;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18" name="Google Shape;218;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a:t>
            </a:r>
            <a:r>
              <a:rPr lang="en-US" sz="3600">
                <a:solidFill>
                  <a:srgbClr val="343434"/>
                </a:solidFill>
                <a:latin typeface="DM Sans"/>
                <a:ea typeface="DM Sans"/>
                <a:cs typeface="DM Sans"/>
                <a:sym typeface="DM Sans"/>
              </a:rPr>
              <a:t>Pengaturan teks pada HTML</a:t>
            </a:r>
            <a:endParaRPr sz="3600">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3</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0"/>
            <a:ext cx="11566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a:solidFill>
                  <a:srgbClr val="343434"/>
                </a:solidFill>
              </a:rPr>
              <a:t>Pengaturan </a:t>
            </a:r>
            <a:r>
              <a:rPr lang="en-US" sz="6000" b="1">
                <a:solidFill>
                  <a:srgbClr val="343434"/>
                </a:solidFill>
              </a:rPr>
              <a:t>Teks</a:t>
            </a:r>
            <a:r>
              <a:rPr lang="en-US" sz="6000" b="1">
                <a:solidFill>
                  <a:srgbClr val="343434"/>
                </a:solidFill>
              </a:rPr>
              <a:t> pada HTML</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51090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HTML (HyperText Markup Language) adalah bahasa markup yang digunakan untuk membuat halaman web. Salah satu aspek penting dalam HTML adalah pengaturan teks. Dalam materi ini, kita akan membahas berbagai elemen dan atribut yang digunakan untuk mengatur teks dalam dokumen HTML.</a:t>
            </a:r>
            <a:endParaRPr sz="23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2900" b="1">
                <a:solidFill>
                  <a:schemeClr val="dk1"/>
                </a:solidFill>
              </a:rPr>
              <a:t>1. Elemen Dasar Teks</a:t>
            </a:r>
            <a:endParaRPr sz="2900" b="1">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500" b="1">
                <a:solidFill>
                  <a:schemeClr val="dk1"/>
                </a:solidFill>
              </a:rPr>
              <a:t>1.1. Tag Heading</a:t>
            </a:r>
            <a:endParaRPr sz="25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Tag heading digunakan untuk membuat judul atau subjudul dalam halaman web. Terdapat enam tingkat heading, dari </a:t>
            </a:r>
            <a:r>
              <a:rPr lang="en-US" sz="2300">
                <a:solidFill>
                  <a:srgbClr val="188038"/>
                </a:solidFill>
                <a:latin typeface="Roboto Mono" panose="00000009000000000000"/>
                <a:ea typeface="Roboto Mono" panose="00000009000000000000"/>
                <a:cs typeface="Roboto Mono" panose="00000009000000000000"/>
                <a:sym typeface="Roboto Mono" panose="00000009000000000000"/>
              </a:rPr>
              <a:t>&lt;h1&gt;</a:t>
            </a:r>
            <a:r>
              <a:rPr lang="en-US" sz="2300">
                <a:solidFill>
                  <a:schemeClr val="dk1"/>
                </a:solidFill>
              </a:rPr>
              <a:t> hingga </a:t>
            </a:r>
            <a:r>
              <a:rPr lang="en-US" sz="2300">
                <a:solidFill>
                  <a:srgbClr val="188038"/>
                </a:solidFill>
                <a:latin typeface="Roboto Mono" panose="00000009000000000000"/>
                <a:ea typeface="Roboto Mono" panose="00000009000000000000"/>
                <a:cs typeface="Roboto Mono" panose="00000009000000000000"/>
                <a:sym typeface="Roboto Mono" panose="00000009000000000000"/>
              </a:rPr>
              <a:t>&lt;h6&gt;</a:t>
            </a:r>
            <a:r>
              <a:rPr lang="en-US" sz="2300">
                <a:solidFill>
                  <a:schemeClr val="dk1"/>
                </a:solidFill>
              </a:rPr>
              <a:t>, di mana </a:t>
            </a:r>
            <a:r>
              <a:rPr lang="en-US" sz="2300">
                <a:solidFill>
                  <a:srgbClr val="188038"/>
                </a:solidFill>
                <a:latin typeface="Roboto Mono" panose="00000009000000000000"/>
                <a:ea typeface="Roboto Mono" panose="00000009000000000000"/>
                <a:cs typeface="Roboto Mono" panose="00000009000000000000"/>
                <a:sym typeface="Roboto Mono" panose="00000009000000000000"/>
              </a:rPr>
              <a:t>&lt;h1&gt;</a:t>
            </a:r>
            <a:r>
              <a:rPr lang="en-US" sz="2300">
                <a:solidFill>
                  <a:schemeClr val="dk1"/>
                </a:solidFill>
              </a:rPr>
              <a:t> adalah yang paling penting dan besar, sedangkan </a:t>
            </a:r>
            <a:r>
              <a:rPr lang="en-US" sz="2300">
                <a:solidFill>
                  <a:srgbClr val="188038"/>
                </a:solidFill>
                <a:latin typeface="Roboto Mono" panose="00000009000000000000"/>
                <a:ea typeface="Roboto Mono" panose="00000009000000000000"/>
                <a:cs typeface="Roboto Mono" panose="00000009000000000000"/>
                <a:sym typeface="Roboto Mono" panose="00000009000000000000"/>
              </a:rPr>
              <a:t>&lt;h6&gt;</a:t>
            </a:r>
            <a:r>
              <a:rPr lang="en-US" sz="2300">
                <a:solidFill>
                  <a:schemeClr val="dk1"/>
                </a:solidFill>
              </a:rPr>
              <a:t> adalah yang paling kecil.</a:t>
            </a:r>
            <a:endParaRPr sz="23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800" b="1">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13" name="Google Shape;113;p2"/>
          <p:cNvPicPr preferRelativeResize="0"/>
          <p:nvPr/>
        </p:nvPicPr>
        <p:blipFill>
          <a:blip r:embed="rId3"/>
          <a:stretch>
            <a:fillRect/>
          </a:stretch>
        </p:blipFill>
        <p:spPr>
          <a:xfrm>
            <a:off x="592325" y="6842025"/>
            <a:ext cx="10687050" cy="2914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7" name="Shape 117"/>
        <p:cNvGrpSpPr/>
        <p:nvPr/>
      </p:nvGrpSpPr>
      <p:grpSpPr>
        <a:xfrm>
          <a:off x="0" y="0"/>
          <a:ext cx="0" cy="0"/>
          <a:chOff x="0" y="0"/>
          <a:chExt cx="0" cy="0"/>
        </a:xfrm>
      </p:grpSpPr>
      <p:sp>
        <p:nvSpPr>
          <p:cNvPr id="118" name="Google Shape;118;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9" name="Google Shape;119;p3"/>
          <p:cNvSpPr txBox="1"/>
          <p:nvPr/>
        </p:nvSpPr>
        <p:spPr>
          <a:xfrm>
            <a:off x="2952020" y="725825"/>
            <a:ext cx="10843500" cy="1957800"/>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Clr>
                <a:schemeClr val="dk1"/>
              </a:buClr>
              <a:buSzPts val="6000"/>
              <a:buFont typeface="Arial" panose="020B0604020202090204"/>
              <a:buNone/>
            </a:pPr>
            <a:r>
              <a:rPr lang="en-US" sz="5300" b="1">
                <a:solidFill>
                  <a:srgbClr val="343434"/>
                </a:solidFill>
              </a:rPr>
              <a:t>Pengaturan Teks pada HTML</a:t>
            </a:r>
            <a:endParaRPr sz="700">
              <a:solidFill>
                <a:schemeClr val="dk1"/>
              </a:solidFill>
            </a:endParaRPr>
          </a:p>
          <a:p>
            <a:pPr marL="0" marR="0" lvl="0" indent="0" algn="l" rtl="0">
              <a:lnSpc>
                <a:spcPct val="140000"/>
              </a:lnSpc>
              <a:spcBef>
                <a:spcPts val="0"/>
              </a:spcBef>
              <a:spcAft>
                <a:spcPts val="0"/>
              </a:spcAft>
              <a:buClr>
                <a:srgbClr val="000000"/>
              </a:buClr>
              <a:buSzPts val="6000"/>
              <a:buFont typeface="Arial" panose="020B0604020202090204"/>
              <a:buNone/>
            </a:pPr>
            <a:endParaRPr sz="5300" b="1">
              <a:solidFill>
                <a:srgbClr val="343434"/>
              </a:solidFill>
            </a:endParaRPr>
          </a:p>
        </p:txBody>
      </p:sp>
      <p:sp>
        <p:nvSpPr>
          <p:cNvPr id="120" name="Google Shape;120;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5" name="Google Shape;125;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6" name="Google Shape;126;p3"/>
          <p:cNvSpPr txBox="1"/>
          <p:nvPr/>
        </p:nvSpPr>
        <p:spPr>
          <a:xfrm>
            <a:off x="557950" y="1949375"/>
            <a:ext cx="15262800" cy="183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200" b="1">
                <a:solidFill>
                  <a:schemeClr val="dk1"/>
                </a:solidFill>
              </a:rPr>
              <a:t>1.2. Tag Paragraf</a:t>
            </a:r>
            <a:endParaRPr sz="22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000">
                <a:solidFill>
                  <a:schemeClr val="dk1"/>
                </a:solidFill>
              </a:rPr>
              <a:t>Tag </a:t>
            </a: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&lt;p&gt;</a:t>
            </a:r>
            <a:r>
              <a:rPr lang="en-US" sz="2000">
                <a:solidFill>
                  <a:schemeClr val="dk1"/>
                </a:solidFill>
              </a:rPr>
              <a:t> digunakan untuk membuat paragraf. Setiap paragraf akan memiliki jarak di atas dan di bawahnya secara otomatis.</a:t>
            </a:r>
            <a:endParaRPr sz="2000">
              <a:solidFill>
                <a:schemeClr val="dk1"/>
              </a:solidFill>
            </a:endParaRPr>
          </a:p>
          <a:p>
            <a:pPr marL="0" marR="0" lvl="0" indent="0" algn="l" rtl="0">
              <a:lnSpc>
                <a:spcPct val="115000"/>
              </a:lnSpc>
              <a:spcBef>
                <a:spcPts val="1200"/>
              </a:spcBef>
              <a:spcAft>
                <a:spcPts val="0"/>
              </a:spcAft>
              <a:buNone/>
            </a:pPr>
            <a:endParaRPr sz="3900" b="1">
              <a:solidFill>
                <a:schemeClr val="dk1"/>
              </a:solidFill>
            </a:endParaRPr>
          </a:p>
        </p:txBody>
      </p:sp>
      <p:pic>
        <p:nvPicPr>
          <p:cNvPr id="127" name="Google Shape;127;p3"/>
          <p:cNvPicPr preferRelativeResize="0"/>
          <p:nvPr/>
        </p:nvPicPr>
        <p:blipFill>
          <a:blip r:embed="rId2"/>
          <a:stretch>
            <a:fillRect/>
          </a:stretch>
        </p:blipFill>
        <p:spPr>
          <a:xfrm>
            <a:off x="714375" y="3120000"/>
            <a:ext cx="10687050" cy="1257300"/>
          </a:xfrm>
          <a:prstGeom prst="rect">
            <a:avLst/>
          </a:prstGeom>
          <a:noFill/>
          <a:ln>
            <a:noFill/>
          </a:ln>
        </p:spPr>
      </p:pic>
      <p:sp>
        <p:nvSpPr>
          <p:cNvPr id="128" name="Google Shape;128;p3"/>
          <p:cNvSpPr txBox="1"/>
          <p:nvPr/>
        </p:nvSpPr>
        <p:spPr>
          <a:xfrm>
            <a:off x="760050" y="4661275"/>
            <a:ext cx="8818800" cy="382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sz="2200" b="1">
                <a:solidFill>
                  <a:schemeClr val="dk1"/>
                </a:solidFill>
              </a:rPr>
              <a:t>1.3. Tag Teks</a:t>
            </a:r>
            <a:endParaRPr sz="2200" b="1">
              <a:solidFill>
                <a:schemeClr val="dk1"/>
              </a:solidFill>
            </a:endParaRPr>
          </a:p>
          <a:p>
            <a:pPr marL="0" lvl="0" indent="0" algn="l" rtl="0">
              <a:lnSpc>
                <a:spcPct val="115000"/>
              </a:lnSpc>
              <a:spcBef>
                <a:spcPts val="1200"/>
              </a:spcBef>
              <a:spcAft>
                <a:spcPts val="0"/>
              </a:spcAft>
              <a:buNone/>
            </a:pPr>
            <a:r>
              <a:rPr lang="en-US" sz="2000">
                <a:solidFill>
                  <a:schemeClr val="dk1"/>
                </a:solidFill>
              </a:rPr>
              <a:t>HTML menyediakan beberapa tag untuk mengatur teks, antara lain:</a:t>
            </a:r>
            <a:endParaRPr sz="2000">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&lt;strong&gt;</a:t>
            </a:r>
            <a:r>
              <a:rPr lang="en-US" sz="2000">
                <a:solidFill>
                  <a:schemeClr val="dk1"/>
                </a:solidFill>
              </a:rPr>
              <a:t>: Menandai teks yang penting (tebal).</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&lt;em&gt;</a:t>
            </a:r>
            <a:r>
              <a:rPr lang="en-US" sz="2000">
                <a:solidFill>
                  <a:schemeClr val="dk1"/>
                </a:solidFill>
              </a:rPr>
              <a:t>: Menandai teks yang ditekankan (miring).</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&lt;mark&gt;</a:t>
            </a:r>
            <a:r>
              <a:rPr lang="en-US" sz="2000">
                <a:solidFill>
                  <a:schemeClr val="dk1"/>
                </a:solidFill>
              </a:rPr>
              <a:t>: Menandai teks yang disorot.</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&lt;small&gt;</a:t>
            </a:r>
            <a:r>
              <a:rPr lang="en-US" sz="2000">
                <a:solidFill>
                  <a:schemeClr val="dk1"/>
                </a:solidFill>
              </a:rPr>
              <a:t>: Menandai teks yang lebih kecil.</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&lt;del&gt;</a:t>
            </a:r>
            <a:r>
              <a:rPr lang="en-US" sz="2000">
                <a:solidFill>
                  <a:schemeClr val="dk1"/>
                </a:solidFill>
              </a:rPr>
              <a:t>: Menandai teks yang dihapus.</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rgbClr val="188038"/>
                </a:solidFill>
                <a:latin typeface="Roboto Mono" panose="00000009000000000000"/>
                <a:ea typeface="Roboto Mono" panose="00000009000000000000"/>
                <a:cs typeface="Roboto Mono" panose="00000009000000000000"/>
                <a:sym typeface="Roboto Mono" panose="00000009000000000000"/>
              </a:rPr>
              <a:t>&lt;ins&gt;</a:t>
            </a:r>
            <a:r>
              <a:rPr lang="en-US" sz="2000">
                <a:solidFill>
                  <a:schemeClr val="dk1"/>
                </a:solidFill>
              </a:rPr>
              <a:t>: Menandai teks yang ditambahkan.</a:t>
            </a:r>
            <a:endParaRPr sz="2000">
              <a:solidFill>
                <a:schemeClr val="dk1"/>
              </a:solidFill>
            </a:endParaRPr>
          </a:p>
          <a:p>
            <a:pPr marL="0" lvl="0" indent="0" algn="l" rtl="0">
              <a:lnSpc>
                <a:spcPct val="115000"/>
              </a:lnSpc>
              <a:spcBef>
                <a:spcPts val="1200"/>
              </a:spcBef>
              <a:spcAft>
                <a:spcPts val="1200"/>
              </a:spcAft>
              <a:buNone/>
            </a:pPr>
            <a:r>
              <a:rPr lang="en-US" sz="2000">
                <a:solidFill>
                  <a:schemeClr val="dk1"/>
                </a:solidFill>
              </a:rPr>
              <a:t>Contoh penggunaan:</a:t>
            </a:r>
            <a:endParaRPr sz="2000">
              <a:solidFill>
                <a:schemeClr val="dk1"/>
              </a:solidFill>
            </a:endParaRPr>
          </a:p>
        </p:txBody>
      </p:sp>
      <p:pic>
        <p:nvPicPr>
          <p:cNvPr id="129" name="Google Shape;129;p3"/>
          <p:cNvPicPr preferRelativeResize="0"/>
          <p:nvPr/>
        </p:nvPicPr>
        <p:blipFill>
          <a:blip r:embed="rId3"/>
          <a:stretch>
            <a:fillRect/>
          </a:stretch>
        </p:blipFill>
        <p:spPr>
          <a:xfrm>
            <a:off x="8846500" y="5347575"/>
            <a:ext cx="8961925" cy="2895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3" name="Shape 133"/>
        <p:cNvGrpSpPr/>
        <p:nvPr/>
      </p:nvGrpSpPr>
      <p:grpSpPr>
        <a:xfrm>
          <a:off x="0" y="0"/>
          <a:ext cx="0" cy="0"/>
          <a:chOff x="0" y="0"/>
          <a:chExt cx="0" cy="0"/>
        </a:xfrm>
      </p:grpSpPr>
      <p:sp>
        <p:nvSpPr>
          <p:cNvPr id="134" name="Google Shape;134;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5" name="Google Shape;135;p4"/>
          <p:cNvSpPr txBox="1"/>
          <p:nvPr/>
        </p:nvSpPr>
        <p:spPr>
          <a:xfrm>
            <a:off x="3695075" y="942025"/>
            <a:ext cx="9109200" cy="861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5600" b="1">
                <a:solidFill>
                  <a:srgbClr val="343434"/>
                </a:solidFill>
              </a:rPr>
              <a:t>Pengaturan Gaya Teks</a:t>
            </a:r>
            <a:endParaRPr sz="10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0" name="Google Shape;140;p4"/>
          <p:cNvSpPr txBox="1"/>
          <p:nvPr/>
        </p:nvSpPr>
        <p:spPr>
          <a:xfrm>
            <a:off x="767175" y="2402850"/>
            <a:ext cx="12874200" cy="2421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200" b="1">
                <a:solidFill>
                  <a:schemeClr val="dk1"/>
                </a:solidFill>
              </a:rPr>
              <a:t>2.1. Menggunakan CSS</a:t>
            </a:r>
            <a:endParaRPr sz="22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000">
                <a:solidFill>
                  <a:schemeClr val="dk1"/>
                </a:solidFill>
              </a:rPr>
              <a:t>Pengaturan gaya teks dapat dilakukan dengan menggunakan CSS (Cascading Style Sheets). Anda dapat mengatur warna, ukuran, jenis font, dan banyak lagi.</a:t>
            </a:r>
            <a:endParaRPr sz="20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000">
                <a:solidFill>
                  <a:schemeClr val="dk1"/>
                </a:solidFill>
              </a:rPr>
              <a:t>Contoh:</a:t>
            </a:r>
            <a:endParaRPr sz="20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300">
              <a:solidFill>
                <a:schemeClr val="dk1"/>
              </a:solidFill>
            </a:endParaRPr>
          </a:p>
        </p:txBody>
      </p:sp>
      <p:sp>
        <p:nvSpPr>
          <p:cNvPr id="141" name="Google Shape;141;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2" name="Google Shape;142;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3" name="Google Shape;143;p4"/>
          <p:cNvPicPr preferRelativeResize="0"/>
          <p:nvPr/>
        </p:nvPicPr>
        <p:blipFill>
          <a:blip r:embed="rId2"/>
          <a:stretch>
            <a:fillRect/>
          </a:stretch>
        </p:blipFill>
        <p:spPr>
          <a:xfrm>
            <a:off x="767175" y="4348850"/>
            <a:ext cx="10687050" cy="4305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7" name="Shape 147"/>
        <p:cNvGrpSpPr/>
        <p:nvPr/>
      </p:nvGrpSpPr>
      <p:grpSpPr>
        <a:xfrm>
          <a:off x="0" y="0"/>
          <a:ext cx="0" cy="0"/>
          <a:chOff x="0" y="0"/>
          <a:chExt cx="0" cy="0"/>
        </a:xfrm>
      </p:grpSpPr>
      <p:sp>
        <p:nvSpPr>
          <p:cNvPr id="148" name="Google Shape;148;p5"/>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49" name="Google Shape;149;p5"/>
          <p:cNvSpPr/>
          <p:nvPr/>
        </p:nvSpPr>
        <p:spPr>
          <a:xfrm>
            <a:off x="13675814" y="1993414"/>
            <a:ext cx="4355876" cy="6337915"/>
          </a:xfrm>
          <a:custGeom>
            <a:avLst/>
            <a:gdLst/>
            <a:ahLst/>
            <a:cxnLst/>
            <a:rect l="l" t="t" r="r" b="b"/>
            <a:pathLst>
              <a:path w="4355876" h="6337915" extrusionOk="0">
                <a:moveTo>
                  <a:pt x="0" y="0"/>
                </a:moveTo>
                <a:lnTo>
                  <a:pt x="4355877" y="0"/>
                </a:lnTo>
                <a:lnTo>
                  <a:pt x="4355877" y="6337915"/>
                </a:lnTo>
                <a:lnTo>
                  <a:pt x="0" y="6337915"/>
                </a:lnTo>
                <a:lnTo>
                  <a:pt x="0" y="0"/>
                </a:lnTo>
                <a:close/>
              </a:path>
            </a:pathLst>
          </a:custGeom>
          <a:blipFill rotWithShape="1">
            <a:blip r:embed="rId2"/>
            <a:stretch>
              <a:fillRect/>
            </a:stretch>
          </a:blipFill>
          <a:ln>
            <a:noFill/>
          </a:ln>
        </p:spPr>
      </p:sp>
      <p:sp>
        <p:nvSpPr>
          <p:cNvPr id="150" name="Google Shape;150;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1" name="Google Shape;151;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2" name="Google Shape;152;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601750" y="1652125"/>
            <a:ext cx="10354500" cy="19665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300" b="1">
                <a:solidFill>
                  <a:schemeClr val="dk1"/>
                </a:solidFill>
              </a:rPr>
              <a:t>2.2. Atribut Style Inline</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Anda juga dapat menggunakan atribut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style</a:t>
            </a:r>
            <a:r>
              <a:rPr lang="en-US" sz="2100">
                <a:solidFill>
                  <a:schemeClr val="dk1"/>
                </a:solidFill>
              </a:rPr>
              <a:t> secara langsung dalam tag HTML untuk mengatur gaya teks.</a:t>
            </a:r>
            <a:endParaRPr sz="21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300" b="1">
              <a:solidFill>
                <a:schemeClr val="dk1"/>
              </a:solidFill>
            </a:endParaRPr>
          </a:p>
        </p:txBody>
      </p:sp>
      <p:sp>
        <p:nvSpPr>
          <p:cNvPr id="155" name="Google Shape;155;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6" name="Google Shape;156;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57" name="Google Shape;157;p5"/>
          <p:cNvPicPr preferRelativeResize="0"/>
          <p:nvPr/>
        </p:nvPicPr>
        <p:blipFill>
          <a:blip r:embed="rId3"/>
          <a:stretch>
            <a:fillRect/>
          </a:stretch>
        </p:blipFill>
        <p:spPr>
          <a:xfrm>
            <a:off x="601750" y="3112100"/>
            <a:ext cx="10687050" cy="1238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1" name="Shape 161"/>
        <p:cNvGrpSpPr/>
        <p:nvPr/>
      </p:nvGrpSpPr>
      <p:grpSpPr>
        <a:xfrm>
          <a:off x="0" y="0"/>
          <a:ext cx="0" cy="0"/>
          <a:chOff x="0" y="0"/>
          <a:chExt cx="0" cy="0"/>
        </a:xfrm>
      </p:grpSpPr>
      <p:sp>
        <p:nvSpPr>
          <p:cNvPr id="162" name="Google Shape;162;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3" name="Google Shape;163;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4" name="Google Shape;164;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5" name="Google Shape;165;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6" name="Google Shape;166;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7" name="Google Shape;167;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386227" y="2564825"/>
            <a:ext cx="8715600" cy="4901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300" b="1">
                <a:solidFill>
                  <a:schemeClr val="dk1"/>
                </a:solidFill>
              </a:rPr>
              <a:t>3.1. Menggunakan CSS</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Anda dapat mengatur perataan teks menggunakan CSS dengan properti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text-align</a:t>
            </a:r>
            <a:r>
              <a:rPr lang="en-US" sz="2100">
                <a:solidFill>
                  <a:schemeClr val="dk1"/>
                </a:solidFill>
              </a:rPr>
              <a:t>. Nilai yang dapat digunakan adalah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left</a:t>
            </a:r>
            <a:r>
              <a:rPr lang="en-US" sz="2100">
                <a:solidFill>
                  <a:schemeClr val="dk1"/>
                </a:solidFill>
              </a:rPr>
              <a:t>,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right</a:t>
            </a:r>
            <a:r>
              <a:rPr lang="en-US" sz="2100">
                <a:solidFill>
                  <a:schemeClr val="dk1"/>
                </a:solidFill>
              </a:rPr>
              <a:t>,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center</a:t>
            </a:r>
            <a:r>
              <a:rPr lang="en-US" sz="2100">
                <a:solidFill>
                  <a:schemeClr val="dk1"/>
                </a:solidFill>
              </a:rPr>
              <a:t>, dan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justify</a:t>
            </a:r>
            <a:r>
              <a:rPr lang="en-US" sz="2100">
                <a:solidFill>
                  <a:schemeClr val="dk1"/>
                </a:solidFill>
              </a:rPr>
              <a:t>.</a:t>
            </a:r>
            <a:endParaRPr sz="2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Contoh:</a:t>
            </a:r>
            <a:endParaRPr sz="2100">
              <a:solidFill>
                <a:schemeClr val="dk1"/>
              </a:solidFill>
            </a:endParaRPr>
          </a:p>
          <a:p>
            <a:pPr marL="0" marR="0" lvl="0" indent="0" algn="l" rtl="0">
              <a:lnSpc>
                <a:spcPct val="115000"/>
              </a:lnSpc>
              <a:spcBef>
                <a:spcPts val="1400"/>
              </a:spcBef>
              <a:spcAft>
                <a:spcPts val="0"/>
              </a:spcAft>
              <a:buClr>
                <a:schemeClr val="dk1"/>
              </a:buClr>
              <a:buSzPts val="1100"/>
              <a:buFont typeface="Arial" panose="020B0604020202090204"/>
              <a:buNone/>
            </a:pPr>
            <a:endParaRPr sz="3400" b="1">
              <a:solidFill>
                <a:schemeClr val="dk1"/>
              </a:solidFill>
            </a:endParaRPr>
          </a:p>
          <a:p>
            <a:pPr marL="457200" marR="0" lvl="0" indent="0" algn="l" rtl="0">
              <a:lnSpc>
                <a:spcPct val="115000"/>
              </a:lnSpc>
              <a:spcBef>
                <a:spcPts val="1200"/>
              </a:spcBef>
              <a:spcAft>
                <a:spcPts val="0"/>
              </a:spcAft>
              <a:buClr>
                <a:srgbClr val="000000"/>
              </a:buClr>
              <a:buSzPts val="2200"/>
              <a:buFont typeface="Arial" panose="020B0604020202090204"/>
              <a:buNone/>
            </a:pPr>
            <a:endParaRPr sz="3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457200" marR="0" lvl="0" indent="0" algn="l" rtl="0">
              <a:lnSpc>
                <a:spcPct val="115000"/>
              </a:lnSpc>
              <a:spcBef>
                <a:spcPts val="1200"/>
              </a:spcBef>
              <a:spcAft>
                <a:spcPts val="0"/>
              </a:spcAft>
              <a:buClr>
                <a:srgbClr val="000000"/>
              </a:buClr>
              <a:buSzPts val="2200"/>
              <a:buFont typeface="Arial" panose="020B0604020202090204"/>
              <a:buNone/>
            </a:pPr>
            <a:endParaRPr sz="32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21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69" name="Google Shape;169;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6"/>
          <p:cNvSpPr txBox="1"/>
          <p:nvPr/>
        </p:nvSpPr>
        <p:spPr>
          <a:xfrm>
            <a:off x="3695075" y="942025"/>
            <a:ext cx="9109200" cy="785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5100" b="1">
                <a:solidFill>
                  <a:srgbClr val="343434"/>
                </a:solidFill>
              </a:rPr>
              <a:t>Pengaturan Alignment Teks</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1" name="Google Shape;171;p6"/>
          <p:cNvPicPr preferRelativeResize="0"/>
          <p:nvPr/>
        </p:nvPicPr>
        <p:blipFill>
          <a:blip r:embed="rId2"/>
          <a:stretch>
            <a:fillRect/>
          </a:stretch>
        </p:blipFill>
        <p:spPr>
          <a:xfrm>
            <a:off x="5552675" y="4045025"/>
            <a:ext cx="9109201" cy="6072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75" name="Shape 175"/>
        <p:cNvGrpSpPr/>
        <p:nvPr/>
      </p:nvGrpSpPr>
      <p:grpSpPr>
        <a:xfrm>
          <a:off x="0" y="0"/>
          <a:ext cx="0" cy="0"/>
          <a:chOff x="0" y="0"/>
          <a:chExt cx="0" cy="0"/>
        </a:xfrm>
      </p:grpSpPr>
      <p:sp>
        <p:nvSpPr>
          <p:cNvPr id="176" name="Google Shape;176;p7"/>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77" name="Google Shape;177;p7"/>
          <p:cNvSpPr/>
          <p:nvPr/>
        </p:nvSpPr>
        <p:spPr>
          <a:xfrm>
            <a:off x="13327633" y="1947506"/>
            <a:ext cx="4652055" cy="6106516"/>
          </a:xfrm>
          <a:custGeom>
            <a:avLst/>
            <a:gdLst/>
            <a:ahLst/>
            <a:cxnLst/>
            <a:rect l="l" t="t" r="r" b="b"/>
            <a:pathLst>
              <a:path w="4652055" h="6106516" extrusionOk="0">
                <a:moveTo>
                  <a:pt x="0" y="0"/>
                </a:moveTo>
                <a:lnTo>
                  <a:pt x="4652055" y="0"/>
                </a:lnTo>
                <a:lnTo>
                  <a:pt x="4652055" y="6106516"/>
                </a:lnTo>
                <a:lnTo>
                  <a:pt x="0" y="6106516"/>
                </a:lnTo>
                <a:lnTo>
                  <a:pt x="0" y="0"/>
                </a:lnTo>
                <a:close/>
              </a:path>
            </a:pathLst>
          </a:custGeom>
          <a:blipFill rotWithShape="1">
            <a:blip r:embed="rId2"/>
            <a:stretch>
              <a:fillRect/>
            </a:stretch>
          </a:blipFill>
          <a:ln>
            <a:noFill/>
          </a:ln>
        </p:spPr>
      </p:sp>
      <p:sp>
        <p:nvSpPr>
          <p:cNvPr id="178" name="Google Shape;178;p7"/>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9" name="Google Shape;179;p7"/>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0" name="Google Shape;180;p7"/>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1" name="Google Shape;181;p7"/>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2" name="Google Shape;182;p7"/>
          <p:cNvSpPr txBox="1"/>
          <p:nvPr/>
        </p:nvSpPr>
        <p:spPr>
          <a:xfrm>
            <a:off x="985325" y="1947500"/>
            <a:ext cx="11226300" cy="5909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HTML juga menyediakan cara untuk membuat daftar, baik daftar terurut maupun tidak terurut.</a:t>
            </a: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4.1. Daftar Tidak Terurut</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Daftar tidak terurut menggunakan tag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&lt;ul&gt;</a:t>
            </a:r>
            <a:r>
              <a:rPr lang="en-US" sz="2200">
                <a:solidFill>
                  <a:schemeClr val="dk1"/>
                </a:solidFill>
              </a:rPr>
              <a:t> dan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&lt;li&gt;</a:t>
            </a:r>
            <a:r>
              <a:rPr lang="en-US" sz="2200">
                <a:solidFill>
                  <a:schemeClr val="dk1"/>
                </a:solidFill>
              </a:rPr>
              <a:t>.</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4.2. Daftar Terurut</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Daftar terurut menggunakan tag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&lt;ol&gt;</a:t>
            </a:r>
            <a:r>
              <a:rPr lang="en-US" sz="2200">
                <a:solidFill>
                  <a:schemeClr val="dk1"/>
                </a:solidFill>
              </a:rPr>
              <a:t> dan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&lt;li&gt;</a:t>
            </a:r>
            <a:r>
              <a:rPr lang="en-US" sz="2200">
                <a:solidFill>
                  <a:schemeClr val="dk1"/>
                </a:solidFill>
              </a:rPr>
              <a:t>.</a:t>
            </a:r>
            <a:endParaRPr sz="22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300" b="1">
              <a:solidFill>
                <a:schemeClr val="dk1"/>
              </a:solidFill>
            </a:endParaRPr>
          </a:p>
        </p:txBody>
      </p:sp>
      <p:sp>
        <p:nvSpPr>
          <p:cNvPr id="183" name="Google Shape;183;p7"/>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4" name="Google Shape;184;p7"/>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5" name="Google Shape;185;p7"/>
          <p:cNvSpPr txBox="1"/>
          <p:nvPr/>
        </p:nvSpPr>
        <p:spPr>
          <a:xfrm>
            <a:off x="3695075" y="942025"/>
            <a:ext cx="9109200" cy="785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000"/>
              <a:buFont typeface="Arial" panose="020B0604020202090204"/>
              <a:buNone/>
            </a:pPr>
            <a:r>
              <a:rPr lang="en-US" sz="5100" b="1">
                <a:solidFill>
                  <a:srgbClr val="343434"/>
                </a:solidFill>
              </a:rPr>
              <a:t>List Teks</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86" name="Google Shape;186;p7"/>
          <p:cNvPicPr preferRelativeResize="0"/>
          <p:nvPr/>
        </p:nvPicPr>
        <p:blipFill>
          <a:blip r:embed="rId3"/>
          <a:stretch>
            <a:fillRect/>
          </a:stretch>
        </p:blipFill>
        <p:spPr>
          <a:xfrm>
            <a:off x="985325" y="4058950"/>
            <a:ext cx="10687050" cy="1932700"/>
          </a:xfrm>
          <a:prstGeom prst="rect">
            <a:avLst/>
          </a:prstGeom>
          <a:noFill/>
          <a:ln>
            <a:noFill/>
          </a:ln>
        </p:spPr>
      </p:pic>
      <p:pic>
        <p:nvPicPr>
          <p:cNvPr id="187" name="Google Shape;187;p7"/>
          <p:cNvPicPr preferRelativeResize="0"/>
          <p:nvPr/>
        </p:nvPicPr>
        <p:blipFill>
          <a:blip r:embed="rId4"/>
          <a:stretch>
            <a:fillRect/>
          </a:stretch>
        </p:blipFill>
        <p:spPr>
          <a:xfrm>
            <a:off x="985325" y="7254100"/>
            <a:ext cx="10687050" cy="2398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91" name="Shape 191"/>
        <p:cNvGrpSpPr/>
        <p:nvPr/>
      </p:nvGrpSpPr>
      <p:grpSpPr>
        <a:xfrm>
          <a:off x="0" y="0"/>
          <a:ext cx="0" cy="0"/>
          <a:chOff x="0" y="0"/>
          <a:chExt cx="0" cy="0"/>
        </a:xfrm>
      </p:grpSpPr>
      <p:sp>
        <p:nvSpPr>
          <p:cNvPr id="192" name="Google Shape;192;p8"/>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3" name="Google Shape;193;p8"/>
          <p:cNvSpPr/>
          <p:nvPr/>
        </p:nvSpPr>
        <p:spPr>
          <a:xfrm>
            <a:off x="12064459" y="1803314"/>
            <a:ext cx="6034097" cy="6718124"/>
          </a:xfrm>
          <a:custGeom>
            <a:avLst/>
            <a:gdLst/>
            <a:ahLst/>
            <a:cxnLst/>
            <a:rect l="l" t="t" r="r" b="b"/>
            <a:pathLst>
              <a:path w="6034097" h="6718124" extrusionOk="0">
                <a:moveTo>
                  <a:pt x="0" y="0"/>
                </a:moveTo>
                <a:lnTo>
                  <a:pt x="6034097" y="0"/>
                </a:lnTo>
                <a:lnTo>
                  <a:pt x="6034097" y="6718124"/>
                </a:lnTo>
                <a:lnTo>
                  <a:pt x="0" y="6718124"/>
                </a:lnTo>
                <a:lnTo>
                  <a:pt x="0" y="0"/>
                </a:lnTo>
                <a:close/>
              </a:path>
            </a:pathLst>
          </a:custGeom>
          <a:blipFill rotWithShape="1">
            <a:blip r:embed="rId2"/>
            <a:stretch>
              <a:fillRect/>
            </a:stretch>
          </a:blipFill>
          <a:ln>
            <a:noFill/>
          </a:ln>
        </p:spPr>
      </p:sp>
      <p:sp>
        <p:nvSpPr>
          <p:cNvPr id="194" name="Google Shape;194;p8"/>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5" name="Google Shape;195;p8"/>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6" name="Google Shape;196;p8"/>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7" name="Google Shape;197;p8"/>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8" name="Google Shape;198;p8"/>
          <p:cNvSpPr txBox="1"/>
          <p:nvPr/>
        </p:nvSpPr>
        <p:spPr>
          <a:xfrm>
            <a:off x="898125" y="2678025"/>
            <a:ext cx="11421600" cy="1018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100">
                <a:solidFill>
                  <a:schemeClr val="dk1"/>
                </a:solidFill>
              </a:rPr>
              <a:t>Teks juga dapat diatur dalam tabel menggunakan tag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&lt;table&gt;</a:t>
            </a:r>
            <a:r>
              <a:rPr lang="en-US" sz="2100">
                <a:solidFill>
                  <a:schemeClr val="dk1"/>
                </a:solidFill>
              </a:rPr>
              <a:t>,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&lt;tr&gt;</a:t>
            </a:r>
            <a:r>
              <a:rPr lang="en-US" sz="2100">
                <a:solidFill>
                  <a:schemeClr val="dk1"/>
                </a:solidFill>
              </a:rPr>
              <a:t>,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&lt;th&gt;</a:t>
            </a:r>
            <a:r>
              <a:rPr lang="en-US" sz="2100">
                <a:solidFill>
                  <a:schemeClr val="dk1"/>
                </a:solidFill>
              </a:rPr>
              <a:t>, dan </a:t>
            </a:r>
            <a:r>
              <a:rPr lang="en-US" sz="2100">
                <a:solidFill>
                  <a:srgbClr val="188038"/>
                </a:solidFill>
                <a:latin typeface="Roboto Mono" panose="00000009000000000000"/>
                <a:ea typeface="Roboto Mono" panose="00000009000000000000"/>
                <a:cs typeface="Roboto Mono" panose="00000009000000000000"/>
                <a:sym typeface="Roboto Mono" panose="00000009000000000000"/>
              </a:rPr>
              <a:t>&lt;td&gt;</a:t>
            </a:r>
            <a:r>
              <a:rPr lang="en-US" sz="2100">
                <a:solidFill>
                  <a:schemeClr val="dk1"/>
                </a:solidFill>
              </a:rPr>
              <a:t>.</a:t>
            </a:r>
            <a:endParaRPr sz="21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200" b="1">
              <a:solidFill>
                <a:schemeClr val="dk1"/>
              </a:solidFill>
            </a:endParaRPr>
          </a:p>
        </p:txBody>
      </p:sp>
      <p:sp>
        <p:nvSpPr>
          <p:cNvPr id="199" name="Google Shape;199;p8"/>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08</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0" name="Google Shape;200;p8"/>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1" name="Google Shape;201;p8"/>
          <p:cNvSpPr txBox="1"/>
          <p:nvPr/>
        </p:nvSpPr>
        <p:spPr>
          <a:xfrm>
            <a:off x="3695075" y="942025"/>
            <a:ext cx="9109200" cy="785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000"/>
              <a:buFont typeface="Arial" panose="020B0604020202090204"/>
              <a:buNone/>
            </a:pPr>
            <a:r>
              <a:rPr lang="en-US" sz="5100" b="1">
                <a:solidFill>
                  <a:srgbClr val="343434"/>
                </a:solidFill>
              </a:rPr>
              <a:t>Teks dalam Tabel</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202" name="Google Shape;202;p8"/>
          <p:cNvPicPr preferRelativeResize="0"/>
          <p:nvPr/>
        </p:nvPicPr>
        <p:blipFill>
          <a:blip r:embed="rId3"/>
          <a:stretch>
            <a:fillRect/>
          </a:stretch>
        </p:blipFill>
        <p:spPr>
          <a:xfrm>
            <a:off x="993350" y="3223650"/>
            <a:ext cx="10687050" cy="6629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206" name="Shape 206"/>
        <p:cNvGrpSpPr/>
        <p:nvPr/>
      </p:nvGrpSpPr>
      <p:grpSpPr>
        <a:xfrm>
          <a:off x="0" y="0"/>
          <a:ext cx="0" cy="0"/>
          <a:chOff x="0" y="0"/>
          <a:chExt cx="0" cy="0"/>
        </a:xfrm>
      </p:grpSpPr>
      <p:sp>
        <p:nvSpPr>
          <p:cNvPr id="207" name="Google Shape;207;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208" name="Google Shape;208;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209" name="Google Shape;209;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0" name="Google Shape;210;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1" name="Google Shape;211;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2" name="Google Shape;212;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3" name="Google Shape;213;g33064f6f14d_0_24"/>
          <p:cNvSpPr txBox="1"/>
          <p:nvPr/>
        </p:nvSpPr>
        <p:spPr>
          <a:xfrm>
            <a:off x="1662475" y="3202200"/>
            <a:ext cx="13971900" cy="2081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1200"/>
              </a:spcBef>
              <a:spcAft>
                <a:spcPts val="0"/>
              </a:spcAft>
              <a:buClr>
                <a:srgbClr val="000000"/>
              </a:buClr>
              <a:buSzPts val="1700"/>
              <a:buFont typeface="Arial" panose="020B0604020202090204"/>
              <a:buNone/>
            </a:pPr>
            <a:r>
              <a:rPr lang="en-US" sz="2600" b="1">
                <a:solidFill>
                  <a:schemeClr val="dk1"/>
                </a:solidFill>
              </a:rPr>
              <a:t>Pengaturan teks dalam HTML sangat penting untuk menciptakan halaman web yang terstruktur dan mudah dibaca. Dengan memahami berbagai elemen dan atribut yang ada, Anda dapat mengatur teks sesuai kebutuhan. Selalu ingat untuk menggunakan CSS untuk pengaturan gaya yang lebih fleksibel dan menarik.</a:t>
            </a:r>
            <a:endParaRPr sz="26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214" name="Google Shape;214;g33064f6f14d_0_24"/>
          <p:cNvSpPr txBox="1"/>
          <p:nvPr/>
        </p:nvSpPr>
        <p:spPr>
          <a:xfrm>
            <a:off x="16253563" y="8991600"/>
            <a:ext cx="1005600" cy="2310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15" name="Google Shape;215;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219" name="Shape 219"/>
        <p:cNvGrpSpPr/>
        <p:nvPr/>
      </p:nvGrpSpPr>
      <p:grpSpPr>
        <a:xfrm>
          <a:off x="0" y="0"/>
          <a:ext cx="0" cy="0"/>
          <a:chOff x="0" y="0"/>
          <a:chExt cx="0" cy="0"/>
        </a:xfrm>
      </p:grpSpPr>
      <p:sp>
        <p:nvSpPr>
          <p:cNvPr id="220" name="Google Shape;220;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221" name="Google Shape;221;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22" name="Google Shape;222;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223" name="Google Shape;223;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224" name="Google Shape;224;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225" name="Google Shape;225;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226" name="Google Shape;226;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227" name="Google Shape;227;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28" name="Google Shape;228;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29" name="Google Shape;229;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30" name="Google Shape;230;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31" name="Google Shape;231;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32" name="Google Shape;232;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2947</Words>
  <Application>WPS Presentation</Application>
  <PresentationFormat/>
  <Paragraphs>198</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2025-02-17T08:53:51Z</dcterms:created>
  <dcterms:modified xsi:type="dcterms:W3CDTF">2025-02-17T08:53:51Z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AA051B4A0C2454721FF9B267CF2BC7F5_42</vt:lpwstr>
  </property>
  <property fmtid="{D5CDD505-2E9C-101B-9397-08002B2CF9AE}" pid="3" name="KSOProductBuildVer">
    <vt:lpwstr>1033-6.11.0.8603</vt:lpwstr>
  </property>
</Properties>
</file>