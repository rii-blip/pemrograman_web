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8288000" cy="10287000"/>
  <p:notesSz cx="6858000" cy="9144000"/>
  <p:embeddedFontLst>
    <p:embeddedFont>
      <p:font typeface="DM Sans"/>
      <p:regular r:id="rId15"/>
    </p:embeddedFont>
    <p:embeddedFont>
      <p:font typeface="Roboto Mono" panose="00000009000000000000"/>
      <p:regular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2160"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font" Target="fonts/font2.fntdata"/><Relationship Id="rId15" Type="http://schemas.openxmlformats.org/officeDocument/2006/relationships/font" Target="fonts/font1.fntdata"/><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914400" marR="0" lvl="1"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1371600" marR="0" lvl="2"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828800" marR="0" lvl="3"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2286000" marR="0" lvl="4"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743200" marR="0" lvl="5"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3200400" marR="0" lvl="6"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657600" marR="0" lvl="7"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4114800" marR="0" lvl="8"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 name="Shape 99"/>
        <p:cNvGrpSpPr/>
        <p:nvPr/>
      </p:nvGrpSpPr>
      <p:grpSpPr>
        <a:xfrm>
          <a:off x="0" y="0"/>
          <a:ext cx="0" cy="0"/>
          <a:chOff x="0" y="0"/>
          <a:chExt cx="0" cy="0"/>
        </a:xfrm>
      </p:grpSpPr>
      <p:sp>
        <p:nvSpPr>
          <p:cNvPr id="100" name="Google Shape;100;p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01" name="Google Shape;101;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5" name="Shape 115"/>
        <p:cNvGrpSpPr/>
        <p:nvPr/>
      </p:nvGrpSpPr>
      <p:grpSpPr>
        <a:xfrm>
          <a:off x="0" y="0"/>
          <a:ext cx="0" cy="0"/>
          <a:chOff x="0" y="0"/>
          <a:chExt cx="0" cy="0"/>
        </a:xfrm>
      </p:grpSpPr>
      <p:sp>
        <p:nvSpPr>
          <p:cNvPr id="116" name="Google Shape;116;p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17" name="Google Shape;117;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1" name="Shape 131"/>
        <p:cNvGrpSpPr/>
        <p:nvPr/>
      </p:nvGrpSpPr>
      <p:grpSpPr>
        <a:xfrm>
          <a:off x="0" y="0"/>
          <a:ext cx="0" cy="0"/>
          <a:chOff x="0" y="0"/>
          <a:chExt cx="0" cy="0"/>
        </a:xfrm>
      </p:grpSpPr>
      <p:sp>
        <p:nvSpPr>
          <p:cNvPr id="132" name="Google Shape;132;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33" name="Google Shape;133;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4" name="Shape 144"/>
        <p:cNvGrpSpPr/>
        <p:nvPr/>
      </p:nvGrpSpPr>
      <p:grpSpPr>
        <a:xfrm>
          <a:off x="0" y="0"/>
          <a:ext cx="0" cy="0"/>
          <a:chOff x="0" y="0"/>
          <a:chExt cx="0" cy="0"/>
        </a:xfrm>
      </p:grpSpPr>
      <p:sp>
        <p:nvSpPr>
          <p:cNvPr id="145" name="Google Shape;145;p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46" name="Google Shape;146;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8" name="Shape 158"/>
        <p:cNvGrpSpPr/>
        <p:nvPr/>
      </p:nvGrpSpPr>
      <p:grpSpPr>
        <a:xfrm>
          <a:off x="0" y="0"/>
          <a:ext cx="0" cy="0"/>
          <a:chOff x="0" y="0"/>
          <a:chExt cx="0" cy="0"/>
        </a:xfrm>
      </p:grpSpPr>
      <p:sp>
        <p:nvSpPr>
          <p:cNvPr id="159" name="Google Shape;159;p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60" name="Google Shape;160;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2" name="Shape 172"/>
        <p:cNvGrpSpPr/>
        <p:nvPr/>
      </p:nvGrpSpPr>
      <p:grpSpPr>
        <a:xfrm>
          <a:off x="0" y="0"/>
          <a:ext cx="0" cy="0"/>
          <a:chOff x="0" y="0"/>
          <a:chExt cx="0" cy="0"/>
        </a:xfrm>
      </p:grpSpPr>
      <p:sp>
        <p:nvSpPr>
          <p:cNvPr id="173" name="Google Shape;173;g33064f6f14d_0_2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74" name="Google Shape;174;g33064f6f14d_0_24: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87" name="Google Shape;187;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24" name="Google Shape;24;p1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36" name="Google Shape;36;p16"/>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37" name="Google Shape;37;p1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43" name="Google Shape;43;p1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44" name="Google Shape;44;p1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45" name="Google Shape;45;p1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46" name="Google Shape;46;p1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p:txBody>
      </p:sp>
      <p:sp>
        <p:nvSpPr>
          <p:cNvPr id="57" name="Google Shape;57;p1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58" name="Google Shape;58;p1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type="pic" idx="2"/>
          </p:nvPr>
        </p:nvSpPr>
        <p:spPr>
          <a:xfrm>
            <a:off x="1792288" y="612775"/>
            <a:ext cx="5486400" cy="4114800"/>
          </a:xfrm>
          <a:prstGeom prst="rect">
            <a:avLst/>
          </a:prstGeom>
          <a:noFill/>
          <a:ln>
            <a:noFill/>
          </a:ln>
        </p:spPr>
      </p:sp>
      <p:sp>
        <p:nvSpPr>
          <p:cNvPr id="64" name="Google Shape;64;p2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65" name="Google Shape;65;p2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1" name="Google Shape;71;p2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7" name="Google Shape;77;p2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
        <p:nvSpPr>
          <p:cNvPr id="7" name="Google Shape;7;p1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panose="020B0604020202090204"/>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9pPr>
          </a:lstStyle>
          <a:p/>
        </p:txBody>
      </p:sp>
      <p:sp>
        <p:nvSpPr>
          <p:cNvPr id="8" name="Google Shape;8;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9" name="Google Shape;9;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10" name="Google Shape;10;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83" name="Shape 83"/>
        <p:cNvGrpSpPr/>
        <p:nvPr/>
      </p:nvGrpSpPr>
      <p:grpSpPr>
        <a:xfrm>
          <a:off x="0" y="0"/>
          <a:ext cx="0" cy="0"/>
          <a:chOff x="0" y="0"/>
          <a:chExt cx="0" cy="0"/>
        </a:xfrm>
      </p:grpSpPr>
      <p:sp>
        <p:nvSpPr>
          <p:cNvPr id="84" name="Google Shape;84;p1"/>
          <p:cNvSpPr/>
          <p:nvPr/>
        </p:nvSpPr>
        <p:spPr>
          <a:xfrm>
            <a:off x="-722887" y="-4247682"/>
            <a:ext cx="19258069" cy="19258069"/>
          </a:xfrm>
          <a:custGeom>
            <a:avLst/>
            <a:gdLst/>
            <a:ahLst/>
            <a:cxnLst/>
            <a:rect l="l" t="t" r="r" b="b"/>
            <a:pathLst>
              <a:path w="19258069" h="19258069" extrusionOk="0">
                <a:moveTo>
                  <a:pt x="0" y="0"/>
                </a:moveTo>
                <a:lnTo>
                  <a:pt x="19258069" y="0"/>
                </a:lnTo>
                <a:lnTo>
                  <a:pt x="19258069" y="19258069"/>
                </a:lnTo>
                <a:lnTo>
                  <a:pt x="0" y="19258069"/>
                </a:lnTo>
                <a:lnTo>
                  <a:pt x="0" y="0"/>
                </a:lnTo>
                <a:close/>
              </a:path>
            </a:pathLst>
          </a:custGeom>
          <a:blipFill rotWithShape="1">
            <a:blip r:embed="rId1">
              <a:alphaModFix amt="4000"/>
            </a:blip>
            <a:stretch>
              <a:fillRect/>
            </a:stretch>
          </a:blipFill>
          <a:ln>
            <a:noFill/>
          </a:ln>
        </p:spPr>
      </p:sp>
      <p:sp>
        <p:nvSpPr>
          <p:cNvPr id="85" name="Google Shape;85;p1"/>
          <p:cNvSpPr/>
          <p:nvPr/>
        </p:nvSpPr>
        <p:spPr>
          <a:xfrm>
            <a:off x="11218332" y="2731879"/>
            <a:ext cx="3701593" cy="4723610"/>
          </a:xfrm>
          <a:custGeom>
            <a:avLst/>
            <a:gdLst/>
            <a:ahLst/>
            <a:cxnLst/>
            <a:rect l="l" t="t" r="r" b="b"/>
            <a:pathLst>
              <a:path w="3701593" h="4723610" extrusionOk="0">
                <a:moveTo>
                  <a:pt x="0" y="0"/>
                </a:moveTo>
                <a:lnTo>
                  <a:pt x="3701593" y="0"/>
                </a:lnTo>
                <a:lnTo>
                  <a:pt x="3701593" y="4723610"/>
                </a:lnTo>
                <a:lnTo>
                  <a:pt x="0" y="4723610"/>
                </a:lnTo>
                <a:lnTo>
                  <a:pt x="0" y="0"/>
                </a:lnTo>
                <a:close/>
              </a:path>
            </a:pathLst>
          </a:custGeom>
          <a:blipFill rotWithShape="1">
            <a:blip r:embed="rId2"/>
            <a:stretch>
              <a:fillRect/>
            </a:stretch>
          </a:blipFill>
          <a:ln>
            <a:noFill/>
          </a:ln>
        </p:spPr>
      </p:sp>
      <p:sp>
        <p:nvSpPr>
          <p:cNvPr id="86" name="Google Shape;86;p1"/>
          <p:cNvSpPr/>
          <p:nvPr/>
        </p:nvSpPr>
        <p:spPr>
          <a:xfrm>
            <a:off x="9456031" y="5686468"/>
            <a:ext cx="3718302" cy="2393234"/>
          </a:xfrm>
          <a:custGeom>
            <a:avLst/>
            <a:gdLst/>
            <a:ahLst/>
            <a:cxnLst/>
            <a:rect l="l" t="t" r="r" b="b"/>
            <a:pathLst>
              <a:path w="3718302" h="2393234" extrusionOk="0">
                <a:moveTo>
                  <a:pt x="0" y="0"/>
                </a:moveTo>
                <a:lnTo>
                  <a:pt x="3718301" y="0"/>
                </a:lnTo>
                <a:lnTo>
                  <a:pt x="3718301" y="2393234"/>
                </a:lnTo>
                <a:lnTo>
                  <a:pt x="0" y="2393234"/>
                </a:lnTo>
                <a:lnTo>
                  <a:pt x="0" y="0"/>
                </a:lnTo>
                <a:close/>
              </a:path>
            </a:pathLst>
          </a:custGeom>
          <a:blipFill rotWithShape="1">
            <a:blip r:embed="rId3"/>
            <a:stretch>
              <a:fillRect/>
            </a:stretch>
          </a:blipFill>
          <a:ln>
            <a:noFill/>
          </a:ln>
        </p:spPr>
      </p:sp>
      <p:sp>
        <p:nvSpPr>
          <p:cNvPr id="87" name="Google Shape;87;p1"/>
          <p:cNvSpPr/>
          <p:nvPr/>
        </p:nvSpPr>
        <p:spPr>
          <a:xfrm>
            <a:off x="14377104" y="3974852"/>
            <a:ext cx="2882196" cy="3943304"/>
          </a:xfrm>
          <a:custGeom>
            <a:avLst/>
            <a:gdLst/>
            <a:ahLst/>
            <a:cxnLst/>
            <a:rect l="l" t="t" r="r" b="b"/>
            <a:pathLst>
              <a:path w="2882196" h="3943304" extrusionOk="0">
                <a:moveTo>
                  <a:pt x="0" y="0"/>
                </a:moveTo>
                <a:lnTo>
                  <a:pt x="2882196" y="0"/>
                </a:lnTo>
                <a:lnTo>
                  <a:pt x="2882196" y="3943304"/>
                </a:lnTo>
                <a:lnTo>
                  <a:pt x="0" y="3943304"/>
                </a:lnTo>
                <a:lnTo>
                  <a:pt x="0" y="0"/>
                </a:lnTo>
                <a:close/>
              </a:path>
            </a:pathLst>
          </a:custGeom>
          <a:blipFill rotWithShape="1">
            <a:blip r:embed="rId4"/>
            <a:stretch>
              <a:fillRect/>
            </a:stretch>
          </a:blipFill>
          <a:ln>
            <a:noFill/>
          </a:ln>
        </p:spPr>
      </p:sp>
      <p:sp>
        <p:nvSpPr>
          <p:cNvPr id="88" name="Google Shape;88;p1"/>
          <p:cNvSpPr txBox="1"/>
          <p:nvPr/>
        </p:nvSpPr>
        <p:spPr>
          <a:xfrm>
            <a:off x="1028700" y="3098954"/>
            <a:ext cx="9904500" cy="14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9313"/>
              <a:buFont typeface="Arial" panose="020B0604020202090204"/>
              <a:buNone/>
            </a:pPr>
            <a:r>
              <a:rPr lang="en-US" sz="9315" b="1" i="0" u="none" strike="noStrike" cap="none">
                <a:solidFill>
                  <a:srgbClr val="343434"/>
                </a:solidFill>
                <a:latin typeface="Arial" panose="020B0604020202090204"/>
                <a:ea typeface="Arial" panose="020B0604020202090204"/>
                <a:cs typeface="Arial" panose="020B0604020202090204"/>
                <a:sym typeface="Arial" panose="020B0604020202090204"/>
              </a:rPr>
              <a:t>PEMROGRAMAN </a:t>
            </a:r>
            <a:endParaRPr sz="5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89" name="Google Shape;89;p1"/>
          <p:cNvSpPr txBox="1"/>
          <p:nvPr/>
        </p:nvSpPr>
        <p:spPr>
          <a:xfrm>
            <a:off x="1028700" y="4620822"/>
            <a:ext cx="8626948" cy="208144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0463"/>
              <a:buFont typeface="Arial" panose="020B0604020202090204"/>
              <a:buNone/>
            </a:pPr>
            <a:r>
              <a:rPr lang="en-US" sz="10465" b="0" i="0" u="none" strike="noStrike" cap="none">
                <a:solidFill>
                  <a:srgbClr val="343434"/>
                </a:solidFill>
                <a:latin typeface="Arial" panose="020B0604020202090204"/>
                <a:ea typeface="Arial" panose="020B0604020202090204"/>
                <a:cs typeface="Arial" panose="020B0604020202090204"/>
                <a:sym typeface="Arial" panose="020B0604020202090204"/>
              </a:rPr>
              <a:t>WEB 1</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0" name="Google Shape;90;p1"/>
          <p:cNvSpPr txBox="1"/>
          <p:nvPr/>
        </p:nvSpPr>
        <p:spPr>
          <a:xfrm>
            <a:off x="1055075" y="589884"/>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1" name="Google Shape;91;p1"/>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2" name="Google Shape;92;p1"/>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3" name="Google Shape;93;p1"/>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4" name="Google Shape;94;p1"/>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5" name="Google Shape;95;p1"/>
          <p:cNvSpPr txBox="1"/>
          <p:nvPr/>
        </p:nvSpPr>
        <p:spPr>
          <a:xfrm>
            <a:off x="1055075" y="7364050"/>
            <a:ext cx="9164400" cy="5541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3599"/>
              <a:buFont typeface="Arial" panose="020B0604020202090204"/>
              <a:buNone/>
            </a:pPr>
            <a:r>
              <a:rPr lang="en-US" sz="3600" b="0" i="0" u="none" strike="noStrike" cap="none">
                <a:solidFill>
                  <a:srgbClr val="343434"/>
                </a:solidFill>
                <a:latin typeface="DM Sans"/>
                <a:ea typeface="DM Sans"/>
                <a:cs typeface="DM Sans"/>
                <a:sym typeface="DM Sans"/>
              </a:rPr>
              <a:t># </a:t>
            </a:r>
            <a:r>
              <a:rPr lang="en-US" sz="3600">
                <a:solidFill>
                  <a:srgbClr val="343434"/>
                </a:solidFill>
                <a:latin typeface="DM Sans"/>
                <a:ea typeface="DM Sans"/>
                <a:cs typeface="DM Sans"/>
                <a:sym typeface="DM Sans"/>
              </a:rPr>
              <a:t>Foto dan Video pada Halaman Web</a:t>
            </a:r>
            <a:endParaRPr sz="3600" b="0" i="0" u="none" strike="noStrike" cap="none">
              <a:solidFill>
                <a:srgbClr val="343434"/>
              </a:solidFill>
              <a:latin typeface="DM Sans"/>
              <a:ea typeface="DM Sans"/>
              <a:cs typeface="DM Sans"/>
              <a:sym typeface="DM Sans"/>
            </a:endParaRPr>
          </a:p>
        </p:txBody>
      </p:sp>
      <p:sp>
        <p:nvSpPr>
          <p:cNvPr id="96" name="Google Shape;96;p1"/>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01</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8" name="Google Shape;98;p1"/>
          <p:cNvSpPr txBox="1"/>
          <p:nvPr/>
        </p:nvSpPr>
        <p:spPr>
          <a:xfrm>
            <a:off x="1207475" y="6790746"/>
            <a:ext cx="7793100" cy="554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3599"/>
              <a:buFont typeface="Arial" panose="020B0604020202090204"/>
              <a:buNone/>
            </a:pPr>
            <a:r>
              <a:rPr lang="en-US" sz="3600" b="0" i="0" u="none" strike="noStrike" cap="none">
                <a:solidFill>
                  <a:srgbClr val="343434"/>
                </a:solidFill>
                <a:latin typeface="DM Sans"/>
                <a:ea typeface="DM Sans"/>
                <a:cs typeface="DM Sans"/>
                <a:sym typeface="DM Sans"/>
              </a:rPr>
              <a:t>Pertemuan #</a:t>
            </a:r>
            <a:r>
              <a:rPr lang="en-US" sz="3600">
                <a:solidFill>
                  <a:srgbClr val="343434"/>
                </a:solidFill>
                <a:latin typeface="DM Sans"/>
                <a:ea typeface="DM Sans"/>
                <a:cs typeface="DM Sans"/>
                <a:sym typeface="DM Sans"/>
              </a:rPr>
              <a:t>6</a:t>
            </a:r>
            <a:endParaRPr sz="3600" b="0" i="0" u="none" strike="noStrike" cap="none">
              <a:solidFill>
                <a:srgbClr val="343434"/>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02" name="Shape 102"/>
        <p:cNvGrpSpPr/>
        <p:nvPr/>
      </p:nvGrpSpPr>
      <p:grpSpPr>
        <a:xfrm>
          <a:off x="0" y="0"/>
          <a:ext cx="0" cy="0"/>
          <a:chOff x="0" y="0"/>
          <a:chExt cx="0" cy="0"/>
        </a:xfrm>
      </p:grpSpPr>
      <p:sp>
        <p:nvSpPr>
          <p:cNvPr id="103" name="Google Shape;103;p2"/>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04" name="Google Shape;104;p2"/>
          <p:cNvSpPr/>
          <p:nvPr/>
        </p:nvSpPr>
        <p:spPr>
          <a:xfrm>
            <a:off x="12051477" y="2039141"/>
            <a:ext cx="5610468" cy="6246472"/>
          </a:xfrm>
          <a:custGeom>
            <a:avLst/>
            <a:gdLst/>
            <a:ahLst/>
            <a:cxnLst/>
            <a:rect l="l" t="t" r="r" b="b"/>
            <a:pathLst>
              <a:path w="5610468" h="6246472" extrusionOk="0">
                <a:moveTo>
                  <a:pt x="0" y="0"/>
                </a:moveTo>
                <a:lnTo>
                  <a:pt x="5610468" y="0"/>
                </a:lnTo>
                <a:lnTo>
                  <a:pt x="5610468" y="6246472"/>
                </a:lnTo>
                <a:lnTo>
                  <a:pt x="0" y="6246472"/>
                </a:lnTo>
                <a:lnTo>
                  <a:pt x="0" y="0"/>
                </a:lnTo>
                <a:close/>
              </a:path>
            </a:pathLst>
          </a:custGeom>
          <a:blipFill rotWithShape="1">
            <a:blip r:embed="rId2"/>
            <a:stretch>
              <a:fillRect/>
            </a:stretch>
          </a:blipFill>
          <a:ln>
            <a:noFill/>
          </a:ln>
        </p:spPr>
      </p:sp>
      <p:sp>
        <p:nvSpPr>
          <p:cNvPr id="105" name="Google Shape;105;p2"/>
          <p:cNvSpPr txBox="1"/>
          <p:nvPr/>
        </p:nvSpPr>
        <p:spPr>
          <a:xfrm>
            <a:off x="348725" y="865904"/>
            <a:ext cx="7072500" cy="92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6000" b="1" i="0" u="none" strike="noStrike" cap="none">
                <a:solidFill>
                  <a:srgbClr val="343434"/>
                </a:solidFill>
                <a:latin typeface="Arial" panose="020B0604020202090204"/>
                <a:ea typeface="Arial" panose="020B0604020202090204"/>
                <a:cs typeface="Arial" panose="020B0604020202090204"/>
                <a:sym typeface="Arial" panose="020B0604020202090204"/>
              </a:rPr>
              <a:t>## Pendahuluan</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6" name="Google Shape;106;p2"/>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7" name="Google Shape;107;p2"/>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8" name="Google Shape;108;p2"/>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9" name="Google Shape;109;p2"/>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0" name="Google Shape;110;p2"/>
          <p:cNvSpPr txBox="1"/>
          <p:nvPr/>
        </p:nvSpPr>
        <p:spPr>
          <a:xfrm>
            <a:off x="505625" y="2229575"/>
            <a:ext cx="11148000" cy="54684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400">
                <a:solidFill>
                  <a:schemeClr val="dk1"/>
                </a:solidFill>
              </a:rPr>
              <a:t>Dalam pengembangan web, penggunaan media seperti foto dan video sangat penting untuk meningkatkan pengalaman pengguna. Media ini dapat digunakan untuk menyampaikan informasi, menarik perhatian, dan membuat konten lebih menarik. Dalam materi ini, kita akan membahas cara menyisipkan foto dan video ke dalam halaman web menggunakan HTML.</a:t>
            </a:r>
            <a:endParaRPr sz="2400">
              <a:solidFill>
                <a:schemeClr val="dk1"/>
              </a:solidFill>
            </a:endParaRPr>
          </a:p>
          <a:p>
            <a:pPr marL="0" lvl="0" indent="0" algn="l" rtl="0">
              <a:lnSpc>
                <a:spcPct val="115000"/>
              </a:lnSpc>
              <a:spcBef>
                <a:spcPts val="1800"/>
              </a:spcBef>
              <a:spcAft>
                <a:spcPts val="0"/>
              </a:spcAft>
              <a:buClr>
                <a:schemeClr val="dk1"/>
              </a:buClr>
              <a:buSzPts val="1100"/>
              <a:buFont typeface="Arial" panose="020B0604020202090204"/>
              <a:buNone/>
            </a:pPr>
            <a:r>
              <a:rPr lang="en-US" sz="3000" b="1">
                <a:solidFill>
                  <a:schemeClr val="dk1"/>
                </a:solidFill>
              </a:rPr>
              <a:t>1. Menyisipkan Foto</a:t>
            </a:r>
            <a:endParaRPr sz="3000" b="1">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en-US" sz="2600" b="1">
                <a:solidFill>
                  <a:schemeClr val="dk1"/>
                </a:solidFill>
              </a:rPr>
              <a:t>1.1. Tag </a:t>
            </a:r>
            <a:r>
              <a:rPr lang="en-US" sz="2600" b="1">
                <a:solidFill>
                  <a:srgbClr val="188038"/>
                </a:solidFill>
                <a:latin typeface="Roboto Mono" panose="00000009000000000000"/>
                <a:ea typeface="Roboto Mono" panose="00000009000000000000"/>
                <a:cs typeface="Roboto Mono" panose="00000009000000000000"/>
                <a:sym typeface="Roboto Mono" panose="00000009000000000000"/>
              </a:rPr>
              <a:t>&lt;img&gt;</a:t>
            </a:r>
            <a:endParaRPr sz="2600" b="1">
              <a:solidFill>
                <a:srgbClr val="188038"/>
              </a:solidFill>
              <a:latin typeface="Roboto Mono" panose="00000009000000000000"/>
              <a:ea typeface="Roboto Mono" panose="00000009000000000000"/>
              <a:cs typeface="Roboto Mono" panose="00000009000000000000"/>
              <a:sym typeface="Roboto Mono" panose="00000009000000000000"/>
            </a:endParaRPr>
          </a:p>
          <a:p>
            <a:pPr marL="0" lvl="0" indent="0" algn="l" rtl="0">
              <a:lnSpc>
                <a:spcPct val="115000"/>
              </a:lnSpc>
              <a:spcBef>
                <a:spcPts val="1200"/>
              </a:spcBef>
              <a:spcAft>
                <a:spcPts val="0"/>
              </a:spcAft>
              <a:buClr>
                <a:schemeClr val="dk1"/>
              </a:buClr>
              <a:buSzPts val="1100"/>
              <a:buFont typeface="Arial" panose="020B0604020202090204"/>
              <a:buNone/>
            </a:pPr>
            <a:r>
              <a:rPr lang="en-US" sz="2400">
                <a:solidFill>
                  <a:schemeClr val="dk1"/>
                </a:solidFill>
              </a:rPr>
              <a:t>Tag </a:t>
            </a:r>
            <a:r>
              <a:rPr lang="en-US" sz="2400">
                <a:solidFill>
                  <a:srgbClr val="188038"/>
                </a:solidFill>
                <a:latin typeface="Roboto Mono" panose="00000009000000000000"/>
                <a:ea typeface="Roboto Mono" panose="00000009000000000000"/>
                <a:cs typeface="Roboto Mono" panose="00000009000000000000"/>
                <a:sym typeface="Roboto Mono" panose="00000009000000000000"/>
              </a:rPr>
              <a:t>&lt;img&gt;</a:t>
            </a:r>
            <a:r>
              <a:rPr lang="en-US" sz="2400">
                <a:solidFill>
                  <a:schemeClr val="dk1"/>
                </a:solidFill>
              </a:rPr>
              <a:t> digunakan untuk menampilkan gambar di halaman web. Berikut adalah sintaks dasar untuk menggunakan tag ini:</a:t>
            </a:r>
            <a:endParaRPr sz="2400">
              <a:solidFill>
                <a:schemeClr val="dk1"/>
              </a:solidFill>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5100">
              <a:solidFill>
                <a:schemeClr val="dk1"/>
              </a:solidFill>
            </a:endParaRPr>
          </a:p>
        </p:txBody>
      </p:sp>
      <p:sp>
        <p:nvSpPr>
          <p:cNvPr id="111" name="Google Shape;111;p2"/>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02</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2" name="Google Shape;112;p2"/>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13" name="Google Shape;113;p2"/>
          <p:cNvPicPr preferRelativeResize="0"/>
          <p:nvPr/>
        </p:nvPicPr>
        <p:blipFill>
          <a:blip r:embed="rId3"/>
          <a:stretch>
            <a:fillRect/>
          </a:stretch>
        </p:blipFill>
        <p:spPr>
          <a:xfrm>
            <a:off x="505625" y="6897875"/>
            <a:ext cx="11772900" cy="800100"/>
          </a:xfrm>
          <a:prstGeom prst="rect">
            <a:avLst/>
          </a:prstGeom>
          <a:noFill/>
          <a:ln>
            <a:noFill/>
          </a:ln>
        </p:spPr>
      </p:pic>
      <p:sp>
        <p:nvSpPr>
          <p:cNvPr id="114" name="Google Shape;114;p2"/>
          <p:cNvSpPr txBox="1"/>
          <p:nvPr/>
        </p:nvSpPr>
        <p:spPr>
          <a:xfrm>
            <a:off x="505625" y="8055250"/>
            <a:ext cx="13240200" cy="1897200"/>
          </a:xfrm>
          <a:prstGeom prst="rect">
            <a:avLst/>
          </a:prstGeom>
          <a:noFill/>
          <a:ln>
            <a:noFill/>
          </a:ln>
        </p:spPr>
        <p:txBody>
          <a:bodyPr spcFirstLastPara="1" wrap="square" lIns="91425" tIns="91425" rIns="91425" bIns="91425" anchor="t" anchorCtr="0">
            <a:spAutoFit/>
          </a:bodyPr>
          <a:lstStyle/>
          <a:p>
            <a:pPr marL="457200" lvl="0" indent="-387350" algn="l" rtl="0">
              <a:lnSpc>
                <a:spcPct val="115000"/>
              </a:lnSpc>
              <a:spcBef>
                <a:spcPts val="1200"/>
              </a:spcBef>
              <a:spcAft>
                <a:spcPts val="0"/>
              </a:spcAft>
              <a:buClr>
                <a:schemeClr val="dk1"/>
              </a:buClr>
              <a:buSzPts val="2500"/>
              <a:buChar char="●"/>
            </a:pPr>
            <a:r>
              <a:rPr lang="en-US" sz="2500" b="1">
                <a:solidFill>
                  <a:schemeClr val="dk1"/>
                </a:solidFill>
              </a:rPr>
              <a:t>src</a:t>
            </a:r>
            <a:r>
              <a:rPr lang="en-US" sz="2500">
                <a:solidFill>
                  <a:schemeClr val="dk1"/>
                </a:solidFill>
              </a:rPr>
              <a:t>: Atribut ini menentukan URL gambar yang akan ditampilkan.</a:t>
            </a:r>
            <a:endParaRPr sz="2500">
              <a:solidFill>
                <a:schemeClr val="dk1"/>
              </a:solidFill>
            </a:endParaRPr>
          </a:p>
          <a:p>
            <a:pPr marL="457200" lvl="0" indent="-387350" algn="l" rtl="0">
              <a:lnSpc>
                <a:spcPct val="115000"/>
              </a:lnSpc>
              <a:spcBef>
                <a:spcPts val="0"/>
              </a:spcBef>
              <a:spcAft>
                <a:spcPts val="0"/>
              </a:spcAft>
              <a:buClr>
                <a:schemeClr val="dk1"/>
              </a:buClr>
              <a:buSzPts val="2500"/>
              <a:buChar char="●"/>
            </a:pPr>
            <a:r>
              <a:rPr lang="en-US" sz="2500" b="1">
                <a:solidFill>
                  <a:schemeClr val="dk1"/>
                </a:solidFill>
              </a:rPr>
              <a:t>alt</a:t>
            </a:r>
            <a:r>
              <a:rPr lang="en-US" sz="2500">
                <a:solidFill>
                  <a:schemeClr val="dk1"/>
                </a:solidFill>
              </a:rPr>
              <a:t>: Atribut ini memberikan deskripsi alternatif untuk gambar, yang akan ditampilkan jika gambar tidak dapat dimuat.</a:t>
            </a:r>
            <a:endParaRPr sz="2500">
              <a:solidFill>
                <a:schemeClr val="dk1"/>
              </a:solidFill>
            </a:endParaRPr>
          </a:p>
          <a:p>
            <a:pPr marL="457200" lvl="0" indent="-387350" algn="l" rtl="0">
              <a:lnSpc>
                <a:spcPct val="115000"/>
              </a:lnSpc>
              <a:spcBef>
                <a:spcPts val="0"/>
              </a:spcBef>
              <a:spcAft>
                <a:spcPts val="0"/>
              </a:spcAft>
              <a:buClr>
                <a:schemeClr val="dk1"/>
              </a:buClr>
              <a:buSzPts val="2500"/>
              <a:buChar char="●"/>
            </a:pPr>
            <a:r>
              <a:rPr lang="en-US" sz="2500" b="1">
                <a:solidFill>
                  <a:schemeClr val="dk1"/>
                </a:solidFill>
              </a:rPr>
              <a:t>width</a:t>
            </a:r>
            <a:r>
              <a:rPr lang="en-US" sz="2500">
                <a:solidFill>
                  <a:schemeClr val="dk1"/>
                </a:solidFill>
              </a:rPr>
              <a:t> dan </a:t>
            </a:r>
            <a:r>
              <a:rPr lang="en-US" sz="2500" b="1">
                <a:solidFill>
                  <a:schemeClr val="dk1"/>
                </a:solidFill>
              </a:rPr>
              <a:t>height</a:t>
            </a:r>
            <a:r>
              <a:rPr lang="en-US" sz="2500">
                <a:solidFill>
                  <a:schemeClr val="dk1"/>
                </a:solidFill>
              </a:rPr>
              <a:t>: Atribut ini menentukan ukuran gambar dalam piksel.</a:t>
            </a:r>
            <a:endParaRPr sz="25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18" name="Shape 118"/>
        <p:cNvGrpSpPr/>
        <p:nvPr/>
      </p:nvGrpSpPr>
      <p:grpSpPr>
        <a:xfrm>
          <a:off x="0" y="0"/>
          <a:ext cx="0" cy="0"/>
          <a:chOff x="0" y="0"/>
          <a:chExt cx="0" cy="0"/>
        </a:xfrm>
      </p:grpSpPr>
      <p:sp>
        <p:nvSpPr>
          <p:cNvPr id="119" name="Google Shape;119;p3"/>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20" name="Google Shape;120;p3"/>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1" name="Google Shape;121;p3"/>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2" name="Google Shape;122;p3"/>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3" name="Google Shape;123;p3"/>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4" name="Google Shape;124;p3"/>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03</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5" name="Google Shape;125;p3"/>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6" name="Google Shape;126;p3"/>
          <p:cNvSpPr txBox="1"/>
          <p:nvPr/>
        </p:nvSpPr>
        <p:spPr>
          <a:xfrm>
            <a:off x="488200" y="2169000"/>
            <a:ext cx="11505000" cy="6699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Clr>
                <a:schemeClr val="dk1"/>
              </a:buClr>
              <a:buSzPts val="1100"/>
              <a:buFont typeface="Arial" panose="020B0604020202090204"/>
              <a:buNone/>
            </a:pPr>
            <a:r>
              <a:rPr lang="en-US" sz="2200" b="1">
                <a:solidFill>
                  <a:schemeClr val="dk1"/>
                </a:solidFill>
              </a:rPr>
              <a:t>1.2. Contoh Penggunaan</a:t>
            </a:r>
            <a:endParaRPr sz="2200" b="1">
              <a:solidFill>
                <a:schemeClr val="dk1"/>
              </a:solidFill>
            </a:endParaRPr>
          </a:p>
          <a:p>
            <a:pPr marL="0" marR="0" lvl="0" indent="0" algn="l" rtl="0">
              <a:lnSpc>
                <a:spcPct val="115000"/>
              </a:lnSpc>
              <a:spcBef>
                <a:spcPts val="1200"/>
              </a:spcBef>
              <a:spcAft>
                <a:spcPts val="0"/>
              </a:spcAft>
              <a:buClr>
                <a:schemeClr val="dk1"/>
              </a:buClr>
              <a:buSzPts val="1100"/>
              <a:buFont typeface="Arial" panose="020B0604020202090204"/>
              <a:buNone/>
            </a:pPr>
            <a:endParaRPr sz="2400" b="1">
              <a:solidFill>
                <a:schemeClr val="dk1"/>
              </a:solidFill>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chemeClr val="dk1"/>
              </a:buClr>
              <a:buSzPts val="11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200"/>
              </a:spcBef>
              <a:spcAft>
                <a:spcPts val="0"/>
              </a:spcAft>
              <a:buClr>
                <a:srgbClr val="000000"/>
              </a:buClr>
              <a:buSzPts val="4100"/>
              <a:buFont typeface="Arial" panose="020B0604020202090204"/>
              <a:buNone/>
            </a:pPr>
            <a:endParaRPr sz="4100" b="1" i="0" u="none" strike="noStrike" cap="none">
              <a:solidFill>
                <a:schemeClr val="dk1"/>
              </a:solidFill>
              <a:latin typeface="Arial" panose="020B0604020202090204"/>
              <a:ea typeface="Arial" panose="020B0604020202090204"/>
              <a:cs typeface="Arial" panose="020B0604020202090204"/>
              <a:sym typeface="Arial" panose="020B0604020202090204"/>
            </a:endParaRPr>
          </a:p>
        </p:txBody>
      </p:sp>
      <p:sp>
        <p:nvSpPr>
          <p:cNvPr id="127" name="Google Shape;127;p3"/>
          <p:cNvSpPr/>
          <p:nvPr/>
        </p:nvSpPr>
        <p:spPr>
          <a:xfrm>
            <a:off x="14008032" y="2976004"/>
            <a:ext cx="3701593" cy="4723610"/>
          </a:xfrm>
          <a:custGeom>
            <a:avLst/>
            <a:gdLst/>
            <a:ahLst/>
            <a:cxnLst/>
            <a:rect l="l" t="t" r="r" b="b"/>
            <a:pathLst>
              <a:path w="3701593" h="4723610" extrusionOk="0">
                <a:moveTo>
                  <a:pt x="0" y="0"/>
                </a:moveTo>
                <a:lnTo>
                  <a:pt x="3701593" y="0"/>
                </a:lnTo>
                <a:lnTo>
                  <a:pt x="3701593" y="4723610"/>
                </a:lnTo>
                <a:lnTo>
                  <a:pt x="0" y="4723610"/>
                </a:lnTo>
                <a:lnTo>
                  <a:pt x="0" y="0"/>
                </a:lnTo>
                <a:close/>
              </a:path>
            </a:pathLst>
          </a:custGeom>
          <a:blipFill rotWithShape="1">
            <a:blip r:embed="rId2"/>
            <a:stretch>
              <a:fillRect/>
            </a:stretch>
          </a:blipFill>
          <a:ln>
            <a:noFill/>
          </a:ln>
        </p:spPr>
      </p:sp>
      <p:sp>
        <p:nvSpPr>
          <p:cNvPr id="128" name="Google Shape;128;p3"/>
          <p:cNvSpPr/>
          <p:nvPr/>
        </p:nvSpPr>
        <p:spPr>
          <a:xfrm>
            <a:off x="12245731" y="5930593"/>
            <a:ext cx="3718302" cy="2393234"/>
          </a:xfrm>
          <a:custGeom>
            <a:avLst/>
            <a:gdLst/>
            <a:ahLst/>
            <a:cxnLst/>
            <a:rect l="l" t="t" r="r" b="b"/>
            <a:pathLst>
              <a:path w="3718302" h="2393234" extrusionOk="0">
                <a:moveTo>
                  <a:pt x="0" y="0"/>
                </a:moveTo>
                <a:lnTo>
                  <a:pt x="3718301" y="0"/>
                </a:lnTo>
                <a:lnTo>
                  <a:pt x="3718301" y="2393234"/>
                </a:lnTo>
                <a:lnTo>
                  <a:pt x="0" y="2393234"/>
                </a:lnTo>
                <a:lnTo>
                  <a:pt x="0" y="0"/>
                </a:lnTo>
                <a:close/>
              </a:path>
            </a:pathLst>
          </a:custGeom>
          <a:blipFill rotWithShape="1">
            <a:blip r:embed="rId3"/>
            <a:stretch>
              <a:fillRect/>
            </a:stretch>
          </a:blipFill>
          <a:ln>
            <a:noFill/>
          </a:ln>
        </p:spPr>
      </p:sp>
      <p:sp>
        <p:nvSpPr>
          <p:cNvPr id="129" name="Google Shape;129;p3"/>
          <p:cNvSpPr txBox="1"/>
          <p:nvPr/>
        </p:nvSpPr>
        <p:spPr>
          <a:xfrm>
            <a:off x="3886000" y="999192"/>
            <a:ext cx="7072500" cy="523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3400" b="1" i="0" u="none" strike="noStrike" cap="none">
                <a:solidFill>
                  <a:srgbClr val="000000"/>
                </a:solidFill>
                <a:latin typeface="Arial" panose="020B0604020202090204"/>
                <a:ea typeface="Arial" panose="020B0604020202090204"/>
                <a:cs typeface="Arial" panose="020B0604020202090204"/>
                <a:sym typeface="Arial" panose="020B0604020202090204"/>
              </a:rPr>
              <a:t> Struktur Dasar Link</a:t>
            </a:r>
            <a:endParaRPr sz="34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30" name="Google Shape;130;p3"/>
          <p:cNvPicPr preferRelativeResize="0"/>
          <p:nvPr/>
        </p:nvPicPr>
        <p:blipFill>
          <a:blip r:embed="rId4"/>
          <a:stretch>
            <a:fillRect/>
          </a:stretch>
        </p:blipFill>
        <p:spPr>
          <a:xfrm>
            <a:off x="642200" y="2781300"/>
            <a:ext cx="11351001" cy="6210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34" name="Shape 134"/>
        <p:cNvGrpSpPr/>
        <p:nvPr/>
      </p:nvGrpSpPr>
      <p:grpSpPr>
        <a:xfrm>
          <a:off x="0" y="0"/>
          <a:ext cx="0" cy="0"/>
          <a:chOff x="0" y="0"/>
          <a:chExt cx="0" cy="0"/>
        </a:xfrm>
      </p:grpSpPr>
      <p:sp>
        <p:nvSpPr>
          <p:cNvPr id="135" name="Google Shape;135;p4"/>
          <p:cNvSpPr/>
          <p:nvPr/>
        </p:nvSpPr>
        <p:spPr>
          <a:xfrm>
            <a:off x="14669258" y="1865429"/>
            <a:ext cx="3102858" cy="5004610"/>
          </a:xfrm>
          <a:custGeom>
            <a:avLst/>
            <a:gdLst/>
            <a:ahLst/>
            <a:cxnLst/>
            <a:rect l="l" t="t" r="r" b="b"/>
            <a:pathLst>
              <a:path w="3102858" h="5004610" extrusionOk="0">
                <a:moveTo>
                  <a:pt x="0" y="0"/>
                </a:moveTo>
                <a:lnTo>
                  <a:pt x="3102858" y="0"/>
                </a:lnTo>
                <a:lnTo>
                  <a:pt x="3102858" y="5004610"/>
                </a:lnTo>
                <a:lnTo>
                  <a:pt x="0" y="5004610"/>
                </a:lnTo>
                <a:lnTo>
                  <a:pt x="0" y="0"/>
                </a:lnTo>
                <a:close/>
              </a:path>
            </a:pathLst>
          </a:custGeom>
          <a:blipFill rotWithShape="1">
            <a:blip r:embed="rId1"/>
            <a:stretch>
              <a:fillRect/>
            </a:stretch>
          </a:blipFill>
          <a:ln>
            <a:noFill/>
          </a:ln>
        </p:spPr>
      </p:sp>
      <p:sp>
        <p:nvSpPr>
          <p:cNvPr id="136" name="Google Shape;136;p4"/>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7" name="Google Shape;137;p4"/>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8" name="Google Shape;138;p4"/>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9" name="Google Shape;139;p4"/>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40" name="Google Shape;140;p4"/>
          <p:cNvSpPr txBox="1"/>
          <p:nvPr/>
        </p:nvSpPr>
        <p:spPr>
          <a:xfrm>
            <a:off x="749725" y="1984400"/>
            <a:ext cx="12874200" cy="63195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400"/>
              </a:spcBef>
              <a:spcAft>
                <a:spcPts val="0"/>
              </a:spcAft>
              <a:buClr>
                <a:schemeClr val="dk1"/>
              </a:buClr>
              <a:buSzPts val="1100"/>
              <a:buFont typeface="Arial" panose="020B0604020202090204"/>
              <a:buNone/>
            </a:pPr>
            <a:r>
              <a:rPr lang="en-US" sz="2400" b="1">
                <a:solidFill>
                  <a:schemeClr val="dk1"/>
                </a:solidFill>
              </a:rPr>
              <a:t>2.1. Tag </a:t>
            </a:r>
            <a:r>
              <a:rPr lang="en-US" sz="2400" b="1">
                <a:solidFill>
                  <a:srgbClr val="188038"/>
                </a:solidFill>
                <a:latin typeface="Roboto Mono" panose="00000009000000000000"/>
                <a:ea typeface="Roboto Mono" panose="00000009000000000000"/>
                <a:cs typeface="Roboto Mono" panose="00000009000000000000"/>
                <a:sym typeface="Roboto Mono" panose="00000009000000000000"/>
              </a:rPr>
              <a:t>&lt;video&gt;</a:t>
            </a:r>
            <a:endParaRPr sz="2400" b="1">
              <a:solidFill>
                <a:srgbClr val="188038"/>
              </a:solidFill>
              <a:latin typeface="Roboto Mono" panose="00000009000000000000"/>
              <a:ea typeface="Roboto Mono" panose="00000009000000000000"/>
              <a:cs typeface="Roboto Mono" panose="00000009000000000000"/>
              <a:sym typeface="Roboto Mono" panose="00000009000000000000"/>
            </a:endParaRPr>
          </a:p>
          <a:p>
            <a:pPr marL="0" lvl="0" indent="0" algn="l" rtl="0">
              <a:lnSpc>
                <a:spcPct val="115000"/>
              </a:lnSpc>
              <a:spcBef>
                <a:spcPts val="1200"/>
              </a:spcBef>
              <a:spcAft>
                <a:spcPts val="0"/>
              </a:spcAft>
              <a:buClr>
                <a:schemeClr val="dk1"/>
              </a:buClr>
              <a:buSzPts val="1100"/>
              <a:buFont typeface="Arial" panose="020B0604020202090204"/>
              <a:buNone/>
            </a:pPr>
            <a:r>
              <a:rPr lang="en-US" sz="2200">
                <a:solidFill>
                  <a:schemeClr val="dk1"/>
                </a:solidFill>
              </a:rPr>
              <a:t>Tag </a:t>
            </a: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&lt;video&gt;</a:t>
            </a:r>
            <a:r>
              <a:rPr lang="en-US" sz="2200">
                <a:solidFill>
                  <a:schemeClr val="dk1"/>
                </a:solidFill>
              </a:rPr>
              <a:t> digunakan untuk menyisipkan video ke dalam halaman web. Berikut adalah sintaks dasar untuk menggunakan tag ini:</a:t>
            </a: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457200" lvl="0" indent="-368300" algn="l" rtl="0">
              <a:lnSpc>
                <a:spcPct val="115000"/>
              </a:lnSpc>
              <a:spcBef>
                <a:spcPts val="1200"/>
              </a:spcBef>
              <a:spcAft>
                <a:spcPts val="0"/>
              </a:spcAft>
              <a:buClr>
                <a:schemeClr val="dk1"/>
              </a:buClr>
              <a:buSzPts val="2200"/>
              <a:buChar char="●"/>
            </a:pPr>
            <a:r>
              <a:rPr lang="en-US" sz="2200" b="1">
                <a:solidFill>
                  <a:schemeClr val="dk1"/>
                </a:solidFill>
              </a:rPr>
              <a:t>controls</a:t>
            </a:r>
            <a:r>
              <a:rPr lang="en-US" sz="2200">
                <a:solidFill>
                  <a:schemeClr val="dk1"/>
                </a:solidFill>
              </a:rPr>
              <a:t>: Atribut ini menambahkan kontrol pemutar video (play, pause, volume, dll).</a:t>
            </a:r>
            <a:endParaRPr sz="220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b="1">
                <a:solidFill>
                  <a:schemeClr val="dk1"/>
                </a:solidFill>
              </a:rPr>
              <a:t>source</a:t>
            </a:r>
            <a:r>
              <a:rPr lang="en-US" sz="2200">
                <a:solidFill>
                  <a:schemeClr val="dk1"/>
                </a:solidFill>
              </a:rPr>
              <a:t>: Tag </a:t>
            </a: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&lt;source&gt;</a:t>
            </a:r>
            <a:r>
              <a:rPr lang="en-US" sz="2200">
                <a:solidFill>
                  <a:schemeClr val="dk1"/>
                </a:solidFill>
              </a:rPr>
              <a:t> digunakan untuk menentukan file video dan tipe file.</a:t>
            </a:r>
            <a:endParaRPr sz="2200">
              <a:solidFill>
                <a:schemeClr val="dk1"/>
              </a:solidFill>
            </a:endParaRPr>
          </a:p>
          <a:p>
            <a:pPr marL="0" lvl="0" indent="0" algn="l" rtl="0">
              <a:lnSpc>
                <a:spcPct val="115000"/>
              </a:lnSpc>
              <a:spcBef>
                <a:spcPts val="1200"/>
              </a:spcBef>
              <a:spcAft>
                <a:spcPts val="0"/>
              </a:spcAft>
              <a:buNone/>
            </a:pPr>
            <a:endParaRPr sz="2200">
              <a:solidFill>
                <a:schemeClr val="dk1"/>
              </a:solidFill>
            </a:endParaRPr>
          </a:p>
          <a:p>
            <a:pPr marL="0" lvl="0" indent="0" algn="l" rtl="0">
              <a:lnSpc>
                <a:spcPct val="115000"/>
              </a:lnSpc>
              <a:spcBef>
                <a:spcPts val="1200"/>
              </a:spcBef>
              <a:spcAft>
                <a:spcPts val="0"/>
              </a:spcAft>
              <a:buNone/>
            </a:pPr>
            <a:endParaRPr sz="2200">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endParaRPr sz="2400" b="1">
              <a:solidFill>
                <a:schemeClr val="dk1"/>
              </a:solidFill>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3600">
              <a:solidFill>
                <a:schemeClr val="dk1"/>
              </a:solidFill>
            </a:endParaRPr>
          </a:p>
        </p:txBody>
      </p:sp>
      <p:sp>
        <p:nvSpPr>
          <p:cNvPr id="141" name="Google Shape;141;p4"/>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04</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42" name="Google Shape;142;p4"/>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43" name="Google Shape;143;p4"/>
          <p:cNvPicPr preferRelativeResize="0"/>
          <p:nvPr/>
        </p:nvPicPr>
        <p:blipFill>
          <a:blip r:embed="rId2"/>
          <a:stretch>
            <a:fillRect/>
          </a:stretch>
        </p:blipFill>
        <p:spPr>
          <a:xfrm>
            <a:off x="749725" y="3330250"/>
            <a:ext cx="9344049" cy="1678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47" name="Shape 147"/>
        <p:cNvGrpSpPr/>
        <p:nvPr/>
      </p:nvGrpSpPr>
      <p:grpSpPr>
        <a:xfrm>
          <a:off x="0" y="0"/>
          <a:ext cx="0" cy="0"/>
          <a:chOff x="0" y="0"/>
          <a:chExt cx="0" cy="0"/>
        </a:xfrm>
      </p:grpSpPr>
      <p:sp>
        <p:nvSpPr>
          <p:cNvPr id="148" name="Google Shape;148;p5"/>
          <p:cNvSpPr/>
          <p:nvPr/>
        </p:nvSpPr>
        <p:spPr>
          <a:xfrm>
            <a:off x="-4088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49" name="Google Shape;149;p5"/>
          <p:cNvSpPr/>
          <p:nvPr/>
        </p:nvSpPr>
        <p:spPr>
          <a:xfrm>
            <a:off x="13675814" y="1993414"/>
            <a:ext cx="4355876" cy="6337915"/>
          </a:xfrm>
          <a:custGeom>
            <a:avLst/>
            <a:gdLst/>
            <a:ahLst/>
            <a:cxnLst/>
            <a:rect l="l" t="t" r="r" b="b"/>
            <a:pathLst>
              <a:path w="4355876" h="6337915" extrusionOk="0">
                <a:moveTo>
                  <a:pt x="0" y="0"/>
                </a:moveTo>
                <a:lnTo>
                  <a:pt x="4355877" y="0"/>
                </a:lnTo>
                <a:lnTo>
                  <a:pt x="4355877" y="6337915"/>
                </a:lnTo>
                <a:lnTo>
                  <a:pt x="0" y="6337915"/>
                </a:lnTo>
                <a:lnTo>
                  <a:pt x="0" y="0"/>
                </a:lnTo>
                <a:close/>
              </a:path>
            </a:pathLst>
          </a:custGeom>
          <a:blipFill rotWithShape="1">
            <a:blip r:embed="rId2"/>
            <a:stretch>
              <a:fillRect/>
            </a:stretch>
          </a:blipFill>
          <a:ln>
            <a:noFill/>
          </a:ln>
        </p:spPr>
      </p:sp>
      <p:sp>
        <p:nvSpPr>
          <p:cNvPr id="150" name="Google Shape;150;p5"/>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1" name="Google Shape;151;p5"/>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2" name="Google Shape;152;p5"/>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3" name="Google Shape;153;p5"/>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4" name="Google Shape;154;p5"/>
          <p:cNvSpPr txBox="1"/>
          <p:nvPr/>
        </p:nvSpPr>
        <p:spPr>
          <a:xfrm>
            <a:off x="601750" y="1475825"/>
            <a:ext cx="12202500" cy="3693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400"/>
              </a:spcBef>
              <a:spcAft>
                <a:spcPts val="400"/>
              </a:spcAft>
              <a:buClr>
                <a:schemeClr val="dk1"/>
              </a:buClr>
              <a:buSzPts val="1100"/>
              <a:buFont typeface="Arial" panose="020B0604020202090204"/>
              <a:buNone/>
            </a:pPr>
            <a:r>
              <a:rPr lang="en-US" sz="2400" b="1">
                <a:solidFill>
                  <a:schemeClr val="dk1"/>
                </a:solidFill>
              </a:rPr>
              <a:t>2.2. Contoh Penggunaan</a:t>
            </a:r>
            <a:endParaRPr sz="3700" b="0" i="0" u="none" strike="noStrike" cap="none">
              <a:solidFill>
                <a:srgbClr val="343434"/>
              </a:solidFill>
              <a:latin typeface="DM Sans"/>
              <a:ea typeface="DM Sans"/>
              <a:cs typeface="DM Sans"/>
              <a:sym typeface="DM Sans"/>
            </a:endParaRPr>
          </a:p>
        </p:txBody>
      </p:sp>
      <p:sp>
        <p:nvSpPr>
          <p:cNvPr id="155" name="Google Shape;155;p5"/>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05</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6" name="Google Shape;156;p5"/>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57" name="Google Shape;157;p5"/>
          <p:cNvPicPr preferRelativeResize="0"/>
          <p:nvPr/>
        </p:nvPicPr>
        <p:blipFill>
          <a:blip r:embed="rId3"/>
          <a:stretch>
            <a:fillRect/>
          </a:stretch>
        </p:blipFill>
        <p:spPr>
          <a:xfrm>
            <a:off x="601750" y="1987800"/>
            <a:ext cx="11772900" cy="6953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61" name="Shape 161"/>
        <p:cNvGrpSpPr/>
        <p:nvPr/>
      </p:nvGrpSpPr>
      <p:grpSpPr>
        <a:xfrm>
          <a:off x="0" y="0"/>
          <a:ext cx="0" cy="0"/>
          <a:chOff x="0" y="0"/>
          <a:chExt cx="0" cy="0"/>
        </a:xfrm>
      </p:grpSpPr>
      <p:sp>
        <p:nvSpPr>
          <p:cNvPr id="162" name="Google Shape;162;p6"/>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63" name="Google Shape;163;p6"/>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4" name="Google Shape;164;p6"/>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5" name="Google Shape;165;p6"/>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6" name="Google Shape;166;p6"/>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7" name="Google Shape;167;p6"/>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06</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8" name="Google Shape;168;p6"/>
          <p:cNvSpPr txBox="1"/>
          <p:nvPr/>
        </p:nvSpPr>
        <p:spPr>
          <a:xfrm>
            <a:off x="1351349" y="2198650"/>
            <a:ext cx="12568800" cy="4091400"/>
          </a:xfrm>
          <a:prstGeom prst="rect">
            <a:avLst/>
          </a:prstGeom>
          <a:noFill/>
          <a:ln>
            <a:noFill/>
          </a:ln>
        </p:spPr>
        <p:txBody>
          <a:bodyPr spcFirstLastPara="1" wrap="square" lIns="0" tIns="0" rIns="0" bIns="0" anchor="t" anchorCtr="0">
            <a:spAutoFit/>
          </a:bodyPr>
          <a:lstStyle/>
          <a:p>
            <a:pPr marL="457200" lvl="0" indent="-381000" algn="l" rtl="0">
              <a:lnSpc>
                <a:spcPct val="115000"/>
              </a:lnSpc>
              <a:spcBef>
                <a:spcPts val="1200"/>
              </a:spcBef>
              <a:spcAft>
                <a:spcPts val="0"/>
              </a:spcAft>
              <a:buClr>
                <a:schemeClr val="dk1"/>
              </a:buClr>
              <a:buSzPts val="2400"/>
              <a:buChar char="●"/>
            </a:pPr>
            <a:r>
              <a:rPr lang="en-US" sz="2400" b="1">
                <a:solidFill>
                  <a:schemeClr val="dk1"/>
                </a:solidFill>
              </a:rPr>
              <a:t>Optimasi Ukuran</a:t>
            </a:r>
            <a:r>
              <a:rPr lang="en-US" sz="2400">
                <a:solidFill>
                  <a:schemeClr val="dk1"/>
                </a:solidFill>
              </a:rPr>
              <a:t>: Pastikan ukuran file gambar dan video dioptimalkan untuk web agar tidak memperlambat waktu muat halaman.</a:t>
            </a:r>
            <a:endParaRPr sz="2400">
              <a:solidFill>
                <a:schemeClr val="dk1"/>
              </a:solidFill>
            </a:endParaRPr>
          </a:p>
          <a:p>
            <a:pPr marL="457200" lvl="0" indent="-381000" algn="l" rtl="0">
              <a:lnSpc>
                <a:spcPct val="115000"/>
              </a:lnSpc>
              <a:spcBef>
                <a:spcPts val="0"/>
              </a:spcBef>
              <a:spcAft>
                <a:spcPts val="0"/>
              </a:spcAft>
              <a:buClr>
                <a:schemeClr val="dk1"/>
              </a:buClr>
              <a:buSzPts val="2400"/>
              <a:buChar char="●"/>
            </a:pPr>
            <a:r>
              <a:rPr lang="en-US" sz="2400" b="1">
                <a:solidFill>
                  <a:schemeClr val="dk1"/>
                </a:solidFill>
              </a:rPr>
              <a:t>Format yang Tepat</a:t>
            </a:r>
            <a:r>
              <a:rPr lang="en-US" sz="2400">
                <a:solidFill>
                  <a:schemeClr val="dk1"/>
                </a:solidFill>
              </a:rPr>
              <a:t>: Gunakan format gambar yang sesuai (JPEG, PNG, GIF) dan format video yang umum (MP4, WebM, Ogg).</a:t>
            </a:r>
            <a:endParaRPr sz="2400">
              <a:solidFill>
                <a:schemeClr val="dk1"/>
              </a:solidFill>
            </a:endParaRPr>
          </a:p>
          <a:p>
            <a:pPr marL="457200" lvl="0" indent="-381000" algn="l" rtl="0">
              <a:lnSpc>
                <a:spcPct val="115000"/>
              </a:lnSpc>
              <a:spcBef>
                <a:spcPts val="0"/>
              </a:spcBef>
              <a:spcAft>
                <a:spcPts val="0"/>
              </a:spcAft>
              <a:buClr>
                <a:schemeClr val="dk1"/>
              </a:buClr>
              <a:buSzPts val="2400"/>
              <a:buChar char="●"/>
            </a:pPr>
            <a:r>
              <a:rPr lang="en-US" sz="2400" b="1">
                <a:solidFill>
                  <a:schemeClr val="dk1"/>
                </a:solidFill>
              </a:rPr>
              <a:t>Deskripsi Alternatif</a:t>
            </a:r>
            <a:r>
              <a:rPr lang="en-US" sz="2400">
                <a:solidFill>
                  <a:schemeClr val="dk1"/>
                </a:solidFill>
              </a:rPr>
              <a:t>: Selalu gunakan atribut </a:t>
            </a:r>
            <a:r>
              <a:rPr lang="en-US" sz="2400">
                <a:solidFill>
                  <a:srgbClr val="188038"/>
                </a:solidFill>
                <a:latin typeface="Roboto Mono" panose="00000009000000000000"/>
                <a:ea typeface="Roboto Mono" panose="00000009000000000000"/>
                <a:cs typeface="Roboto Mono" panose="00000009000000000000"/>
                <a:sym typeface="Roboto Mono" panose="00000009000000000000"/>
              </a:rPr>
              <a:t>alt</a:t>
            </a:r>
            <a:r>
              <a:rPr lang="en-US" sz="2400">
                <a:solidFill>
                  <a:schemeClr val="dk1"/>
                </a:solidFill>
              </a:rPr>
              <a:t> untuk gambar agar konten tetap dapat diakses oleh pengguna dengan kebutuhan khusus.</a:t>
            </a:r>
            <a:endParaRPr sz="2400">
              <a:solidFill>
                <a:schemeClr val="dk1"/>
              </a:solidFill>
            </a:endParaRPr>
          </a:p>
          <a:p>
            <a:pPr marL="457200" lvl="0" indent="-381000" algn="l" rtl="0">
              <a:lnSpc>
                <a:spcPct val="115000"/>
              </a:lnSpc>
              <a:spcBef>
                <a:spcPts val="0"/>
              </a:spcBef>
              <a:spcAft>
                <a:spcPts val="0"/>
              </a:spcAft>
              <a:buClr>
                <a:schemeClr val="dk1"/>
              </a:buClr>
              <a:buSzPts val="2400"/>
              <a:buChar char="●"/>
            </a:pPr>
            <a:r>
              <a:rPr lang="en-US" sz="2400" b="1">
                <a:solidFill>
                  <a:schemeClr val="dk1"/>
                </a:solidFill>
              </a:rPr>
              <a:t>Responsif</a:t>
            </a:r>
            <a:r>
              <a:rPr lang="en-US" sz="2400">
                <a:solidFill>
                  <a:schemeClr val="dk1"/>
                </a:solidFill>
              </a:rPr>
              <a:t>: Gunakan CSS untuk membuat gambar dan video responsif agar dapat menyesuaikan dengan berbagai ukuran layar.</a:t>
            </a:r>
            <a:endParaRPr sz="2400">
              <a:solidFill>
                <a:schemeClr val="dk1"/>
              </a:solidFill>
            </a:endParaRPr>
          </a:p>
          <a:p>
            <a:pPr marL="0" marR="0" lvl="0" indent="0" algn="ctr" rtl="0">
              <a:lnSpc>
                <a:spcPct val="140000"/>
              </a:lnSpc>
              <a:spcBef>
                <a:spcPts val="1200"/>
              </a:spcBef>
              <a:spcAft>
                <a:spcPts val="0"/>
              </a:spcAft>
              <a:buClr>
                <a:srgbClr val="000000"/>
              </a:buClr>
              <a:buSzPts val="2000"/>
              <a:buFont typeface="Arial" panose="020B0604020202090204"/>
              <a:buNone/>
            </a:pPr>
            <a:endParaRPr sz="3500">
              <a:solidFill>
                <a:schemeClr val="dk1"/>
              </a:solidFill>
            </a:endParaRPr>
          </a:p>
        </p:txBody>
      </p:sp>
      <p:sp>
        <p:nvSpPr>
          <p:cNvPr id="169" name="Google Shape;169;p6"/>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0" name="Google Shape;170;p6"/>
          <p:cNvSpPr/>
          <p:nvPr/>
        </p:nvSpPr>
        <p:spPr>
          <a:xfrm>
            <a:off x="14115554" y="2963602"/>
            <a:ext cx="2882196" cy="3943304"/>
          </a:xfrm>
          <a:custGeom>
            <a:avLst/>
            <a:gdLst/>
            <a:ahLst/>
            <a:cxnLst/>
            <a:rect l="l" t="t" r="r" b="b"/>
            <a:pathLst>
              <a:path w="2882196" h="3943304" extrusionOk="0">
                <a:moveTo>
                  <a:pt x="0" y="0"/>
                </a:moveTo>
                <a:lnTo>
                  <a:pt x="2882196" y="0"/>
                </a:lnTo>
                <a:lnTo>
                  <a:pt x="2882196" y="3943304"/>
                </a:lnTo>
                <a:lnTo>
                  <a:pt x="0" y="3943304"/>
                </a:lnTo>
                <a:lnTo>
                  <a:pt x="0" y="0"/>
                </a:lnTo>
                <a:close/>
              </a:path>
            </a:pathLst>
          </a:custGeom>
          <a:blipFill rotWithShape="1">
            <a:blip r:embed="rId2"/>
            <a:stretch>
              <a:fillRect/>
            </a:stretch>
          </a:blipFill>
          <a:ln>
            <a:noFill/>
          </a:ln>
        </p:spPr>
      </p:sp>
      <p:sp>
        <p:nvSpPr>
          <p:cNvPr id="171" name="Google Shape;171;p6"/>
          <p:cNvSpPr txBox="1"/>
          <p:nvPr/>
        </p:nvSpPr>
        <p:spPr>
          <a:xfrm>
            <a:off x="3695075" y="942025"/>
            <a:ext cx="9109200" cy="538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3500" b="1">
                <a:solidFill>
                  <a:srgbClr val="343434"/>
                </a:solidFill>
              </a:rPr>
              <a:t>Tips untuk Menggunakan Foto dan Video</a:t>
            </a:r>
            <a:endParaRPr sz="1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75" name="Shape 175"/>
        <p:cNvGrpSpPr/>
        <p:nvPr/>
      </p:nvGrpSpPr>
      <p:grpSpPr>
        <a:xfrm>
          <a:off x="0" y="0"/>
          <a:ext cx="0" cy="0"/>
          <a:chOff x="0" y="0"/>
          <a:chExt cx="0" cy="0"/>
        </a:xfrm>
      </p:grpSpPr>
      <p:sp>
        <p:nvSpPr>
          <p:cNvPr id="176" name="Google Shape;176;g33064f6f14d_0_24"/>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77" name="Google Shape;177;g33064f6f14d_0_24"/>
          <p:cNvSpPr txBox="1"/>
          <p:nvPr/>
        </p:nvSpPr>
        <p:spPr>
          <a:xfrm>
            <a:off x="1262026" y="760675"/>
            <a:ext cx="13771500" cy="92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6000" b="1" i="0" u="none" strike="noStrike" cap="none">
                <a:solidFill>
                  <a:srgbClr val="343434"/>
                </a:solidFill>
                <a:latin typeface="Arial" panose="020B0604020202090204"/>
                <a:ea typeface="Arial" panose="020B0604020202090204"/>
                <a:cs typeface="Arial" panose="020B0604020202090204"/>
                <a:sym typeface="Arial" panose="020B0604020202090204"/>
              </a:rPr>
              <a:t>Kesimpulan</a:t>
            </a:r>
            <a:endParaRPr sz="6000" b="1" i="0" u="none" strike="noStrike" cap="none">
              <a:solidFill>
                <a:srgbClr val="343434"/>
              </a:solidFill>
              <a:latin typeface="Arial" panose="020B0604020202090204"/>
              <a:ea typeface="Arial" panose="020B0604020202090204"/>
              <a:cs typeface="Arial" panose="020B0604020202090204"/>
              <a:sym typeface="Arial" panose="020B0604020202090204"/>
            </a:endParaRPr>
          </a:p>
        </p:txBody>
      </p:sp>
      <p:sp>
        <p:nvSpPr>
          <p:cNvPr id="178" name="Google Shape;178;g33064f6f14d_0_24"/>
          <p:cNvSpPr txBox="1"/>
          <p:nvPr/>
        </p:nvSpPr>
        <p:spPr>
          <a:xfrm>
            <a:off x="12319860" y="1111629"/>
            <a:ext cx="8475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9" name="Google Shape;179;g33064f6f14d_0_24"/>
          <p:cNvSpPr txBox="1"/>
          <p:nvPr/>
        </p:nvSpPr>
        <p:spPr>
          <a:xfrm>
            <a:off x="13424041" y="1111629"/>
            <a:ext cx="8475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0" name="Google Shape;180;g33064f6f14d_0_24"/>
          <p:cNvSpPr txBox="1"/>
          <p:nvPr/>
        </p:nvSpPr>
        <p:spPr>
          <a:xfrm>
            <a:off x="14528628" y="1111629"/>
            <a:ext cx="11058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1" name="Google Shape;181;g33064f6f14d_0_24"/>
          <p:cNvSpPr txBox="1"/>
          <p:nvPr/>
        </p:nvSpPr>
        <p:spPr>
          <a:xfrm>
            <a:off x="15923945" y="1111629"/>
            <a:ext cx="13353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2" name="Google Shape;182;g33064f6f14d_0_24"/>
          <p:cNvSpPr txBox="1"/>
          <p:nvPr/>
        </p:nvSpPr>
        <p:spPr>
          <a:xfrm>
            <a:off x="1662475" y="3202200"/>
            <a:ext cx="13971900" cy="26412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1200"/>
              </a:spcBef>
              <a:spcAft>
                <a:spcPts val="0"/>
              </a:spcAft>
              <a:buClr>
                <a:srgbClr val="000000"/>
              </a:buClr>
              <a:buSzPts val="1700"/>
              <a:buFont typeface="Arial" panose="020B0604020202090204"/>
              <a:buNone/>
            </a:pPr>
            <a:r>
              <a:rPr lang="en-US" sz="2600" b="1">
                <a:solidFill>
                  <a:schemeClr val="dk1"/>
                </a:solidFill>
              </a:rPr>
              <a:t>Penggunaan foto dan video dalam halaman web dapat meningkatkan daya tarik dan interaktivitas konten. Dengan memahami cara menyisipkan dan mengelola media ini menggunakan HTML, Anda dapat menciptakan pengalaman pengguna yang lebih baik. Pastikan untuk selalu memperhatikan optimasi dan aksesibilitas saat menggunakan media dalam pengembangan web.</a:t>
            </a:r>
            <a:endParaRPr sz="2600" b="1" i="0" u="none" strike="noStrike" cap="none">
              <a:solidFill>
                <a:schemeClr val="dk1"/>
              </a:solidFill>
              <a:latin typeface="Arial" panose="020B0604020202090204"/>
              <a:ea typeface="Arial" panose="020B0604020202090204"/>
              <a:cs typeface="Arial" panose="020B0604020202090204"/>
              <a:sym typeface="Arial" panose="020B0604020202090204"/>
            </a:endParaRPr>
          </a:p>
        </p:txBody>
      </p:sp>
      <p:sp>
        <p:nvSpPr>
          <p:cNvPr id="183" name="Google Shape;183;g33064f6f14d_0_24"/>
          <p:cNvSpPr txBox="1"/>
          <p:nvPr/>
        </p:nvSpPr>
        <p:spPr>
          <a:xfrm>
            <a:off x="16253563" y="8991600"/>
            <a:ext cx="1005600" cy="5541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07</a:t>
            </a:r>
            <a:endParaRPr sz="1500" b="1" i="0" u="none" strike="noStrike" cap="none">
              <a:solidFill>
                <a:srgbClr val="343434"/>
              </a:solidFill>
              <a:latin typeface="DM Sans"/>
              <a:ea typeface="DM Sans"/>
              <a:cs typeface="DM Sans"/>
              <a:sym typeface="DM Sans"/>
            </a:endParaRPr>
          </a:p>
          <a:p>
            <a:pPr marL="0" marR="0" lvl="0" indent="0" algn="r" rtl="0">
              <a:lnSpc>
                <a:spcPct val="140000"/>
              </a:lnSpc>
              <a:spcBef>
                <a:spcPts val="0"/>
              </a:spcBef>
              <a:spcAft>
                <a:spcPts val="0"/>
              </a:spcAft>
              <a:buClr>
                <a:srgbClr val="000000"/>
              </a:buClr>
              <a:buSzPts val="1500"/>
              <a:buFont typeface="Arial" panose="020B0604020202090204"/>
              <a:buNone/>
            </a:pPr>
            <a:endParaRPr sz="1500" b="1" i="0" u="none" strike="noStrike" cap="none">
              <a:solidFill>
                <a:srgbClr val="343434"/>
              </a:solidFill>
              <a:latin typeface="DM Sans"/>
              <a:ea typeface="DM Sans"/>
              <a:cs typeface="DM Sans"/>
              <a:sym typeface="DM Sans"/>
            </a:endParaRPr>
          </a:p>
        </p:txBody>
      </p:sp>
      <p:sp>
        <p:nvSpPr>
          <p:cNvPr id="184" name="Google Shape;184;g33064f6f14d_0_24"/>
          <p:cNvSpPr txBox="1"/>
          <p:nvPr/>
        </p:nvSpPr>
        <p:spPr>
          <a:xfrm>
            <a:off x="85924" y="182065"/>
            <a:ext cx="4479000" cy="277800"/>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88" name="Shape 188"/>
        <p:cNvGrpSpPr/>
        <p:nvPr/>
      </p:nvGrpSpPr>
      <p:grpSpPr>
        <a:xfrm>
          <a:off x="0" y="0"/>
          <a:ext cx="0" cy="0"/>
          <a:chOff x="0" y="0"/>
          <a:chExt cx="0" cy="0"/>
        </a:xfrm>
      </p:grpSpPr>
      <p:sp>
        <p:nvSpPr>
          <p:cNvPr id="189" name="Google Shape;189;p10"/>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90" name="Google Shape;190;p10"/>
          <p:cNvSpPr txBox="1"/>
          <p:nvPr/>
        </p:nvSpPr>
        <p:spPr>
          <a:xfrm>
            <a:off x="933983" y="3152569"/>
            <a:ext cx="16420035" cy="387481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19362"/>
              <a:buFont typeface="Arial" panose="020B0604020202090204"/>
              <a:buNone/>
            </a:pPr>
            <a:r>
              <a:rPr lang="en-US" sz="19360" b="1" i="0" u="none" strike="noStrike" cap="none">
                <a:solidFill>
                  <a:srgbClr val="343434"/>
                </a:solidFill>
                <a:latin typeface="Arial" panose="020B0604020202090204"/>
                <a:ea typeface="Arial" panose="020B0604020202090204"/>
                <a:cs typeface="Arial" panose="020B0604020202090204"/>
                <a:sym typeface="Arial" panose="020B0604020202090204"/>
              </a:rPr>
              <a:t>THANK YOU</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1" name="Google Shape;191;p10"/>
          <p:cNvSpPr/>
          <p:nvPr/>
        </p:nvSpPr>
        <p:spPr>
          <a:xfrm>
            <a:off x="5684547" y="6631976"/>
            <a:ext cx="442897" cy="442897"/>
          </a:xfrm>
          <a:custGeom>
            <a:avLst/>
            <a:gdLst/>
            <a:ahLst/>
            <a:cxnLst/>
            <a:rect l="l" t="t" r="r" b="b"/>
            <a:pathLst>
              <a:path w="442897" h="442897" extrusionOk="0">
                <a:moveTo>
                  <a:pt x="0" y="0"/>
                </a:moveTo>
                <a:lnTo>
                  <a:pt x="442897" y="0"/>
                </a:lnTo>
                <a:lnTo>
                  <a:pt x="442897" y="442897"/>
                </a:lnTo>
                <a:lnTo>
                  <a:pt x="0" y="442897"/>
                </a:lnTo>
                <a:lnTo>
                  <a:pt x="0" y="0"/>
                </a:lnTo>
                <a:close/>
              </a:path>
            </a:pathLst>
          </a:custGeom>
          <a:blipFill rotWithShape="1">
            <a:blip r:embed="rId2"/>
            <a:stretch>
              <a:fillRect/>
            </a:stretch>
          </a:blipFill>
          <a:ln>
            <a:noFill/>
          </a:ln>
        </p:spPr>
      </p:sp>
      <p:sp>
        <p:nvSpPr>
          <p:cNvPr id="192" name="Google Shape;192;p10"/>
          <p:cNvSpPr/>
          <p:nvPr/>
        </p:nvSpPr>
        <p:spPr>
          <a:xfrm rot="-1354446">
            <a:off x="15843106" y="2606653"/>
            <a:ext cx="1497033" cy="2339114"/>
          </a:xfrm>
          <a:custGeom>
            <a:avLst/>
            <a:gdLst/>
            <a:ahLst/>
            <a:cxnLst/>
            <a:rect l="l" t="t" r="r" b="b"/>
            <a:pathLst>
              <a:path w="1497033" h="2339114" extrusionOk="0">
                <a:moveTo>
                  <a:pt x="0" y="0"/>
                </a:moveTo>
                <a:lnTo>
                  <a:pt x="1497033" y="0"/>
                </a:lnTo>
                <a:lnTo>
                  <a:pt x="1497033" y="2339115"/>
                </a:lnTo>
                <a:lnTo>
                  <a:pt x="0" y="2339115"/>
                </a:lnTo>
                <a:lnTo>
                  <a:pt x="0" y="0"/>
                </a:lnTo>
                <a:close/>
              </a:path>
            </a:pathLst>
          </a:custGeom>
          <a:blipFill rotWithShape="1">
            <a:blip r:embed="rId3"/>
            <a:stretch>
              <a:fillRect/>
            </a:stretch>
          </a:blipFill>
          <a:ln>
            <a:noFill/>
          </a:ln>
        </p:spPr>
      </p:sp>
      <p:sp>
        <p:nvSpPr>
          <p:cNvPr id="193" name="Google Shape;193;p10"/>
          <p:cNvSpPr/>
          <p:nvPr/>
        </p:nvSpPr>
        <p:spPr>
          <a:xfrm rot="885027">
            <a:off x="5092713" y="2195823"/>
            <a:ext cx="2206219" cy="1740908"/>
          </a:xfrm>
          <a:custGeom>
            <a:avLst/>
            <a:gdLst/>
            <a:ahLst/>
            <a:cxnLst/>
            <a:rect l="l" t="t" r="r" b="b"/>
            <a:pathLst>
              <a:path w="2206219" h="1740908" extrusionOk="0">
                <a:moveTo>
                  <a:pt x="0" y="0"/>
                </a:moveTo>
                <a:lnTo>
                  <a:pt x="2206220" y="0"/>
                </a:lnTo>
                <a:lnTo>
                  <a:pt x="2206220" y="1740908"/>
                </a:lnTo>
                <a:lnTo>
                  <a:pt x="0" y="1740908"/>
                </a:lnTo>
                <a:lnTo>
                  <a:pt x="0" y="0"/>
                </a:lnTo>
                <a:close/>
              </a:path>
            </a:pathLst>
          </a:custGeom>
          <a:blipFill rotWithShape="1">
            <a:blip r:embed="rId4"/>
            <a:stretch>
              <a:fillRect/>
            </a:stretch>
          </a:blipFill>
          <a:ln>
            <a:noFill/>
          </a:ln>
        </p:spPr>
      </p:sp>
      <p:sp>
        <p:nvSpPr>
          <p:cNvPr id="194" name="Google Shape;194;p10"/>
          <p:cNvSpPr/>
          <p:nvPr/>
        </p:nvSpPr>
        <p:spPr>
          <a:xfrm>
            <a:off x="91839" y="8205407"/>
            <a:ext cx="4202073" cy="2521244"/>
          </a:xfrm>
          <a:custGeom>
            <a:avLst/>
            <a:gdLst/>
            <a:ahLst/>
            <a:cxnLst/>
            <a:rect l="l" t="t" r="r" b="b"/>
            <a:pathLst>
              <a:path w="4202073" h="2521244" extrusionOk="0">
                <a:moveTo>
                  <a:pt x="0" y="0"/>
                </a:moveTo>
                <a:lnTo>
                  <a:pt x="4202074" y="0"/>
                </a:lnTo>
                <a:lnTo>
                  <a:pt x="4202074" y="2521245"/>
                </a:lnTo>
                <a:lnTo>
                  <a:pt x="0" y="2521245"/>
                </a:lnTo>
                <a:lnTo>
                  <a:pt x="0" y="0"/>
                </a:lnTo>
                <a:close/>
              </a:path>
            </a:pathLst>
          </a:custGeom>
          <a:blipFill rotWithShape="1">
            <a:blip r:embed="rId5"/>
            <a:stretch>
              <a:fillRect/>
            </a:stretch>
          </a:blipFill>
          <a:ln>
            <a:noFill/>
          </a:ln>
        </p:spPr>
      </p:sp>
      <p:sp>
        <p:nvSpPr>
          <p:cNvPr id="195" name="Google Shape;195;p10"/>
          <p:cNvSpPr/>
          <p:nvPr/>
        </p:nvSpPr>
        <p:spPr>
          <a:xfrm rot="839221">
            <a:off x="9785300" y="7617346"/>
            <a:ext cx="1170380" cy="2030628"/>
          </a:xfrm>
          <a:custGeom>
            <a:avLst/>
            <a:gdLst/>
            <a:ahLst/>
            <a:cxnLst/>
            <a:rect l="l" t="t" r="r" b="b"/>
            <a:pathLst>
              <a:path w="1170380" h="2030628" extrusionOk="0">
                <a:moveTo>
                  <a:pt x="0" y="0"/>
                </a:moveTo>
                <a:lnTo>
                  <a:pt x="1170381" y="0"/>
                </a:lnTo>
                <a:lnTo>
                  <a:pt x="1170381" y="2030628"/>
                </a:lnTo>
                <a:lnTo>
                  <a:pt x="0" y="2030628"/>
                </a:lnTo>
                <a:lnTo>
                  <a:pt x="0" y="0"/>
                </a:lnTo>
                <a:close/>
              </a:path>
            </a:pathLst>
          </a:custGeom>
          <a:blipFill rotWithShape="1">
            <a:blip r:embed="rId6"/>
            <a:stretch>
              <a:fillRect/>
            </a:stretch>
          </a:blipFill>
          <a:ln>
            <a:noFill/>
          </a:ln>
        </p:spPr>
      </p:sp>
      <p:sp>
        <p:nvSpPr>
          <p:cNvPr id="196" name="Google Shape;196;p10"/>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7" name="Google Shape;197;p10"/>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8" name="Google Shape;198;p10"/>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9" name="Google Shape;199;p10"/>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00" name="Google Shape;200;p10"/>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10</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01" name="Google Shape;201;p10"/>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2593</Words>
  <Application>WPS Presentation</Application>
  <PresentationFormat/>
  <Paragraphs>160</Paragraphs>
  <Slides>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8</vt:i4>
      </vt:variant>
    </vt:vector>
  </HeadingPairs>
  <TitlesOfParts>
    <vt:vector size="20" baseType="lpstr">
      <vt:lpstr>Arial</vt:lpstr>
      <vt:lpstr>SimSun</vt:lpstr>
      <vt:lpstr>Wingdings</vt:lpstr>
      <vt:lpstr>Arial</vt:lpstr>
      <vt:lpstr>Calibri</vt:lpstr>
      <vt:lpstr>Helvetica Neue</vt:lpstr>
      <vt:lpstr>DM Sans</vt:lpstr>
      <vt:lpstr>Roboto Mono</vt:lpstr>
      <vt:lpstr>Microsoft YaHei</vt:lpstr>
      <vt:lpstr>汉仪旗黑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macbookairm1</cp:lastModifiedBy>
  <cp:revision>1</cp:revision>
  <dcterms:created xsi:type="dcterms:W3CDTF">2025-02-17T08:54:10Z</dcterms:created>
  <dcterms:modified xsi:type="dcterms:W3CDTF">2025-02-17T08:54:10Z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8F9FBDCD70865ECF32F9B2670CBCB2FF_42</vt:lpwstr>
  </property>
  <property fmtid="{D5CDD505-2E9C-101B-9397-08002B2CF9AE}" pid="3" name="KSOProductBuildVer">
    <vt:lpwstr>1033-6.11.0.8603</vt:lpwstr>
  </property>
</Properties>
</file>