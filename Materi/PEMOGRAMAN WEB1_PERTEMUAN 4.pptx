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8288000" cy="10287000"/>
  <p:notesSz cx="6858000" cy="9144000"/>
  <p:embeddedFontLst>
    <p:embeddedFont>
      <p:font typeface="DM Sans"/>
      <p:regular r:id="rId15"/>
    </p:embeddedFont>
    <p:embeddedFont>
      <p:font typeface="Roboto Mono" panose="00000009000000000000"/>
      <p:regular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font" Target="fonts/font2.fntdata"/><Relationship Id="rId15" Type="http://schemas.openxmlformats.org/officeDocument/2006/relationships/font" Target="fonts/font1.fntdata"/><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914400" marR="0" lvl="1"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1371600" marR="0" lvl="2"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828800" marR="0" lvl="3"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2286000" marR="0" lvl="4"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743200" marR="0" lvl="5"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3200400" marR="0" lvl="6"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657600" marR="0" lvl="7"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4114800" marR="0" lvl="8" indent="-298450" algn="l" rtl="0">
              <a:lnSpc>
                <a:spcPct val="100000"/>
              </a:lnSpc>
              <a:spcBef>
                <a:spcPts val="0"/>
              </a:spcBef>
              <a:spcAft>
                <a:spcPts val="0"/>
              </a:spcAft>
              <a:buClr>
                <a:srgbClr val="000000"/>
              </a:buClr>
              <a:buSzPts val="1100"/>
              <a:buFont typeface="Arial" panose="020B0604020202090204"/>
              <a:buChar char="■"/>
              <a:defRPr sz="11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 name="Shape 99"/>
        <p:cNvGrpSpPr/>
        <p:nvPr/>
      </p:nvGrpSpPr>
      <p:grpSpPr>
        <a:xfrm>
          <a:off x="0" y="0"/>
          <a:ext cx="0" cy="0"/>
          <a:chOff x="0" y="0"/>
          <a:chExt cx="0" cy="0"/>
        </a:xfrm>
      </p:grpSpPr>
      <p:sp>
        <p:nvSpPr>
          <p:cNvPr id="100" name="Google Shape;100;p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01" name="Google Shape;101;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3" name="Shape 113"/>
        <p:cNvGrpSpPr/>
        <p:nvPr/>
      </p:nvGrpSpPr>
      <p:grpSpPr>
        <a:xfrm>
          <a:off x="0" y="0"/>
          <a:ext cx="0" cy="0"/>
          <a:chOff x="0" y="0"/>
          <a:chExt cx="0" cy="0"/>
        </a:xfrm>
      </p:grpSpPr>
      <p:sp>
        <p:nvSpPr>
          <p:cNvPr id="114" name="Google Shape;114;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15" name="Google Shape;115;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 name="Shape 129"/>
        <p:cNvGrpSpPr/>
        <p:nvPr/>
      </p:nvGrpSpPr>
      <p:grpSpPr>
        <a:xfrm>
          <a:off x="0" y="0"/>
          <a:ext cx="0" cy="0"/>
          <a:chOff x="0" y="0"/>
          <a:chExt cx="0" cy="0"/>
        </a:xfrm>
      </p:grpSpPr>
      <p:sp>
        <p:nvSpPr>
          <p:cNvPr id="130" name="Google Shape;130;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31" name="Google Shape;131;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5" name="Shape 145"/>
        <p:cNvGrpSpPr/>
        <p:nvPr/>
      </p:nvGrpSpPr>
      <p:grpSpPr>
        <a:xfrm>
          <a:off x="0" y="0"/>
          <a:ext cx="0" cy="0"/>
          <a:chOff x="0" y="0"/>
          <a:chExt cx="0" cy="0"/>
        </a:xfrm>
      </p:grpSpPr>
      <p:sp>
        <p:nvSpPr>
          <p:cNvPr id="146" name="Google Shape;146;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47" name="Google Shape;147;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 name="Shape 162"/>
        <p:cNvGrpSpPr/>
        <p:nvPr/>
      </p:nvGrpSpPr>
      <p:grpSpPr>
        <a:xfrm>
          <a:off x="0" y="0"/>
          <a:ext cx="0" cy="0"/>
          <a:chOff x="0" y="0"/>
          <a:chExt cx="0" cy="0"/>
        </a:xfrm>
      </p:grpSpPr>
      <p:sp>
        <p:nvSpPr>
          <p:cNvPr id="163" name="Google Shape;163;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64" name="Google Shape;164;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7" name="Shape 177"/>
        <p:cNvGrpSpPr/>
        <p:nvPr/>
      </p:nvGrpSpPr>
      <p:grpSpPr>
        <a:xfrm>
          <a:off x="0" y="0"/>
          <a:ext cx="0" cy="0"/>
          <a:chOff x="0" y="0"/>
          <a:chExt cx="0" cy="0"/>
        </a:xfrm>
      </p:grpSpPr>
      <p:sp>
        <p:nvSpPr>
          <p:cNvPr id="178" name="Google Shape;178;g33064f6f14d_0_2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79" name="Google Shape;179;g33064f6f14d_0_24: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0" name="Shape 190"/>
        <p:cNvGrpSpPr/>
        <p:nvPr/>
      </p:nvGrpSpPr>
      <p:grpSpPr>
        <a:xfrm>
          <a:off x="0" y="0"/>
          <a:ext cx="0" cy="0"/>
          <a:chOff x="0" y="0"/>
          <a:chExt cx="0" cy="0"/>
        </a:xfrm>
      </p:grpSpPr>
      <p:sp>
        <p:nvSpPr>
          <p:cNvPr id="191" name="Google Shape;191;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92" name="Google Shape;192;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24" name="Google Shape;24;p1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6" name="Google Shape;36;p1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7" name="Google Shape;37;p1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3" name="Google Shape;43;p1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4" name="Google Shape;44;p1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5" name="Google Shape;45;p1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6" name="Google Shape;46;p1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p:txBody>
      </p:sp>
      <p:sp>
        <p:nvSpPr>
          <p:cNvPr id="57" name="Google Shape;57;p1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58" name="Google Shape;58;p1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type="pic" idx="2"/>
          </p:nvPr>
        </p:nvSpPr>
        <p:spPr>
          <a:xfrm>
            <a:off x="1792288" y="612775"/>
            <a:ext cx="5486400" cy="4114800"/>
          </a:xfrm>
          <a:prstGeom prst="rect">
            <a:avLst/>
          </a:prstGeom>
          <a:noFill/>
          <a:ln>
            <a:noFill/>
          </a:ln>
        </p:spPr>
      </p:sp>
      <p:sp>
        <p:nvSpPr>
          <p:cNvPr id="64" name="Google Shape;64;p2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65" name="Google Shape;65;p2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1" name="Google Shape;71;p2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7" name="Google Shape;77;p2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p:txBody>
      </p:sp>
      <p:sp>
        <p:nvSpPr>
          <p:cNvPr id="7" name="Google Shape;7;p1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panose="020B0604020202090204"/>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9pPr>
          </a:lstStyle>
          <a:p/>
        </p:txBody>
      </p:sp>
      <p:sp>
        <p:nvSpPr>
          <p:cNvPr id="8" name="Google Shape;8;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9" name="Google Shape;9;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p:txBody>
      </p:sp>
      <p:sp>
        <p:nvSpPr>
          <p:cNvPr id="10" name="Google Shape;10;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83" name="Shape 83"/>
        <p:cNvGrpSpPr/>
        <p:nvPr/>
      </p:nvGrpSpPr>
      <p:grpSpPr>
        <a:xfrm>
          <a:off x="0" y="0"/>
          <a:ext cx="0" cy="0"/>
          <a:chOff x="0" y="0"/>
          <a:chExt cx="0" cy="0"/>
        </a:xfrm>
      </p:grpSpPr>
      <p:sp>
        <p:nvSpPr>
          <p:cNvPr id="84" name="Google Shape;84;p1"/>
          <p:cNvSpPr/>
          <p:nvPr/>
        </p:nvSpPr>
        <p:spPr>
          <a:xfrm>
            <a:off x="-722887" y="-4247682"/>
            <a:ext cx="19258069" cy="19258069"/>
          </a:xfrm>
          <a:custGeom>
            <a:avLst/>
            <a:gdLst/>
            <a:ahLst/>
            <a:cxnLst/>
            <a:rect l="l" t="t" r="r" b="b"/>
            <a:pathLst>
              <a:path w="19258069" h="19258069" extrusionOk="0">
                <a:moveTo>
                  <a:pt x="0" y="0"/>
                </a:moveTo>
                <a:lnTo>
                  <a:pt x="19258069" y="0"/>
                </a:lnTo>
                <a:lnTo>
                  <a:pt x="19258069" y="19258069"/>
                </a:lnTo>
                <a:lnTo>
                  <a:pt x="0" y="19258069"/>
                </a:lnTo>
                <a:lnTo>
                  <a:pt x="0" y="0"/>
                </a:lnTo>
                <a:close/>
              </a:path>
            </a:pathLst>
          </a:custGeom>
          <a:blipFill rotWithShape="1">
            <a:blip r:embed="rId1">
              <a:alphaModFix amt="4000"/>
            </a:blip>
            <a:stretch>
              <a:fillRect/>
            </a:stretch>
          </a:blipFill>
          <a:ln>
            <a:noFill/>
          </a:ln>
        </p:spPr>
      </p:sp>
      <p:sp>
        <p:nvSpPr>
          <p:cNvPr id="85" name="Google Shape;85;p1"/>
          <p:cNvSpPr/>
          <p:nvPr/>
        </p:nvSpPr>
        <p:spPr>
          <a:xfrm>
            <a:off x="11218332" y="2731879"/>
            <a:ext cx="3701593" cy="4723610"/>
          </a:xfrm>
          <a:custGeom>
            <a:avLst/>
            <a:gdLst/>
            <a:ahLst/>
            <a:cxnLst/>
            <a:rect l="l" t="t" r="r" b="b"/>
            <a:pathLst>
              <a:path w="3701593" h="4723610" extrusionOk="0">
                <a:moveTo>
                  <a:pt x="0" y="0"/>
                </a:moveTo>
                <a:lnTo>
                  <a:pt x="3701593" y="0"/>
                </a:lnTo>
                <a:lnTo>
                  <a:pt x="3701593" y="4723610"/>
                </a:lnTo>
                <a:lnTo>
                  <a:pt x="0" y="4723610"/>
                </a:lnTo>
                <a:lnTo>
                  <a:pt x="0" y="0"/>
                </a:lnTo>
                <a:close/>
              </a:path>
            </a:pathLst>
          </a:custGeom>
          <a:blipFill rotWithShape="1">
            <a:blip r:embed="rId2"/>
            <a:stretch>
              <a:fillRect/>
            </a:stretch>
          </a:blipFill>
          <a:ln>
            <a:noFill/>
          </a:ln>
        </p:spPr>
      </p:sp>
      <p:sp>
        <p:nvSpPr>
          <p:cNvPr id="86" name="Google Shape;86;p1"/>
          <p:cNvSpPr/>
          <p:nvPr/>
        </p:nvSpPr>
        <p:spPr>
          <a:xfrm>
            <a:off x="9456031" y="5686468"/>
            <a:ext cx="3718302" cy="2393234"/>
          </a:xfrm>
          <a:custGeom>
            <a:avLst/>
            <a:gdLst/>
            <a:ahLst/>
            <a:cxnLst/>
            <a:rect l="l" t="t" r="r" b="b"/>
            <a:pathLst>
              <a:path w="3718302" h="2393234" extrusionOk="0">
                <a:moveTo>
                  <a:pt x="0" y="0"/>
                </a:moveTo>
                <a:lnTo>
                  <a:pt x="3718301" y="0"/>
                </a:lnTo>
                <a:lnTo>
                  <a:pt x="3718301" y="2393234"/>
                </a:lnTo>
                <a:lnTo>
                  <a:pt x="0" y="2393234"/>
                </a:lnTo>
                <a:lnTo>
                  <a:pt x="0" y="0"/>
                </a:lnTo>
                <a:close/>
              </a:path>
            </a:pathLst>
          </a:custGeom>
          <a:blipFill rotWithShape="1">
            <a:blip r:embed="rId3"/>
            <a:stretch>
              <a:fillRect/>
            </a:stretch>
          </a:blipFill>
          <a:ln>
            <a:noFill/>
          </a:ln>
        </p:spPr>
      </p:sp>
      <p:sp>
        <p:nvSpPr>
          <p:cNvPr id="87" name="Google Shape;87;p1"/>
          <p:cNvSpPr/>
          <p:nvPr/>
        </p:nvSpPr>
        <p:spPr>
          <a:xfrm>
            <a:off x="14377104" y="3974852"/>
            <a:ext cx="2882196" cy="3943304"/>
          </a:xfrm>
          <a:custGeom>
            <a:avLst/>
            <a:gdLst/>
            <a:ahLst/>
            <a:cxnLst/>
            <a:rect l="l" t="t" r="r" b="b"/>
            <a:pathLst>
              <a:path w="2882196" h="3943304" extrusionOk="0">
                <a:moveTo>
                  <a:pt x="0" y="0"/>
                </a:moveTo>
                <a:lnTo>
                  <a:pt x="2882196" y="0"/>
                </a:lnTo>
                <a:lnTo>
                  <a:pt x="2882196" y="3943304"/>
                </a:lnTo>
                <a:lnTo>
                  <a:pt x="0" y="3943304"/>
                </a:lnTo>
                <a:lnTo>
                  <a:pt x="0" y="0"/>
                </a:lnTo>
                <a:close/>
              </a:path>
            </a:pathLst>
          </a:custGeom>
          <a:blipFill rotWithShape="1">
            <a:blip r:embed="rId4"/>
            <a:stretch>
              <a:fillRect/>
            </a:stretch>
          </a:blipFill>
          <a:ln>
            <a:noFill/>
          </a:ln>
        </p:spPr>
      </p:sp>
      <p:sp>
        <p:nvSpPr>
          <p:cNvPr id="88" name="Google Shape;88;p1"/>
          <p:cNvSpPr txBox="1"/>
          <p:nvPr/>
        </p:nvSpPr>
        <p:spPr>
          <a:xfrm>
            <a:off x="1028700" y="3098954"/>
            <a:ext cx="9904500" cy="14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9313"/>
              <a:buFont typeface="Arial" panose="020B0604020202090204"/>
              <a:buNone/>
            </a:pPr>
            <a:r>
              <a:rPr lang="en-US" sz="9315" b="1" i="0" u="none" strike="noStrike" cap="none">
                <a:solidFill>
                  <a:srgbClr val="343434"/>
                </a:solidFill>
                <a:latin typeface="Arial" panose="020B0604020202090204"/>
                <a:ea typeface="Arial" panose="020B0604020202090204"/>
                <a:cs typeface="Arial" panose="020B0604020202090204"/>
                <a:sym typeface="Arial" panose="020B0604020202090204"/>
              </a:rPr>
              <a:t>PEMROGRAMAN </a:t>
            </a:r>
            <a:endParaRPr sz="5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89" name="Google Shape;89;p1"/>
          <p:cNvSpPr txBox="1"/>
          <p:nvPr/>
        </p:nvSpPr>
        <p:spPr>
          <a:xfrm>
            <a:off x="1028700" y="4620822"/>
            <a:ext cx="8626948" cy="208144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0463"/>
              <a:buFont typeface="Arial" panose="020B0604020202090204"/>
              <a:buNone/>
            </a:pPr>
            <a:r>
              <a:rPr lang="en-US" sz="10465" b="0" i="0" u="none" strike="noStrike" cap="none">
                <a:solidFill>
                  <a:srgbClr val="343434"/>
                </a:solidFill>
                <a:latin typeface="Arial" panose="020B0604020202090204"/>
                <a:ea typeface="Arial" panose="020B0604020202090204"/>
                <a:cs typeface="Arial" panose="020B0604020202090204"/>
                <a:sym typeface="Arial" panose="020B0604020202090204"/>
              </a:rPr>
              <a:t>WEB 1</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0" name="Google Shape;90;p1"/>
          <p:cNvSpPr txBox="1"/>
          <p:nvPr/>
        </p:nvSpPr>
        <p:spPr>
          <a:xfrm>
            <a:off x="1055075" y="589884"/>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1" name="Google Shape;91;p1"/>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2" name="Google Shape;92;p1"/>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3" name="Google Shape;93;p1"/>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4" name="Google Shape;94;p1"/>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5" name="Google Shape;95;p1"/>
          <p:cNvSpPr txBox="1"/>
          <p:nvPr/>
        </p:nvSpPr>
        <p:spPr>
          <a:xfrm>
            <a:off x="1055075" y="7364050"/>
            <a:ext cx="9164400" cy="5541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Clr>
                <a:srgbClr val="000000"/>
              </a:buClr>
              <a:buSzPts val="3599"/>
              <a:buFont typeface="Arial" panose="020B0604020202090204"/>
              <a:buNone/>
            </a:pPr>
            <a:r>
              <a:rPr lang="en-US" sz="3600">
                <a:solidFill>
                  <a:srgbClr val="343434"/>
                </a:solidFill>
                <a:latin typeface="DM Sans"/>
                <a:ea typeface="DM Sans"/>
                <a:cs typeface="DM Sans"/>
                <a:sym typeface="DM Sans"/>
              </a:rPr>
              <a:t># List pada HTML</a:t>
            </a:r>
            <a:endParaRPr sz="3600">
              <a:solidFill>
                <a:srgbClr val="343434"/>
              </a:solidFill>
              <a:latin typeface="DM Sans"/>
              <a:ea typeface="DM Sans"/>
              <a:cs typeface="DM Sans"/>
              <a:sym typeface="DM Sans"/>
            </a:endParaRPr>
          </a:p>
        </p:txBody>
      </p:sp>
      <p:sp>
        <p:nvSpPr>
          <p:cNvPr id="96" name="Google Shape;96;p1"/>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01</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8" name="Google Shape;98;p1"/>
          <p:cNvSpPr txBox="1"/>
          <p:nvPr/>
        </p:nvSpPr>
        <p:spPr>
          <a:xfrm>
            <a:off x="1207475" y="6790746"/>
            <a:ext cx="77931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3599"/>
              <a:buFont typeface="Arial" panose="020B0604020202090204"/>
              <a:buNone/>
            </a:pPr>
            <a:r>
              <a:rPr lang="en-US" sz="3600" b="0" i="0" u="none" strike="noStrike" cap="none">
                <a:solidFill>
                  <a:srgbClr val="343434"/>
                </a:solidFill>
                <a:latin typeface="DM Sans"/>
                <a:ea typeface="DM Sans"/>
                <a:cs typeface="DM Sans"/>
                <a:sym typeface="DM Sans"/>
              </a:rPr>
              <a:t>Pertemuan #4</a:t>
            </a:r>
            <a:endParaRPr sz="3600" b="0" i="0" u="none" strike="noStrike" cap="none">
              <a:solidFill>
                <a:srgbClr val="343434"/>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02" name="Shape 102"/>
        <p:cNvGrpSpPr/>
        <p:nvPr/>
      </p:nvGrpSpPr>
      <p:grpSpPr>
        <a:xfrm>
          <a:off x="0" y="0"/>
          <a:ext cx="0" cy="0"/>
          <a:chOff x="0" y="0"/>
          <a:chExt cx="0" cy="0"/>
        </a:xfrm>
      </p:grpSpPr>
      <p:sp>
        <p:nvSpPr>
          <p:cNvPr id="103" name="Google Shape;103;p2"/>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04" name="Google Shape;104;p2"/>
          <p:cNvSpPr/>
          <p:nvPr/>
        </p:nvSpPr>
        <p:spPr>
          <a:xfrm>
            <a:off x="12051477" y="2039141"/>
            <a:ext cx="5610468" cy="6246472"/>
          </a:xfrm>
          <a:custGeom>
            <a:avLst/>
            <a:gdLst/>
            <a:ahLst/>
            <a:cxnLst/>
            <a:rect l="l" t="t" r="r" b="b"/>
            <a:pathLst>
              <a:path w="5610468" h="6246472" extrusionOk="0">
                <a:moveTo>
                  <a:pt x="0" y="0"/>
                </a:moveTo>
                <a:lnTo>
                  <a:pt x="5610468" y="0"/>
                </a:lnTo>
                <a:lnTo>
                  <a:pt x="5610468" y="6246472"/>
                </a:lnTo>
                <a:lnTo>
                  <a:pt x="0" y="6246472"/>
                </a:lnTo>
                <a:lnTo>
                  <a:pt x="0" y="0"/>
                </a:lnTo>
                <a:close/>
              </a:path>
            </a:pathLst>
          </a:custGeom>
          <a:blipFill rotWithShape="1">
            <a:blip r:embed="rId2"/>
            <a:stretch>
              <a:fillRect/>
            </a:stretch>
          </a:blipFill>
          <a:ln>
            <a:noFill/>
          </a:ln>
        </p:spPr>
      </p:sp>
      <p:sp>
        <p:nvSpPr>
          <p:cNvPr id="105" name="Google Shape;105;p2"/>
          <p:cNvSpPr txBox="1"/>
          <p:nvPr/>
        </p:nvSpPr>
        <p:spPr>
          <a:xfrm>
            <a:off x="348725" y="865904"/>
            <a:ext cx="7072500" cy="92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6000" b="1">
                <a:solidFill>
                  <a:srgbClr val="343434"/>
                </a:solidFill>
              </a:rPr>
              <a:t>## Pendahuluan</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6" name="Google Shape;106;p2"/>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7" name="Google Shape;107;p2"/>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8" name="Google Shape;108;p2"/>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 name="Google Shape;109;p2"/>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0" name="Google Shape;110;p2"/>
          <p:cNvSpPr txBox="1"/>
          <p:nvPr/>
        </p:nvSpPr>
        <p:spPr>
          <a:xfrm>
            <a:off x="505625" y="2229575"/>
            <a:ext cx="11148000" cy="58623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300">
                <a:solidFill>
                  <a:schemeClr val="dk1"/>
                </a:solidFill>
              </a:rPr>
              <a:t>Dalam pemrograman web, HTML (HyperText Markup Language) adalah bahasa markup yang digunakan untuk membuat struktur halaman web. Salah satu elemen penting dalam HTML adalah list (daftar), yang memungkinkan kita untuk menyajikan informasi dalam bentuk yang terorganisir dan mudah dibaca. Dalam materi ini, kita akan membahas berbagai jenis list yang ada di HTML, cara penggunaannya, serta contoh-contoh yang relevan.</a:t>
            </a:r>
            <a:endParaRPr sz="2300">
              <a:solidFill>
                <a:schemeClr val="dk1"/>
              </a:solidFill>
            </a:endParaRPr>
          </a:p>
          <a:p>
            <a:pPr marL="0" lvl="0" indent="0" algn="l" rtl="0">
              <a:lnSpc>
                <a:spcPct val="115000"/>
              </a:lnSpc>
              <a:spcBef>
                <a:spcPts val="1800"/>
              </a:spcBef>
              <a:spcAft>
                <a:spcPts val="0"/>
              </a:spcAft>
              <a:buClr>
                <a:schemeClr val="dk1"/>
              </a:buClr>
              <a:buSzPts val="1100"/>
              <a:buFont typeface="Arial" panose="020B0604020202090204"/>
              <a:buNone/>
            </a:pPr>
            <a:r>
              <a:rPr lang="en-US" sz="2900" b="1">
                <a:solidFill>
                  <a:schemeClr val="dk1"/>
                </a:solidFill>
              </a:rPr>
              <a:t>Jenis-Jenis List dalam HTML</a:t>
            </a:r>
            <a:endParaRPr sz="29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300">
                <a:solidFill>
                  <a:schemeClr val="dk1"/>
                </a:solidFill>
              </a:rPr>
              <a:t>HTML menyediakan tiga jenis list utama:</a:t>
            </a:r>
            <a:endParaRPr sz="2300">
              <a:solidFill>
                <a:schemeClr val="dk1"/>
              </a:solidFill>
            </a:endParaRPr>
          </a:p>
          <a:p>
            <a:pPr marL="457200" lvl="0" indent="-374650" algn="l" rtl="0">
              <a:lnSpc>
                <a:spcPct val="115000"/>
              </a:lnSpc>
              <a:spcBef>
                <a:spcPts val="1200"/>
              </a:spcBef>
              <a:spcAft>
                <a:spcPts val="0"/>
              </a:spcAft>
              <a:buClr>
                <a:schemeClr val="dk1"/>
              </a:buClr>
              <a:buSzPts val="2300"/>
              <a:buAutoNum type="arabicPeriod"/>
            </a:pPr>
            <a:r>
              <a:rPr lang="en-US" sz="2300" b="1">
                <a:solidFill>
                  <a:schemeClr val="dk1"/>
                </a:solidFill>
              </a:rPr>
              <a:t>Ordered List (Daftar Terurut)</a:t>
            </a:r>
            <a:endParaRPr sz="2300" b="1">
              <a:solidFill>
                <a:schemeClr val="dk1"/>
              </a:solidFill>
            </a:endParaRPr>
          </a:p>
          <a:p>
            <a:pPr marL="457200" lvl="0" indent="-374650" algn="l" rtl="0">
              <a:lnSpc>
                <a:spcPct val="115000"/>
              </a:lnSpc>
              <a:spcBef>
                <a:spcPts val="0"/>
              </a:spcBef>
              <a:spcAft>
                <a:spcPts val="0"/>
              </a:spcAft>
              <a:buClr>
                <a:schemeClr val="dk1"/>
              </a:buClr>
              <a:buSzPts val="2300"/>
              <a:buAutoNum type="arabicPeriod"/>
            </a:pPr>
            <a:r>
              <a:rPr lang="en-US" sz="2300" b="1">
                <a:solidFill>
                  <a:schemeClr val="dk1"/>
                </a:solidFill>
              </a:rPr>
              <a:t>Unordered List (Daftar Tidak Terurut)</a:t>
            </a:r>
            <a:endParaRPr sz="2300" b="1">
              <a:solidFill>
                <a:schemeClr val="dk1"/>
              </a:solidFill>
            </a:endParaRPr>
          </a:p>
          <a:p>
            <a:pPr marL="457200" lvl="0" indent="-374650" algn="l" rtl="0">
              <a:lnSpc>
                <a:spcPct val="115000"/>
              </a:lnSpc>
              <a:spcBef>
                <a:spcPts val="0"/>
              </a:spcBef>
              <a:spcAft>
                <a:spcPts val="0"/>
              </a:spcAft>
              <a:buClr>
                <a:schemeClr val="dk1"/>
              </a:buClr>
              <a:buSzPts val="2300"/>
              <a:buAutoNum type="arabicPeriod"/>
            </a:pPr>
            <a:r>
              <a:rPr lang="en-US" sz="2300" b="1">
                <a:solidFill>
                  <a:schemeClr val="dk1"/>
                </a:solidFill>
              </a:rPr>
              <a:t>Description List (Daftar Deskripsi)</a:t>
            </a:r>
            <a:endParaRPr sz="2300" b="1">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3800" b="1">
              <a:solidFill>
                <a:schemeClr val="dk1"/>
              </a:solidFill>
            </a:endParaRPr>
          </a:p>
        </p:txBody>
      </p:sp>
      <p:sp>
        <p:nvSpPr>
          <p:cNvPr id="111" name="Google Shape;111;p2"/>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02</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2" name="Google Shape;112;p2"/>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16" name="Shape 116"/>
        <p:cNvGrpSpPr/>
        <p:nvPr/>
      </p:nvGrpSpPr>
      <p:grpSpPr>
        <a:xfrm>
          <a:off x="0" y="0"/>
          <a:ext cx="0" cy="0"/>
          <a:chOff x="0" y="0"/>
          <a:chExt cx="0" cy="0"/>
        </a:xfrm>
      </p:grpSpPr>
      <p:sp>
        <p:nvSpPr>
          <p:cNvPr id="117" name="Google Shape;117;p3"/>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18" name="Google Shape;118;p3"/>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19" name="Google Shape;119;p3"/>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0" name="Google Shape;120;p3"/>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1" name="Google Shape;121;p3"/>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2" name="Google Shape;122;p3"/>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03</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3" name="Google Shape;123;p3"/>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 name="Google Shape;124;p3"/>
          <p:cNvSpPr txBox="1"/>
          <p:nvPr/>
        </p:nvSpPr>
        <p:spPr>
          <a:xfrm>
            <a:off x="557950" y="1234525"/>
            <a:ext cx="11505000" cy="708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Clr>
                <a:schemeClr val="dk1"/>
              </a:buClr>
              <a:buSzPts val="1100"/>
              <a:buFont typeface="Arial" panose="020B0604020202090204"/>
              <a:buNone/>
            </a:pPr>
            <a:r>
              <a:rPr lang="en-US" sz="2400" b="1">
                <a:solidFill>
                  <a:schemeClr val="dk1"/>
                </a:solidFill>
              </a:rPr>
              <a:t>1. Ordered List (Daftar Terurut)</a:t>
            </a:r>
            <a:endParaRPr sz="24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Ordered list digunakan untuk menyajikan item-item yang memiliki urutan tertentu. Setiap item dalam daftar ini akan diberi nomor secara otomatis.</a:t>
            </a:r>
            <a:endParaRPr sz="2200">
              <a:solidFill>
                <a:schemeClr val="dk1"/>
              </a:solidFill>
            </a:endParaRPr>
          </a:p>
          <a:p>
            <a:pPr marL="0" lvl="0" indent="0" algn="l" rtl="0">
              <a:lnSpc>
                <a:spcPct val="115000"/>
              </a:lnSpc>
              <a:spcBef>
                <a:spcPts val="1200"/>
              </a:spcBef>
              <a:spcAft>
                <a:spcPts val="0"/>
              </a:spcAft>
              <a:buNone/>
            </a:pPr>
            <a:r>
              <a:rPr lang="en-US" sz="2200" b="1">
                <a:solidFill>
                  <a:schemeClr val="dk1"/>
                </a:solidFill>
              </a:rPr>
              <a:t>Sintaks</a:t>
            </a:r>
            <a:endParaRPr sz="2200" b="1">
              <a:solidFill>
                <a:schemeClr val="dk1"/>
              </a:solidFill>
            </a:endParaRPr>
          </a:p>
          <a:p>
            <a:pPr marL="0" lvl="0" indent="0" algn="l" rtl="0">
              <a:lnSpc>
                <a:spcPct val="115000"/>
              </a:lnSpc>
              <a:spcBef>
                <a:spcPts val="1200"/>
              </a:spcBef>
              <a:spcAft>
                <a:spcPts val="0"/>
              </a:spcAft>
              <a:buNone/>
            </a:pPr>
            <a:endParaRPr sz="2200" b="1">
              <a:solidFill>
                <a:schemeClr val="dk1"/>
              </a:solidFill>
            </a:endParaRPr>
          </a:p>
          <a:p>
            <a:pPr marL="0" lvl="0" indent="0" algn="l" rtl="0">
              <a:lnSpc>
                <a:spcPct val="115000"/>
              </a:lnSpc>
              <a:spcBef>
                <a:spcPts val="1200"/>
              </a:spcBef>
              <a:spcAft>
                <a:spcPts val="0"/>
              </a:spcAft>
              <a:buNone/>
            </a:pPr>
            <a:endParaRPr sz="2200" b="1">
              <a:solidFill>
                <a:schemeClr val="dk1"/>
              </a:solidFill>
            </a:endParaRPr>
          </a:p>
          <a:p>
            <a:pPr marL="0" lvl="0" indent="0" algn="l" rtl="0">
              <a:lnSpc>
                <a:spcPct val="115000"/>
              </a:lnSpc>
              <a:spcBef>
                <a:spcPts val="1200"/>
              </a:spcBef>
              <a:spcAft>
                <a:spcPts val="0"/>
              </a:spcAft>
              <a:buNone/>
            </a:pPr>
            <a:endParaRPr sz="2200" b="1">
              <a:solidFill>
                <a:schemeClr val="dk1"/>
              </a:solidFill>
            </a:endParaRPr>
          </a:p>
          <a:p>
            <a:pPr marL="0" lvl="0" indent="0" algn="l" rtl="0">
              <a:lnSpc>
                <a:spcPct val="115000"/>
              </a:lnSpc>
              <a:spcBef>
                <a:spcPts val="1200"/>
              </a:spcBef>
              <a:spcAft>
                <a:spcPts val="0"/>
              </a:spcAft>
              <a:buNone/>
            </a:pPr>
            <a:endParaRPr sz="2200" b="1">
              <a:solidFill>
                <a:schemeClr val="dk1"/>
              </a:solidFill>
            </a:endParaRPr>
          </a:p>
          <a:p>
            <a:pPr marL="0" lvl="0" indent="0" algn="l" rtl="0">
              <a:lnSpc>
                <a:spcPct val="115000"/>
              </a:lnSpc>
              <a:spcBef>
                <a:spcPts val="1200"/>
              </a:spcBef>
              <a:spcAft>
                <a:spcPts val="0"/>
              </a:spcAft>
              <a:buNone/>
            </a:pPr>
            <a:endParaRPr sz="2200" b="1">
              <a:solidFill>
                <a:schemeClr val="dk1"/>
              </a:solidFill>
            </a:endParaRPr>
          </a:p>
          <a:p>
            <a:pPr marL="0" lvl="0" indent="0" algn="l" rtl="0">
              <a:lnSpc>
                <a:spcPct val="115000"/>
              </a:lnSpc>
              <a:spcBef>
                <a:spcPts val="1200"/>
              </a:spcBef>
              <a:spcAft>
                <a:spcPts val="0"/>
              </a:spcAft>
              <a:buNone/>
            </a:pPr>
            <a:endParaRPr sz="2200" b="1">
              <a:solidFill>
                <a:schemeClr val="dk1"/>
              </a:solidFill>
            </a:endParaRPr>
          </a:p>
          <a:p>
            <a:pPr marL="0" lvl="0" indent="0" algn="l" rtl="0">
              <a:lnSpc>
                <a:spcPct val="115000"/>
              </a:lnSpc>
              <a:spcBef>
                <a:spcPts val="1200"/>
              </a:spcBef>
              <a:spcAft>
                <a:spcPts val="0"/>
              </a:spcAft>
              <a:buNone/>
            </a:pPr>
            <a:r>
              <a:rPr lang="en-US" sz="2200" b="1">
                <a:solidFill>
                  <a:schemeClr val="dk1"/>
                </a:solidFill>
              </a:rPr>
              <a:t>Contoh</a:t>
            </a:r>
            <a:endParaRPr sz="22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200" b="1">
              <a:solidFill>
                <a:schemeClr val="dk1"/>
              </a:solidFill>
            </a:endParaRPr>
          </a:p>
          <a:p>
            <a:pPr marL="0" marR="0" lvl="0" indent="0" algn="l" rtl="0">
              <a:lnSpc>
                <a:spcPct val="115000"/>
              </a:lnSpc>
              <a:spcBef>
                <a:spcPts val="200"/>
              </a:spcBef>
              <a:spcAft>
                <a:spcPts val="0"/>
              </a:spcAft>
              <a:buNone/>
            </a:pPr>
            <a:endParaRPr sz="4100" b="1">
              <a:solidFill>
                <a:schemeClr val="dk1"/>
              </a:solidFill>
            </a:endParaRPr>
          </a:p>
        </p:txBody>
      </p:sp>
      <p:pic>
        <p:nvPicPr>
          <p:cNvPr id="125" name="Google Shape;125;p3"/>
          <p:cNvPicPr preferRelativeResize="0"/>
          <p:nvPr/>
        </p:nvPicPr>
        <p:blipFill>
          <a:blip r:embed="rId2"/>
          <a:stretch>
            <a:fillRect/>
          </a:stretch>
        </p:blipFill>
        <p:spPr>
          <a:xfrm>
            <a:off x="679525" y="3341175"/>
            <a:ext cx="10687050" cy="2667000"/>
          </a:xfrm>
          <a:prstGeom prst="rect">
            <a:avLst/>
          </a:prstGeom>
          <a:noFill/>
          <a:ln>
            <a:noFill/>
          </a:ln>
        </p:spPr>
      </p:pic>
      <p:pic>
        <p:nvPicPr>
          <p:cNvPr id="126" name="Google Shape;126;p3"/>
          <p:cNvPicPr preferRelativeResize="0"/>
          <p:nvPr/>
        </p:nvPicPr>
        <p:blipFill>
          <a:blip r:embed="rId3"/>
          <a:stretch>
            <a:fillRect/>
          </a:stretch>
        </p:blipFill>
        <p:spPr>
          <a:xfrm>
            <a:off x="679525" y="7070625"/>
            <a:ext cx="10687050" cy="2457450"/>
          </a:xfrm>
          <a:prstGeom prst="rect">
            <a:avLst/>
          </a:prstGeom>
          <a:noFill/>
          <a:ln>
            <a:noFill/>
          </a:ln>
        </p:spPr>
      </p:pic>
      <p:sp>
        <p:nvSpPr>
          <p:cNvPr id="127" name="Google Shape;127;p3"/>
          <p:cNvSpPr/>
          <p:nvPr/>
        </p:nvSpPr>
        <p:spPr>
          <a:xfrm>
            <a:off x="14008032" y="2976004"/>
            <a:ext cx="3701593" cy="4723610"/>
          </a:xfrm>
          <a:custGeom>
            <a:avLst/>
            <a:gdLst/>
            <a:ahLst/>
            <a:cxnLst/>
            <a:rect l="l" t="t" r="r" b="b"/>
            <a:pathLst>
              <a:path w="3701593" h="4723610" extrusionOk="0">
                <a:moveTo>
                  <a:pt x="0" y="0"/>
                </a:moveTo>
                <a:lnTo>
                  <a:pt x="3701593" y="0"/>
                </a:lnTo>
                <a:lnTo>
                  <a:pt x="3701593" y="4723610"/>
                </a:lnTo>
                <a:lnTo>
                  <a:pt x="0" y="4723610"/>
                </a:lnTo>
                <a:lnTo>
                  <a:pt x="0" y="0"/>
                </a:lnTo>
                <a:close/>
              </a:path>
            </a:pathLst>
          </a:custGeom>
          <a:blipFill rotWithShape="1">
            <a:blip r:embed="rId4"/>
            <a:stretch>
              <a:fillRect/>
            </a:stretch>
          </a:blipFill>
          <a:ln>
            <a:noFill/>
          </a:ln>
        </p:spPr>
      </p:sp>
      <p:sp>
        <p:nvSpPr>
          <p:cNvPr id="128" name="Google Shape;128;p3"/>
          <p:cNvSpPr/>
          <p:nvPr/>
        </p:nvSpPr>
        <p:spPr>
          <a:xfrm>
            <a:off x="12245731" y="5930593"/>
            <a:ext cx="3718302" cy="2393234"/>
          </a:xfrm>
          <a:custGeom>
            <a:avLst/>
            <a:gdLst/>
            <a:ahLst/>
            <a:cxnLst/>
            <a:rect l="l" t="t" r="r" b="b"/>
            <a:pathLst>
              <a:path w="3718302" h="2393234" extrusionOk="0">
                <a:moveTo>
                  <a:pt x="0" y="0"/>
                </a:moveTo>
                <a:lnTo>
                  <a:pt x="3718301" y="0"/>
                </a:lnTo>
                <a:lnTo>
                  <a:pt x="3718301" y="2393234"/>
                </a:lnTo>
                <a:lnTo>
                  <a:pt x="0" y="2393234"/>
                </a:lnTo>
                <a:lnTo>
                  <a:pt x="0" y="0"/>
                </a:lnTo>
                <a:close/>
              </a:path>
            </a:pathLst>
          </a:custGeom>
          <a:blipFill rotWithShape="1">
            <a:blip r:embed="rId5"/>
            <a:stretch>
              <a:fillRect/>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32" name="Shape 132"/>
        <p:cNvGrpSpPr/>
        <p:nvPr/>
      </p:nvGrpSpPr>
      <p:grpSpPr>
        <a:xfrm>
          <a:off x="0" y="0"/>
          <a:ext cx="0" cy="0"/>
          <a:chOff x="0" y="0"/>
          <a:chExt cx="0" cy="0"/>
        </a:xfrm>
      </p:grpSpPr>
      <p:sp>
        <p:nvSpPr>
          <p:cNvPr id="133" name="Google Shape;133;p4"/>
          <p:cNvSpPr/>
          <p:nvPr/>
        </p:nvSpPr>
        <p:spPr>
          <a:xfrm>
            <a:off x="14669258" y="1865429"/>
            <a:ext cx="3102858" cy="5004610"/>
          </a:xfrm>
          <a:custGeom>
            <a:avLst/>
            <a:gdLst/>
            <a:ahLst/>
            <a:cxnLst/>
            <a:rect l="l" t="t" r="r" b="b"/>
            <a:pathLst>
              <a:path w="3102858" h="5004610" extrusionOk="0">
                <a:moveTo>
                  <a:pt x="0" y="0"/>
                </a:moveTo>
                <a:lnTo>
                  <a:pt x="3102858" y="0"/>
                </a:lnTo>
                <a:lnTo>
                  <a:pt x="3102858" y="5004610"/>
                </a:lnTo>
                <a:lnTo>
                  <a:pt x="0" y="5004610"/>
                </a:lnTo>
                <a:lnTo>
                  <a:pt x="0" y="0"/>
                </a:lnTo>
                <a:close/>
              </a:path>
            </a:pathLst>
          </a:custGeom>
          <a:blipFill rotWithShape="1">
            <a:blip r:embed="rId1"/>
            <a:stretch>
              <a:fillRect/>
            </a:stretch>
          </a:blipFill>
          <a:ln>
            <a:noFill/>
          </a:ln>
        </p:spPr>
      </p:sp>
      <p:sp>
        <p:nvSpPr>
          <p:cNvPr id="134" name="Google Shape;134;p4"/>
          <p:cNvSpPr txBox="1"/>
          <p:nvPr/>
        </p:nvSpPr>
        <p:spPr>
          <a:xfrm>
            <a:off x="3695075" y="942025"/>
            <a:ext cx="9109200" cy="585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800" b="1">
                <a:solidFill>
                  <a:srgbClr val="343434"/>
                </a:solidFill>
              </a:rPr>
              <a:t>Unordered List (Daftar Tidak Terurut)</a:t>
            </a:r>
            <a:endParaRPr sz="1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5" name="Google Shape;135;p4"/>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6" name="Google Shape;136;p4"/>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7" name="Google Shape;137;p4"/>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8" name="Google Shape;138;p4"/>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 name="Google Shape;139;p4"/>
          <p:cNvSpPr txBox="1"/>
          <p:nvPr/>
        </p:nvSpPr>
        <p:spPr>
          <a:xfrm>
            <a:off x="767175" y="2402850"/>
            <a:ext cx="12874200" cy="20148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Unordered list digunakan untuk menyajikan item-item yang tidak memiliki urutan tertentu. Setiap item dalam daftar ini akan diberi simbol (bullet) secara otomatis.</a:t>
            </a: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200" b="1">
                <a:solidFill>
                  <a:schemeClr val="dk1"/>
                </a:solidFill>
              </a:rPr>
              <a:t>Sintaks</a:t>
            </a:r>
            <a:endParaRPr sz="2200" b="1">
              <a:solidFill>
                <a:schemeClr val="dk1"/>
              </a:solidFill>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3500">
              <a:solidFill>
                <a:schemeClr val="dk1"/>
              </a:solidFill>
            </a:endParaRPr>
          </a:p>
        </p:txBody>
      </p:sp>
      <p:sp>
        <p:nvSpPr>
          <p:cNvPr id="140" name="Google Shape;140;p4"/>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04</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1" name="Google Shape;141;p4"/>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42" name="Google Shape;142;p4"/>
          <p:cNvSpPr txBox="1"/>
          <p:nvPr/>
        </p:nvSpPr>
        <p:spPr>
          <a:xfrm>
            <a:off x="767175" y="6573225"/>
            <a:ext cx="110259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400"/>
              </a:spcAft>
              <a:buClr>
                <a:srgbClr val="000000"/>
              </a:buClr>
              <a:buSzPts val="2400"/>
              <a:buFont typeface="Arial" panose="020B0604020202090204"/>
              <a:buNone/>
            </a:pPr>
            <a:r>
              <a:rPr lang="en-US" sz="2400" b="1">
                <a:solidFill>
                  <a:schemeClr val="dk1"/>
                </a:solidFill>
              </a:rPr>
              <a:t>Contoh</a:t>
            </a:r>
            <a:endParaRPr sz="2400" b="1"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pic>
        <p:nvPicPr>
          <p:cNvPr id="143" name="Google Shape;143;p4"/>
          <p:cNvPicPr preferRelativeResize="0"/>
          <p:nvPr/>
        </p:nvPicPr>
        <p:blipFill>
          <a:blip r:embed="rId2"/>
          <a:stretch>
            <a:fillRect/>
          </a:stretch>
        </p:blipFill>
        <p:spPr>
          <a:xfrm>
            <a:off x="849825" y="3914775"/>
            <a:ext cx="10687050" cy="2457450"/>
          </a:xfrm>
          <a:prstGeom prst="rect">
            <a:avLst/>
          </a:prstGeom>
          <a:noFill/>
          <a:ln>
            <a:noFill/>
          </a:ln>
        </p:spPr>
      </p:pic>
      <p:pic>
        <p:nvPicPr>
          <p:cNvPr id="144" name="Google Shape;144;p4"/>
          <p:cNvPicPr preferRelativeResize="0"/>
          <p:nvPr/>
        </p:nvPicPr>
        <p:blipFill>
          <a:blip r:embed="rId3"/>
          <a:stretch>
            <a:fillRect/>
          </a:stretch>
        </p:blipFill>
        <p:spPr>
          <a:xfrm>
            <a:off x="849825" y="7210000"/>
            <a:ext cx="10687050" cy="2457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48" name="Shape 148"/>
        <p:cNvGrpSpPr/>
        <p:nvPr/>
      </p:nvGrpSpPr>
      <p:grpSpPr>
        <a:xfrm>
          <a:off x="0" y="0"/>
          <a:ext cx="0" cy="0"/>
          <a:chOff x="0" y="0"/>
          <a:chExt cx="0" cy="0"/>
        </a:xfrm>
      </p:grpSpPr>
      <p:sp>
        <p:nvSpPr>
          <p:cNvPr id="149" name="Google Shape;149;p5"/>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50" name="Google Shape;150;p5"/>
          <p:cNvSpPr/>
          <p:nvPr/>
        </p:nvSpPr>
        <p:spPr>
          <a:xfrm>
            <a:off x="13675814" y="1993414"/>
            <a:ext cx="4355876" cy="6337915"/>
          </a:xfrm>
          <a:custGeom>
            <a:avLst/>
            <a:gdLst/>
            <a:ahLst/>
            <a:cxnLst/>
            <a:rect l="l" t="t" r="r" b="b"/>
            <a:pathLst>
              <a:path w="4355876" h="6337915" extrusionOk="0">
                <a:moveTo>
                  <a:pt x="0" y="0"/>
                </a:moveTo>
                <a:lnTo>
                  <a:pt x="4355877" y="0"/>
                </a:lnTo>
                <a:lnTo>
                  <a:pt x="4355877" y="6337915"/>
                </a:lnTo>
                <a:lnTo>
                  <a:pt x="0" y="6337915"/>
                </a:lnTo>
                <a:lnTo>
                  <a:pt x="0" y="0"/>
                </a:lnTo>
                <a:close/>
              </a:path>
            </a:pathLst>
          </a:custGeom>
          <a:blipFill rotWithShape="1">
            <a:blip r:embed="rId2"/>
            <a:stretch>
              <a:fillRect/>
            </a:stretch>
          </a:blipFill>
          <a:ln>
            <a:noFill/>
          </a:ln>
        </p:spPr>
      </p:sp>
      <p:sp>
        <p:nvSpPr>
          <p:cNvPr id="151" name="Google Shape;151;p5"/>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2" name="Google Shape;152;p5"/>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3" name="Google Shape;153;p5"/>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4" name="Google Shape;154;p5"/>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5" name="Google Shape;155;p5"/>
          <p:cNvSpPr txBox="1"/>
          <p:nvPr/>
        </p:nvSpPr>
        <p:spPr>
          <a:xfrm>
            <a:off x="601750" y="2680825"/>
            <a:ext cx="12202500" cy="26499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600">
                <a:solidFill>
                  <a:srgbClr val="343434"/>
                </a:solidFill>
                <a:latin typeface="DM Sans"/>
                <a:ea typeface="DM Sans"/>
                <a:cs typeface="DM Sans"/>
                <a:sym typeface="DM Sans"/>
              </a:rPr>
              <a:t>Description list digunakan untuk menyajikan istilah dan deskripsinya. Ini berguna untuk membuat daftar istilah atau definisi.</a:t>
            </a:r>
            <a:endParaRPr sz="2600">
              <a:solidFill>
                <a:srgbClr val="343434"/>
              </a:solidFill>
              <a:latin typeface="DM Sans"/>
              <a:ea typeface="DM Sans"/>
              <a:cs typeface="DM Sans"/>
              <a:sym typeface="DM Sans"/>
            </a:endParaRPr>
          </a:p>
          <a:p>
            <a:pPr marL="0" lvl="0" indent="0" algn="l" rtl="0">
              <a:lnSpc>
                <a:spcPct val="115000"/>
              </a:lnSpc>
              <a:spcBef>
                <a:spcPts val="1200"/>
              </a:spcBef>
              <a:spcAft>
                <a:spcPts val="0"/>
              </a:spcAft>
              <a:buClr>
                <a:schemeClr val="dk1"/>
              </a:buClr>
              <a:buSzPts val="1100"/>
              <a:buFont typeface="Arial" panose="020B0604020202090204"/>
              <a:buNone/>
            </a:pPr>
            <a:r>
              <a:rPr lang="en-US" sz="2300" b="1">
                <a:solidFill>
                  <a:schemeClr val="dk1"/>
                </a:solidFill>
              </a:rPr>
              <a:t>Sintaks</a:t>
            </a:r>
            <a:endParaRPr sz="2300" b="1">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endParaRPr sz="2600">
              <a:solidFill>
                <a:srgbClr val="343434"/>
              </a:solidFill>
              <a:latin typeface="DM Sans"/>
              <a:ea typeface="DM Sans"/>
              <a:cs typeface="DM Sans"/>
              <a:sym typeface="DM Sans"/>
            </a:endParaRPr>
          </a:p>
          <a:p>
            <a:pPr marL="0" marR="0" lvl="0" indent="0" algn="just" rtl="0">
              <a:lnSpc>
                <a:spcPct val="140000"/>
              </a:lnSpc>
              <a:spcBef>
                <a:spcPts val="1200"/>
              </a:spcBef>
              <a:spcAft>
                <a:spcPts val="0"/>
              </a:spcAft>
              <a:buClr>
                <a:srgbClr val="000000"/>
              </a:buClr>
              <a:buSzPts val="1700"/>
              <a:buFont typeface="Arial" panose="020B0604020202090204"/>
              <a:buNone/>
            </a:pPr>
            <a:endParaRPr sz="2600">
              <a:solidFill>
                <a:srgbClr val="343434"/>
              </a:solidFill>
              <a:latin typeface="DM Sans"/>
              <a:ea typeface="DM Sans"/>
              <a:cs typeface="DM Sans"/>
              <a:sym typeface="DM Sans"/>
            </a:endParaRPr>
          </a:p>
        </p:txBody>
      </p:sp>
      <p:sp>
        <p:nvSpPr>
          <p:cNvPr id="156" name="Google Shape;156;p5"/>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05</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7" name="Google Shape;157;p5"/>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58" name="Google Shape;158;p5"/>
          <p:cNvSpPr txBox="1"/>
          <p:nvPr/>
        </p:nvSpPr>
        <p:spPr>
          <a:xfrm>
            <a:off x="601750" y="6519625"/>
            <a:ext cx="10820400" cy="1125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2300"/>
              <a:buFont typeface="Arial" panose="020B0604020202090204"/>
              <a:buNone/>
            </a:pPr>
            <a:r>
              <a:rPr lang="en-US" sz="2300" b="1">
                <a:solidFill>
                  <a:schemeClr val="dk1"/>
                </a:solidFill>
              </a:rPr>
              <a:t>Contoh</a:t>
            </a:r>
            <a:endParaRPr sz="2300" b="0" i="0" u="none" strike="noStrike" cap="none">
              <a:solidFill>
                <a:schemeClr val="dk1"/>
              </a:solidFill>
              <a:latin typeface="Arial" panose="020B0604020202090204"/>
              <a:ea typeface="Arial" panose="020B0604020202090204"/>
              <a:cs typeface="Arial" panose="020B0604020202090204"/>
              <a:sym typeface="Arial" panose="020B0604020202090204"/>
            </a:endParaRPr>
          </a:p>
          <a:p>
            <a:pPr marL="0" marR="0" lvl="0" indent="0" algn="l" rtl="0">
              <a:lnSpc>
                <a:spcPct val="115000"/>
              </a:lnSpc>
              <a:spcBef>
                <a:spcPts val="1400"/>
              </a:spcBef>
              <a:spcAft>
                <a:spcPts val="400"/>
              </a:spcAft>
              <a:buClr>
                <a:srgbClr val="000000"/>
              </a:buClr>
              <a:buSzPts val="2300"/>
              <a:buFont typeface="Arial" panose="020B0604020202090204"/>
              <a:buNone/>
            </a:pPr>
            <a:endParaRPr sz="2300" b="0"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
        <p:nvSpPr>
          <p:cNvPr id="159" name="Google Shape;159;p5"/>
          <p:cNvSpPr txBox="1"/>
          <p:nvPr/>
        </p:nvSpPr>
        <p:spPr>
          <a:xfrm>
            <a:off x="3695075" y="942025"/>
            <a:ext cx="9109200" cy="585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3800" b="1">
                <a:solidFill>
                  <a:srgbClr val="343434"/>
                </a:solidFill>
              </a:rPr>
              <a:t>Description List (Daftar Deskripsi)</a:t>
            </a:r>
            <a:endParaRPr sz="1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60" name="Google Shape;160;p5"/>
          <p:cNvPicPr preferRelativeResize="0"/>
          <p:nvPr/>
        </p:nvPicPr>
        <p:blipFill>
          <a:blip r:embed="rId3"/>
          <a:stretch>
            <a:fillRect/>
          </a:stretch>
        </p:blipFill>
        <p:spPr>
          <a:xfrm>
            <a:off x="601750" y="4228350"/>
            <a:ext cx="10687050" cy="2291275"/>
          </a:xfrm>
          <a:prstGeom prst="rect">
            <a:avLst/>
          </a:prstGeom>
          <a:noFill/>
          <a:ln>
            <a:noFill/>
          </a:ln>
        </p:spPr>
      </p:pic>
      <p:pic>
        <p:nvPicPr>
          <p:cNvPr id="161" name="Google Shape;161;p5"/>
          <p:cNvPicPr preferRelativeResize="0"/>
          <p:nvPr/>
        </p:nvPicPr>
        <p:blipFill>
          <a:blip r:embed="rId4"/>
          <a:stretch>
            <a:fillRect/>
          </a:stretch>
        </p:blipFill>
        <p:spPr>
          <a:xfrm>
            <a:off x="601750" y="7042050"/>
            <a:ext cx="10687050" cy="2819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65" name="Shape 165"/>
        <p:cNvGrpSpPr/>
        <p:nvPr/>
      </p:nvGrpSpPr>
      <p:grpSpPr>
        <a:xfrm>
          <a:off x="0" y="0"/>
          <a:ext cx="0" cy="0"/>
          <a:chOff x="0" y="0"/>
          <a:chExt cx="0" cy="0"/>
        </a:xfrm>
      </p:grpSpPr>
      <p:sp>
        <p:nvSpPr>
          <p:cNvPr id="166" name="Google Shape;166;p6"/>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67" name="Google Shape;167;p6"/>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8" name="Google Shape;168;p6"/>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69" name="Google Shape;169;p6"/>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0" name="Google Shape;170;p6"/>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1" name="Google Shape;171;p6"/>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06</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2" name="Google Shape;172;p6"/>
          <p:cNvSpPr txBox="1"/>
          <p:nvPr/>
        </p:nvSpPr>
        <p:spPr>
          <a:xfrm>
            <a:off x="1351352" y="2198650"/>
            <a:ext cx="8715600" cy="48948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US" sz="2200">
                <a:solidFill>
                  <a:schemeClr val="dk1"/>
                </a:solidFill>
              </a:rPr>
              <a:t>Beberapa atribut dapat digunakan untuk mengubah tampilan list, seperti:</a:t>
            </a:r>
            <a:endParaRPr sz="2200">
              <a:solidFill>
                <a:schemeClr val="dk1"/>
              </a:solidFill>
            </a:endParaRPr>
          </a:p>
          <a:p>
            <a:pPr marL="457200" lvl="0" indent="-368300" algn="l" rtl="0">
              <a:lnSpc>
                <a:spcPct val="115000"/>
              </a:lnSpc>
              <a:spcBef>
                <a:spcPts val="1200"/>
              </a:spcBef>
              <a:spcAft>
                <a:spcPts val="0"/>
              </a:spcAft>
              <a:buClr>
                <a:schemeClr val="dk1"/>
              </a:buClr>
              <a:buSzPts val="2200"/>
              <a:buChar char="●"/>
            </a:pPr>
            <a:r>
              <a:rPr lang="en-US" sz="2200" b="1">
                <a:solidFill>
                  <a:schemeClr val="dk1"/>
                </a:solidFill>
              </a:rPr>
              <a:t>type</a:t>
            </a:r>
            <a:r>
              <a:rPr lang="en-US" sz="2200">
                <a:solidFill>
                  <a:schemeClr val="dk1"/>
                </a:solidFill>
              </a:rPr>
              <a:t>: Atribut ini digunakan untuk menentukan jenis penomoran pada ordered list. Nilai yang dapat digunakan adalah:</a:t>
            </a:r>
            <a:endParaRPr sz="2200">
              <a:solidFill>
                <a:schemeClr val="dk1"/>
              </a:solidFill>
            </a:endParaRPr>
          </a:p>
          <a:p>
            <a:pPr marL="914400" lvl="1" indent="-368300" algn="l" rtl="0">
              <a:lnSpc>
                <a:spcPct val="115000"/>
              </a:lnSpc>
              <a:spcBef>
                <a:spcPts val="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1</a:t>
            </a:r>
            <a:r>
              <a:rPr lang="en-US" sz="2200">
                <a:solidFill>
                  <a:schemeClr val="dk1"/>
                </a:solidFill>
              </a:rPr>
              <a:t> untuk angka (1, 2, 3, ...)</a:t>
            </a:r>
            <a:endParaRPr sz="2200">
              <a:solidFill>
                <a:schemeClr val="dk1"/>
              </a:solidFill>
            </a:endParaRPr>
          </a:p>
          <a:p>
            <a:pPr marL="914400" lvl="1" indent="-368300" algn="l" rtl="0">
              <a:lnSpc>
                <a:spcPct val="115000"/>
              </a:lnSpc>
              <a:spcBef>
                <a:spcPts val="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A</a:t>
            </a:r>
            <a:r>
              <a:rPr lang="en-US" sz="2200">
                <a:solidFill>
                  <a:schemeClr val="dk1"/>
                </a:solidFill>
              </a:rPr>
              <a:t> untuk huruf kapital (A, B, C, ...)</a:t>
            </a:r>
            <a:endParaRPr sz="2200">
              <a:solidFill>
                <a:schemeClr val="dk1"/>
              </a:solidFill>
            </a:endParaRPr>
          </a:p>
          <a:p>
            <a:pPr marL="914400" lvl="1" indent="-368300" algn="l" rtl="0">
              <a:lnSpc>
                <a:spcPct val="115000"/>
              </a:lnSpc>
              <a:spcBef>
                <a:spcPts val="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a</a:t>
            </a:r>
            <a:r>
              <a:rPr lang="en-US" sz="2200">
                <a:solidFill>
                  <a:schemeClr val="dk1"/>
                </a:solidFill>
              </a:rPr>
              <a:t> untuk huruf kecil (a, b, c, ...)</a:t>
            </a:r>
            <a:endParaRPr sz="2200">
              <a:solidFill>
                <a:schemeClr val="dk1"/>
              </a:solidFill>
            </a:endParaRPr>
          </a:p>
          <a:p>
            <a:pPr marL="914400" lvl="1" indent="-368300" algn="l" rtl="0">
              <a:lnSpc>
                <a:spcPct val="115000"/>
              </a:lnSpc>
              <a:spcBef>
                <a:spcPts val="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I</a:t>
            </a:r>
            <a:r>
              <a:rPr lang="en-US" sz="2200">
                <a:solidFill>
                  <a:schemeClr val="dk1"/>
                </a:solidFill>
              </a:rPr>
              <a:t> untuk angka Romawi kapital (I, II, III, ...)</a:t>
            </a:r>
            <a:endParaRPr sz="2200">
              <a:solidFill>
                <a:schemeClr val="dk1"/>
              </a:solidFill>
            </a:endParaRPr>
          </a:p>
          <a:p>
            <a:pPr marL="914400" lvl="1" indent="-368300" algn="l" rtl="0">
              <a:lnSpc>
                <a:spcPct val="115000"/>
              </a:lnSpc>
              <a:spcBef>
                <a:spcPts val="0"/>
              </a:spcBef>
              <a:spcAft>
                <a:spcPts val="0"/>
              </a:spcAft>
              <a:buClr>
                <a:schemeClr val="dk1"/>
              </a:buClr>
              <a:buSzPts val="2200"/>
              <a:buChar char="○"/>
            </a:pPr>
            <a:r>
              <a:rPr lang="en-US" sz="2200">
                <a:solidFill>
                  <a:srgbClr val="188038"/>
                </a:solidFill>
                <a:latin typeface="Roboto Mono" panose="00000009000000000000"/>
                <a:ea typeface="Roboto Mono" panose="00000009000000000000"/>
                <a:cs typeface="Roboto Mono" panose="00000009000000000000"/>
                <a:sym typeface="Roboto Mono" panose="00000009000000000000"/>
              </a:rPr>
              <a:t>i</a:t>
            </a:r>
            <a:r>
              <a:rPr lang="en-US" sz="2200">
                <a:solidFill>
                  <a:schemeClr val="dk1"/>
                </a:solidFill>
              </a:rPr>
              <a:t> untuk angka Romawi kecil (i, ii, iii, ...)</a:t>
            </a:r>
            <a:endParaRPr sz="22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90204"/>
              <a:buNone/>
            </a:pPr>
            <a:r>
              <a:rPr lang="en-US" sz="2200" b="1">
                <a:solidFill>
                  <a:schemeClr val="dk1"/>
                </a:solidFill>
              </a:rPr>
              <a:t>Contoh Penggunaan Atribut </a:t>
            </a:r>
            <a:r>
              <a:rPr lang="en-US" sz="2200" b="1">
                <a:solidFill>
                  <a:srgbClr val="188038"/>
                </a:solidFill>
                <a:latin typeface="Roboto Mono" panose="00000009000000000000"/>
                <a:ea typeface="Roboto Mono" panose="00000009000000000000"/>
                <a:cs typeface="Roboto Mono" panose="00000009000000000000"/>
                <a:sym typeface="Roboto Mono" panose="00000009000000000000"/>
              </a:rPr>
              <a:t>type</a:t>
            </a:r>
            <a:endParaRPr sz="2200" b="1">
              <a:solidFill>
                <a:srgbClr val="188038"/>
              </a:solidFill>
              <a:latin typeface="Roboto Mono" panose="00000009000000000000"/>
              <a:ea typeface="Roboto Mono" panose="00000009000000000000"/>
              <a:cs typeface="Roboto Mono" panose="00000009000000000000"/>
              <a:sym typeface="Roboto Mono" panose="00000009000000000000"/>
            </a:endParaRPr>
          </a:p>
          <a:p>
            <a:pPr marL="0" marR="0" lvl="0" indent="0" algn="ctr" rtl="0">
              <a:lnSpc>
                <a:spcPct val="140000"/>
              </a:lnSpc>
              <a:spcBef>
                <a:spcPts val="1200"/>
              </a:spcBef>
              <a:spcAft>
                <a:spcPts val="0"/>
              </a:spcAft>
              <a:buClr>
                <a:srgbClr val="000000"/>
              </a:buClr>
              <a:buSzPts val="2000"/>
              <a:buFont typeface="Arial" panose="020B0604020202090204"/>
              <a:buNone/>
            </a:pPr>
            <a:endParaRPr sz="3500" b="1">
              <a:solidFill>
                <a:schemeClr val="dk1"/>
              </a:solidFill>
            </a:endParaRPr>
          </a:p>
        </p:txBody>
      </p:sp>
      <p:sp>
        <p:nvSpPr>
          <p:cNvPr id="173" name="Google Shape;173;p6"/>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74" name="Google Shape;174;p6"/>
          <p:cNvSpPr/>
          <p:nvPr/>
        </p:nvSpPr>
        <p:spPr>
          <a:xfrm>
            <a:off x="14115554" y="2963602"/>
            <a:ext cx="2882196" cy="3943304"/>
          </a:xfrm>
          <a:custGeom>
            <a:avLst/>
            <a:gdLst/>
            <a:ahLst/>
            <a:cxnLst/>
            <a:rect l="l" t="t" r="r" b="b"/>
            <a:pathLst>
              <a:path w="2882196" h="3943304" extrusionOk="0">
                <a:moveTo>
                  <a:pt x="0" y="0"/>
                </a:moveTo>
                <a:lnTo>
                  <a:pt x="2882196" y="0"/>
                </a:lnTo>
                <a:lnTo>
                  <a:pt x="2882196" y="3943304"/>
                </a:lnTo>
                <a:lnTo>
                  <a:pt x="0" y="3943304"/>
                </a:lnTo>
                <a:lnTo>
                  <a:pt x="0" y="0"/>
                </a:lnTo>
                <a:close/>
              </a:path>
            </a:pathLst>
          </a:custGeom>
          <a:blipFill rotWithShape="1">
            <a:blip r:embed="rId2"/>
            <a:stretch>
              <a:fillRect/>
            </a:stretch>
          </a:blipFill>
          <a:ln>
            <a:noFill/>
          </a:ln>
        </p:spPr>
      </p:sp>
      <p:sp>
        <p:nvSpPr>
          <p:cNvPr id="175" name="Google Shape;175;p6"/>
          <p:cNvSpPr txBox="1"/>
          <p:nvPr/>
        </p:nvSpPr>
        <p:spPr>
          <a:xfrm>
            <a:off x="3695075" y="942025"/>
            <a:ext cx="9109200" cy="585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6000"/>
              <a:buFont typeface="Arial" panose="020B0604020202090204"/>
              <a:buNone/>
            </a:pPr>
            <a:r>
              <a:rPr lang="en-US" sz="3800" b="1">
                <a:solidFill>
                  <a:srgbClr val="343434"/>
                </a:solidFill>
              </a:rPr>
              <a:t>Atribut List</a:t>
            </a:r>
            <a:endParaRPr sz="1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pic>
        <p:nvPicPr>
          <p:cNvPr id="176" name="Google Shape;176;p6"/>
          <p:cNvPicPr preferRelativeResize="0"/>
          <p:nvPr/>
        </p:nvPicPr>
        <p:blipFill>
          <a:blip r:embed="rId3"/>
          <a:stretch>
            <a:fillRect/>
          </a:stretch>
        </p:blipFill>
        <p:spPr>
          <a:xfrm>
            <a:off x="1446675" y="6638125"/>
            <a:ext cx="10687050" cy="2171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80" name="Shape 180"/>
        <p:cNvGrpSpPr/>
        <p:nvPr/>
      </p:nvGrpSpPr>
      <p:grpSpPr>
        <a:xfrm>
          <a:off x="0" y="0"/>
          <a:ext cx="0" cy="0"/>
          <a:chOff x="0" y="0"/>
          <a:chExt cx="0" cy="0"/>
        </a:xfrm>
      </p:grpSpPr>
      <p:sp>
        <p:nvSpPr>
          <p:cNvPr id="181" name="Google Shape;181;g33064f6f14d_0_24"/>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82" name="Google Shape;182;g33064f6f14d_0_24"/>
          <p:cNvSpPr txBox="1"/>
          <p:nvPr/>
        </p:nvSpPr>
        <p:spPr>
          <a:xfrm>
            <a:off x="1262026" y="760675"/>
            <a:ext cx="13771500" cy="92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6000"/>
              <a:buFont typeface="Arial" panose="020B0604020202090204"/>
              <a:buNone/>
            </a:pPr>
            <a:r>
              <a:rPr lang="en-US" sz="6000" b="1" i="0" u="none" strike="noStrike" cap="none">
                <a:solidFill>
                  <a:srgbClr val="343434"/>
                </a:solidFill>
                <a:latin typeface="Arial" panose="020B0604020202090204"/>
                <a:ea typeface="Arial" panose="020B0604020202090204"/>
                <a:cs typeface="Arial" panose="020B0604020202090204"/>
                <a:sym typeface="Arial" panose="020B0604020202090204"/>
              </a:rPr>
              <a:t>Kesimpulan</a:t>
            </a:r>
            <a:endParaRPr sz="6000" b="1" i="0" u="none" strike="noStrike" cap="none">
              <a:solidFill>
                <a:srgbClr val="343434"/>
              </a:solidFill>
              <a:latin typeface="Arial" panose="020B0604020202090204"/>
              <a:ea typeface="Arial" panose="020B0604020202090204"/>
              <a:cs typeface="Arial" panose="020B0604020202090204"/>
              <a:sym typeface="Arial" panose="020B0604020202090204"/>
            </a:endParaRPr>
          </a:p>
        </p:txBody>
      </p:sp>
      <p:sp>
        <p:nvSpPr>
          <p:cNvPr id="183" name="Google Shape;183;g33064f6f14d_0_24"/>
          <p:cNvSpPr txBox="1"/>
          <p:nvPr/>
        </p:nvSpPr>
        <p:spPr>
          <a:xfrm>
            <a:off x="12319860"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4" name="Google Shape;184;g33064f6f14d_0_24"/>
          <p:cNvSpPr txBox="1"/>
          <p:nvPr/>
        </p:nvSpPr>
        <p:spPr>
          <a:xfrm>
            <a:off x="13424041" y="1111629"/>
            <a:ext cx="8475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5" name="Google Shape;185;g33064f6f14d_0_24"/>
          <p:cNvSpPr txBox="1"/>
          <p:nvPr/>
        </p:nvSpPr>
        <p:spPr>
          <a:xfrm>
            <a:off x="14528628" y="1111629"/>
            <a:ext cx="11058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6" name="Google Shape;186;g33064f6f14d_0_24"/>
          <p:cNvSpPr txBox="1"/>
          <p:nvPr/>
        </p:nvSpPr>
        <p:spPr>
          <a:xfrm>
            <a:off x="15923945" y="1111629"/>
            <a:ext cx="1335300" cy="223800"/>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87" name="Google Shape;187;g33064f6f14d_0_24"/>
          <p:cNvSpPr txBox="1"/>
          <p:nvPr/>
        </p:nvSpPr>
        <p:spPr>
          <a:xfrm>
            <a:off x="1662475" y="3202200"/>
            <a:ext cx="13971900" cy="26412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1200"/>
              </a:spcBef>
              <a:spcAft>
                <a:spcPts val="0"/>
              </a:spcAft>
              <a:buClr>
                <a:srgbClr val="000000"/>
              </a:buClr>
              <a:buSzPts val="1700"/>
              <a:buFont typeface="Arial" panose="020B0604020202090204"/>
              <a:buNone/>
            </a:pPr>
            <a:r>
              <a:rPr lang="en-US" sz="2600" b="1">
                <a:solidFill>
                  <a:schemeClr val="dk1"/>
                </a:solidFill>
              </a:rPr>
              <a:t>List dalam HTML adalah alat yang sangat berguna untuk menyajikan informasi dengan cara yang terstruktur dan mudah dipahami. Dengan menggunakan ordered list, unordered list, dan description list, kita dapat menyampaikan informasi dengan lebih efektif. Pemahaman yang baik tentang penggunaan list akan sangat membantu dalam pengembangan halaman web yang informatif dan menarik.</a:t>
            </a:r>
            <a:endParaRPr sz="2600" b="1" i="0" u="none" strike="noStrike" cap="none">
              <a:solidFill>
                <a:schemeClr val="dk1"/>
              </a:solidFill>
              <a:latin typeface="Arial" panose="020B0604020202090204"/>
              <a:ea typeface="Arial" panose="020B0604020202090204"/>
              <a:cs typeface="Arial" panose="020B0604020202090204"/>
              <a:sym typeface="Arial" panose="020B0604020202090204"/>
            </a:endParaRPr>
          </a:p>
        </p:txBody>
      </p:sp>
      <p:sp>
        <p:nvSpPr>
          <p:cNvPr id="188" name="Google Shape;188;g33064f6f14d_0_24"/>
          <p:cNvSpPr txBox="1"/>
          <p:nvPr/>
        </p:nvSpPr>
        <p:spPr>
          <a:xfrm>
            <a:off x="16253563" y="8991600"/>
            <a:ext cx="1005600" cy="5541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0</a:t>
            </a:r>
            <a:r>
              <a:rPr lang="en-US" sz="1500" b="1">
                <a:solidFill>
                  <a:srgbClr val="343434"/>
                </a:solidFill>
                <a:latin typeface="DM Sans"/>
                <a:ea typeface="DM Sans"/>
                <a:cs typeface="DM Sans"/>
                <a:sym typeface="DM Sans"/>
              </a:rPr>
              <a:t>7</a:t>
            </a:r>
            <a:endParaRPr sz="1500" b="1">
              <a:solidFill>
                <a:srgbClr val="343434"/>
              </a:solidFill>
              <a:latin typeface="DM Sans"/>
              <a:ea typeface="DM Sans"/>
              <a:cs typeface="DM Sans"/>
              <a:sym typeface="DM Sans"/>
            </a:endParaRPr>
          </a:p>
          <a:p>
            <a:pPr marL="0" marR="0" lvl="0" indent="0" algn="r" rtl="0">
              <a:lnSpc>
                <a:spcPct val="140000"/>
              </a:lnSpc>
              <a:spcBef>
                <a:spcPts val="0"/>
              </a:spcBef>
              <a:spcAft>
                <a:spcPts val="0"/>
              </a:spcAft>
              <a:buClr>
                <a:srgbClr val="000000"/>
              </a:buClr>
              <a:buSzPts val="1500"/>
              <a:buFont typeface="Arial" panose="020B0604020202090204"/>
              <a:buNone/>
            </a:pPr>
            <a:endParaRPr sz="1500" b="1">
              <a:solidFill>
                <a:srgbClr val="343434"/>
              </a:solidFill>
              <a:latin typeface="DM Sans"/>
              <a:ea typeface="DM Sans"/>
              <a:cs typeface="DM Sans"/>
              <a:sym typeface="DM Sans"/>
            </a:endParaRPr>
          </a:p>
        </p:txBody>
      </p:sp>
      <p:sp>
        <p:nvSpPr>
          <p:cNvPr id="189" name="Google Shape;189;g33064f6f14d_0_24"/>
          <p:cNvSpPr txBox="1"/>
          <p:nvPr/>
        </p:nvSpPr>
        <p:spPr>
          <a:xfrm>
            <a:off x="85924" y="182065"/>
            <a:ext cx="4479000" cy="277800"/>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5EC"/>
        </a:solidFill>
        <a:effectLst/>
      </p:bgPr>
    </p:bg>
    <p:spTree>
      <p:nvGrpSpPr>
        <p:cNvPr id="193" name="Shape 193"/>
        <p:cNvGrpSpPr/>
        <p:nvPr/>
      </p:nvGrpSpPr>
      <p:grpSpPr>
        <a:xfrm>
          <a:off x="0" y="0"/>
          <a:ext cx="0" cy="0"/>
          <a:chOff x="0" y="0"/>
          <a:chExt cx="0" cy="0"/>
        </a:xfrm>
      </p:grpSpPr>
      <p:sp>
        <p:nvSpPr>
          <p:cNvPr id="194" name="Google Shape;194;p10"/>
          <p:cNvSpPr/>
          <p:nvPr/>
        </p:nvSpPr>
        <p:spPr>
          <a:xfrm>
            <a:off x="-485035" y="-4485535"/>
            <a:ext cx="19258069" cy="19258069"/>
          </a:xfrm>
          <a:custGeom>
            <a:avLst/>
            <a:gdLst/>
            <a:ahLst/>
            <a:cxnLst/>
            <a:rect l="l" t="t" r="r" b="b"/>
            <a:pathLst>
              <a:path w="19258069" h="19258069" extrusionOk="0">
                <a:moveTo>
                  <a:pt x="0" y="0"/>
                </a:moveTo>
                <a:lnTo>
                  <a:pt x="19258070" y="0"/>
                </a:lnTo>
                <a:lnTo>
                  <a:pt x="19258070" y="19258070"/>
                </a:lnTo>
                <a:lnTo>
                  <a:pt x="0" y="19258070"/>
                </a:lnTo>
                <a:lnTo>
                  <a:pt x="0" y="0"/>
                </a:lnTo>
                <a:close/>
              </a:path>
            </a:pathLst>
          </a:custGeom>
          <a:blipFill rotWithShape="1">
            <a:blip r:embed="rId1">
              <a:alphaModFix amt="4000"/>
            </a:blip>
            <a:stretch>
              <a:fillRect/>
            </a:stretch>
          </a:blipFill>
          <a:ln>
            <a:noFill/>
          </a:ln>
        </p:spPr>
      </p:sp>
      <p:sp>
        <p:nvSpPr>
          <p:cNvPr id="195" name="Google Shape;195;p10"/>
          <p:cNvSpPr txBox="1"/>
          <p:nvPr/>
        </p:nvSpPr>
        <p:spPr>
          <a:xfrm>
            <a:off x="933983" y="3152569"/>
            <a:ext cx="16420035" cy="387481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19362"/>
              <a:buFont typeface="Arial" panose="020B0604020202090204"/>
              <a:buNone/>
            </a:pPr>
            <a:r>
              <a:rPr lang="en-US" sz="19360" b="1" i="0" u="none" strike="noStrike" cap="none">
                <a:solidFill>
                  <a:srgbClr val="343434"/>
                </a:solidFill>
                <a:latin typeface="Arial" panose="020B0604020202090204"/>
                <a:ea typeface="Arial" panose="020B0604020202090204"/>
                <a:cs typeface="Arial" panose="020B0604020202090204"/>
                <a:sym typeface="Arial" panose="020B0604020202090204"/>
              </a:rPr>
              <a:t>THANK YOU</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96" name="Google Shape;196;p10"/>
          <p:cNvSpPr/>
          <p:nvPr/>
        </p:nvSpPr>
        <p:spPr>
          <a:xfrm>
            <a:off x="5684547" y="6631976"/>
            <a:ext cx="442897" cy="442897"/>
          </a:xfrm>
          <a:custGeom>
            <a:avLst/>
            <a:gdLst/>
            <a:ahLst/>
            <a:cxnLst/>
            <a:rect l="l" t="t" r="r" b="b"/>
            <a:pathLst>
              <a:path w="442897" h="442897" extrusionOk="0">
                <a:moveTo>
                  <a:pt x="0" y="0"/>
                </a:moveTo>
                <a:lnTo>
                  <a:pt x="442897" y="0"/>
                </a:lnTo>
                <a:lnTo>
                  <a:pt x="442897" y="442897"/>
                </a:lnTo>
                <a:lnTo>
                  <a:pt x="0" y="442897"/>
                </a:lnTo>
                <a:lnTo>
                  <a:pt x="0" y="0"/>
                </a:lnTo>
                <a:close/>
              </a:path>
            </a:pathLst>
          </a:custGeom>
          <a:blipFill rotWithShape="1">
            <a:blip r:embed="rId2"/>
            <a:stretch>
              <a:fillRect/>
            </a:stretch>
          </a:blipFill>
          <a:ln>
            <a:noFill/>
          </a:ln>
        </p:spPr>
      </p:sp>
      <p:sp>
        <p:nvSpPr>
          <p:cNvPr id="197" name="Google Shape;197;p10"/>
          <p:cNvSpPr/>
          <p:nvPr/>
        </p:nvSpPr>
        <p:spPr>
          <a:xfrm rot="-1354446">
            <a:off x="15843106" y="2606653"/>
            <a:ext cx="1497033" cy="2339114"/>
          </a:xfrm>
          <a:custGeom>
            <a:avLst/>
            <a:gdLst/>
            <a:ahLst/>
            <a:cxnLst/>
            <a:rect l="l" t="t" r="r" b="b"/>
            <a:pathLst>
              <a:path w="1497033" h="2339114" extrusionOk="0">
                <a:moveTo>
                  <a:pt x="0" y="0"/>
                </a:moveTo>
                <a:lnTo>
                  <a:pt x="1497033" y="0"/>
                </a:lnTo>
                <a:lnTo>
                  <a:pt x="1497033" y="2339115"/>
                </a:lnTo>
                <a:lnTo>
                  <a:pt x="0" y="2339115"/>
                </a:lnTo>
                <a:lnTo>
                  <a:pt x="0" y="0"/>
                </a:lnTo>
                <a:close/>
              </a:path>
            </a:pathLst>
          </a:custGeom>
          <a:blipFill rotWithShape="1">
            <a:blip r:embed="rId3"/>
            <a:stretch>
              <a:fillRect/>
            </a:stretch>
          </a:blipFill>
          <a:ln>
            <a:noFill/>
          </a:ln>
        </p:spPr>
      </p:sp>
      <p:sp>
        <p:nvSpPr>
          <p:cNvPr id="198" name="Google Shape;198;p10"/>
          <p:cNvSpPr/>
          <p:nvPr/>
        </p:nvSpPr>
        <p:spPr>
          <a:xfrm rot="885027">
            <a:off x="5092713" y="2195823"/>
            <a:ext cx="2206219" cy="1740908"/>
          </a:xfrm>
          <a:custGeom>
            <a:avLst/>
            <a:gdLst/>
            <a:ahLst/>
            <a:cxnLst/>
            <a:rect l="l" t="t" r="r" b="b"/>
            <a:pathLst>
              <a:path w="2206219" h="1740908" extrusionOk="0">
                <a:moveTo>
                  <a:pt x="0" y="0"/>
                </a:moveTo>
                <a:lnTo>
                  <a:pt x="2206220" y="0"/>
                </a:lnTo>
                <a:lnTo>
                  <a:pt x="2206220" y="1740908"/>
                </a:lnTo>
                <a:lnTo>
                  <a:pt x="0" y="1740908"/>
                </a:lnTo>
                <a:lnTo>
                  <a:pt x="0" y="0"/>
                </a:lnTo>
                <a:close/>
              </a:path>
            </a:pathLst>
          </a:custGeom>
          <a:blipFill rotWithShape="1">
            <a:blip r:embed="rId4"/>
            <a:stretch>
              <a:fillRect/>
            </a:stretch>
          </a:blipFill>
          <a:ln>
            <a:noFill/>
          </a:ln>
        </p:spPr>
      </p:sp>
      <p:sp>
        <p:nvSpPr>
          <p:cNvPr id="199" name="Google Shape;199;p10"/>
          <p:cNvSpPr/>
          <p:nvPr/>
        </p:nvSpPr>
        <p:spPr>
          <a:xfrm>
            <a:off x="91839" y="8205407"/>
            <a:ext cx="4202073" cy="2521244"/>
          </a:xfrm>
          <a:custGeom>
            <a:avLst/>
            <a:gdLst/>
            <a:ahLst/>
            <a:cxnLst/>
            <a:rect l="l" t="t" r="r" b="b"/>
            <a:pathLst>
              <a:path w="4202073" h="2521244" extrusionOk="0">
                <a:moveTo>
                  <a:pt x="0" y="0"/>
                </a:moveTo>
                <a:lnTo>
                  <a:pt x="4202074" y="0"/>
                </a:lnTo>
                <a:lnTo>
                  <a:pt x="4202074" y="2521245"/>
                </a:lnTo>
                <a:lnTo>
                  <a:pt x="0" y="2521245"/>
                </a:lnTo>
                <a:lnTo>
                  <a:pt x="0" y="0"/>
                </a:lnTo>
                <a:close/>
              </a:path>
            </a:pathLst>
          </a:custGeom>
          <a:blipFill rotWithShape="1">
            <a:blip r:embed="rId5"/>
            <a:stretch>
              <a:fillRect/>
            </a:stretch>
          </a:blipFill>
          <a:ln>
            <a:noFill/>
          </a:ln>
        </p:spPr>
      </p:sp>
      <p:sp>
        <p:nvSpPr>
          <p:cNvPr id="200" name="Google Shape;200;p10"/>
          <p:cNvSpPr/>
          <p:nvPr/>
        </p:nvSpPr>
        <p:spPr>
          <a:xfrm rot="839221">
            <a:off x="9785300" y="7617346"/>
            <a:ext cx="1170380" cy="2030628"/>
          </a:xfrm>
          <a:custGeom>
            <a:avLst/>
            <a:gdLst/>
            <a:ahLst/>
            <a:cxnLst/>
            <a:rect l="l" t="t" r="r" b="b"/>
            <a:pathLst>
              <a:path w="1170380" h="2030628" extrusionOk="0">
                <a:moveTo>
                  <a:pt x="0" y="0"/>
                </a:moveTo>
                <a:lnTo>
                  <a:pt x="1170381" y="0"/>
                </a:lnTo>
                <a:lnTo>
                  <a:pt x="1170381" y="2030628"/>
                </a:lnTo>
                <a:lnTo>
                  <a:pt x="0" y="2030628"/>
                </a:lnTo>
                <a:lnTo>
                  <a:pt x="0" y="0"/>
                </a:lnTo>
                <a:close/>
              </a:path>
            </a:pathLst>
          </a:custGeom>
          <a:blipFill rotWithShape="1">
            <a:blip r:embed="rId6"/>
            <a:stretch>
              <a:fillRect/>
            </a:stretch>
          </a:blipFill>
          <a:ln>
            <a:noFill/>
          </a:ln>
        </p:spPr>
      </p:sp>
      <p:sp>
        <p:nvSpPr>
          <p:cNvPr id="201" name="Google Shape;201;p10"/>
          <p:cNvSpPr txBox="1"/>
          <p:nvPr/>
        </p:nvSpPr>
        <p:spPr>
          <a:xfrm>
            <a:off x="12319860"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HOME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2" name="Google Shape;202;p10"/>
          <p:cNvSpPr txBox="1"/>
          <p:nvPr/>
        </p:nvSpPr>
        <p:spPr>
          <a:xfrm>
            <a:off x="13424041" y="1111629"/>
            <a:ext cx="847412"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SERVICE</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3" name="Google Shape;203;p10"/>
          <p:cNvSpPr txBox="1"/>
          <p:nvPr/>
        </p:nvSpPr>
        <p:spPr>
          <a:xfrm>
            <a:off x="14528628" y="1111629"/>
            <a:ext cx="110573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ABOUT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4" name="Google Shape;204;p10"/>
          <p:cNvSpPr txBox="1"/>
          <p:nvPr/>
        </p:nvSpPr>
        <p:spPr>
          <a:xfrm>
            <a:off x="15923945" y="1111629"/>
            <a:ext cx="1335355" cy="221513"/>
          </a:xfrm>
          <a:prstGeom prst="rect">
            <a:avLst/>
          </a:prstGeom>
          <a:noFill/>
          <a:ln>
            <a:noFill/>
          </a:ln>
        </p:spPr>
        <p:txBody>
          <a:bodyPr spcFirstLastPara="1" wrap="square" lIns="0" tIns="0" rIns="0" bIns="0" anchor="t" anchorCtr="0">
            <a:spAutoFit/>
          </a:bodyPr>
          <a:lstStyle/>
          <a:p>
            <a:pPr marL="0" marR="0" lvl="1" indent="0" algn="ctr" rtl="0">
              <a:lnSpc>
                <a:spcPct val="129000"/>
              </a:lnSpc>
              <a:spcBef>
                <a:spcPts val="0"/>
              </a:spcBef>
              <a:spcAft>
                <a:spcPts val="0"/>
              </a:spcAft>
              <a:buClr>
                <a:srgbClr val="000000"/>
              </a:buClr>
              <a:buSzPts val="1453"/>
              <a:buFont typeface="Arial" panose="020B0604020202090204"/>
              <a:buNone/>
            </a:pPr>
            <a:r>
              <a:rPr lang="en-US" sz="1455" b="0" i="0" u="none" strike="noStrike" cap="none">
                <a:solidFill>
                  <a:srgbClr val="343434"/>
                </a:solidFill>
                <a:latin typeface="DM Sans"/>
                <a:ea typeface="DM Sans"/>
                <a:cs typeface="DM Sans"/>
                <a:sym typeface="DM Sans"/>
              </a:rPr>
              <a:t>CONTACT US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5" name="Google Shape;205;p10"/>
          <p:cNvSpPr txBox="1"/>
          <p:nvPr/>
        </p:nvSpPr>
        <p:spPr>
          <a:xfrm>
            <a:off x="16253563" y="8991600"/>
            <a:ext cx="1005737" cy="2667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Clr>
                <a:srgbClr val="000000"/>
              </a:buClr>
              <a:buSzPts val="1500"/>
              <a:buFont typeface="Arial" panose="020B0604020202090204"/>
              <a:buNone/>
            </a:pPr>
            <a:r>
              <a:rPr lang="en-US" sz="1500" b="1" i="0" u="none" strike="noStrike" cap="none">
                <a:solidFill>
                  <a:srgbClr val="343434"/>
                </a:solidFill>
                <a:latin typeface="DM Sans"/>
                <a:ea typeface="DM Sans"/>
                <a:cs typeface="DM Sans"/>
                <a:sym typeface="DM Sans"/>
              </a:rPr>
              <a:t>Page 10</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206" name="Google Shape;206;p10"/>
          <p:cNvSpPr txBox="1"/>
          <p:nvPr/>
        </p:nvSpPr>
        <p:spPr>
          <a:xfrm>
            <a:off x="85924" y="182065"/>
            <a:ext cx="4479095" cy="243569"/>
          </a:xfrm>
          <a:prstGeom prst="rect">
            <a:avLst/>
          </a:prstGeom>
          <a:noFill/>
          <a:ln>
            <a:noFill/>
          </a:ln>
        </p:spPr>
        <p:txBody>
          <a:bodyPr spcFirstLastPara="1" wrap="square" lIns="0" tIns="0" rIns="0" bIns="0" anchor="t" anchorCtr="0">
            <a:spAutoFit/>
          </a:bodyPr>
          <a:lstStyle/>
          <a:p>
            <a:pPr marL="0" marR="0" lvl="0" indent="0" algn="l" rtl="0">
              <a:lnSpc>
                <a:spcPct val="101000"/>
              </a:lnSpc>
              <a:spcBef>
                <a:spcPts val="0"/>
              </a:spcBef>
              <a:spcAft>
                <a:spcPts val="0"/>
              </a:spcAft>
              <a:buClr>
                <a:srgbClr val="000000"/>
              </a:buClr>
              <a:buSzPts val="1804"/>
              <a:buFont typeface="Arial" panose="020B0604020202090204"/>
              <a:buNone/>
            </a:pPr>
            <a:r>
              <a:rPr lang="en-US" sz="1805" b="1" i="0" u="none" strike="noStrike" cap="none">
                <a:solidFill>
                  <a:srgbClr val="343434"/>
                </a:solidFill>
                <a:latin typeface="DM Sans"/>
                <a:ea typeface="DM Sans"/>
                <a:cs typeface="DM Sans"/>
                <a:sym typeface="DM Sans"/>
              </a:rPr>
              <a:t>UNIVERSITAS PAMULANG KOTA SERANG</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2567</Words>
  <Application>WPS Presentation</Application>
  <PresentationFormat/>
  <Paragraphs>164</Paragraphs>
  <Slides>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vt:i4>
      </vt:variant>
    </vt:vector>
  </HeadingPairs>
  <TitlesOfParts>
    <vt:vector size="20" baseType="lpstr">
      <vt:lpstr>Arial</vt:lpstr>
      <vt:lpstr>SimSun</vt:lpstr>
      <vt:lpstr>Wingdings</vt:lpstr>
      <vt:lpstr>Arial</vt:lpstr>
      <vt:lpstr>Calibri</vt:lpstr>
      <vt:lpstr>Helvetica Neue</vt:lpstr>
      <vt:lpstr>DM Sans</vt:lpstr>
      <vt:lpstr>Roboto Mono</vt:lpstr>
      <vt:lpstr>Microsoft YaHei</vt:lpstr>
      <vt:lpstr>汉仪旗黑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macbookairm1</cp:lastModifiedBy>
  <cp:revision>1</cp:revision>
  <dcterms:created xsi:type="dcterms:W3CDTF">2025-02-17T08:53:58Z</dcterms:created>
  <dcterms:modified xsi:type="dcterms:W3CDTF">2025-02-17T08:53:58Z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A6B8F5F6E8BB41CB26F9B267BE00E4DB_42</vt:lpwstr>
  </property>
  <property fmtid="{D5CDD505-2E9C-101B-9397-08002B2CF9AE}" pid="3" name="KSOProductBuildVer">
    <vt:lpwstr>1033-6.11.0.8603</vt:lpwstr>
  </property>
</Properties>
</file>