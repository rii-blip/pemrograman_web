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8288000" cy="10287000"/>
  <p:notesSz cx="6858000" cy="9144000"/>
  <p:embeddedFontLst>
    <p:embeddedFont>
      <p:font typeface="DM Sans"/>
      <p:regular r:id="rId15"/>
    </p:embeddedFont>
    <p:embeddedFont>
      <p:font typeface="Roboto Mono" panose="0000000900000000000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6" name="Google Shape;11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2" name="Google Shape;13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6" name="Google Shape;14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1" name="Google Shape;161;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5" name="Google Shape;175;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8" name="Google Shape;188;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a:solidFill>
                  <a:srgbClr val="343434"/>
                </a:solidFill>
                <a:latin typeface="DM Sans"/>
                <a:ea typeface="DM Sans"/>
                <a:cs typeface="DM Sans"/>
                <a:sym typeface="DM Sans"/>
              </a:rPr>
              <a:t>Form pada HTML</a:t>
            </a:r>
            <a:endParaRPr sz="3600">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8</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4148100"/>
          </a:xfrm>
          <a:prstGeom prst="rect">
            <a:avLst/>
          </a:prstGeom>
          <a:noFill/>
          <a:ln>
            <a:noFill/>
          </a:ln>
        </p:spPr>
        <p:txBody>
          <a:bodyPr spcFirstLastPara="1" wrap="square" lIns="0" tIns="0" rIns="0" bIns="0" anchor="t" anchorCtr="0">
            <a:spAutoFit/>
          </a:bodyPr>
          <a:lstStyle/>
          <a:p>
            <a:pPr marL="0" lvl="0" indent="0" algn="l" rtl="0">
              <a:lnSpc>
                <a:spcPct val="191000"/>
              </a:lnSpc>
              <a:spcBef>
                <a:spcPts val="0"/>
              </a:spcBef>
              <a:spcAft>
                <a:spcPts val="0"/>
              </a:spcAft>
              <a:buClr>
                <a:schemeClr val="dk1"/>
              </a:buClr>
              <a:buSzPts val="1100"/>
              <a:buFont typeface="Arial" panose="020B0604020202090204"/>
              <a:buNone/>
            </a:pPr>
            <a:r>
              <a:rPr lang="en-US" sz="2100">
                <a:solidFill>
                  <a:schemeClr val="dk1"/>
                </a:solidFill>
              </a:rPr>
              <a:t>Formulir (form) adalah elemen penting dalam pengembangan web yang memungkinkan pengguna untuk mengirimkan data ke server. Dalam HTML, form digunakan untuk mengumpulkan informasi dari pengguna, seperti nama, alamat email, dan informasi lainnya. Materi ini akan membahas cara membuat dan mengelola form dalam HTML.</a:t>
            </a:r>
            <a:endParaRPr sz="2100">
              <a:solidFill>
                <a:schemeClr val="dk1"/>
              </a:solidFill>
            </a:endParaRPr>
          </a:p>
          <a:p>
            <a:pPr marL="0" lvl="0" indent="0" algn="l" rtl="0">
              <a:lnSpc>
                <a:spcPct val="110000"/>
              </a:lnSpc>
              <a:spcBef>
                <a:spcPts val="1800"/>
              </a:spcBef>
              <a:spcAft>
                <a:spcPts val="0"/>
              </a:spcAft>
              <a:buClr>
                <a:schemeClr val="dk1"/>
              </a:buClr>
              <a:buSzPts val="1100"/>
              <a:buFont typeface="Arial" panose="020B0604020202090204"/>
              <a:buNone/>
            </a:pPr>
            <a:r>
              <a:rPr lang="en-US" sz="2700" b="1">
                <a:solidFill>
                  <a:schemeClr val="dk1"/>
                </a:solidFill>
              </a:rPr>
              <a:t>Struktur Dasar Form</a:t>
            </a:r>
            <a:endParaRPr sz="2700" b="1">
              <a:solidFill>
                <a:schemeClr val="dk1"/>
              </a:solidFill>
            </a:endParaRPr>
          </a:p>
          <a:p>
            <a:pPr marL="0" lvl="0" indent="0" algn="l" rtl="0">
              <a:lnSpc>
                <a:spcPct val="191000"/>
              </a:lnSpc>
              <a:spcBef>
                <a:spcPts val="400"/>
              </a:spcBef>
              <a:spcAft>
                <a:spcPts val="0"/>
              </a:spcAft>
              <a:buClr>
                <a:schemeClr val="dk1"/>
              </a:buClr>
              <a:buSzPts val="1100"/>
              <a:buFont typeface="Arial" panose="020B0604020202090204"/>
              <a:buNone/>
            </a:pPr>
            <a:r>
              <a:rPr lang="en-US" sz="2100">
                <a:solidFill>
                  <a:schemeClr val="dk1"/>
                </a:solidFill>
              </a:rPr>
              <a:t>Form dalam HTML didefinisikan dengan menggunakan tag </a:t>
            </a:r>
            <a:r>
              <a:rPr lang="en-US" sz="2100">
                <a:solidFill>
                  <a:schemeClr val="dk1"/>
                </a:solidFill>
                <a:latin typeface="Courier New" panose="02070409020205090404"/>
                <a:ea typeface="Courier New" panose="02070409020205090404"/>
                <a:cs typeface="Courier New" panose="02070409020205090404"/>
                <a:sym typeface="Courier New" panose="02070409020205090404"/>
              </a:rPr>
              <a:t>&lt;form&gt;</a:t>
            </a:r>
            <a:r>
              <a:rPr lang="en-US" sz="2100">
                <a:solidFill>
                  <a:schemeClr val="dk1"/>
                </a:solidFill>
              </a:rPr>
              <a:t>. Berikut adalah struktur dasar dari form:</a:t>
            </a:r>
            <a:endParaRPr sz="2100">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13" name="Google Shape;113;p2"/>
          <p:cNvPicPr preferRelativeResize="0"/>
          <p:nvPr/>
        </p:nvPicPr>
        <p:blipFill>
          <a:blip r:embed="rId3"/>
          <a:stretch>
            <a:fillRect/>
          </a:stretch>
        </p:blipFill>
        <p:spPr>
          <a:xfrm>
            <a:off x="505625" y="6629075"/>
            <a:ext cx="8267700" cy="1562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7" name="Shape 117"/>
        <p:cNvGrpSpPr/>
        <p:nvPr/>
      </p:nvGrpSpPr>
      <p:grpSpPr>
        <a:xfrm>
          <a:off x="0" y="0"/>
          <a:ext cx="0" cy="0"/>
          <a:chOff x="0" y="0"/>
          <a:chExt cx="0" cy="0"/>
        </a:xfrm>
      </p:grpSpPr>
      <p:sp>
        <p:nvSpPr>
          <p:cNvPr id="118" name="Google Shape;118;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9" name="Google Shape;119;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5" name="Google Shape;125;p3"/>
          <p:cNvSpPr txBox="1"/>
          <p:nvPr/>
        </p:nvSpPr>
        <p:spPr>
          <a:xfrm>
            <a:off x="488200" y="2169000"/>
            <a:ext cx="11505000" cy="7268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Arial" panose="020B0604020202090204"/>
              <a:buNone/>
            </a:pPr>
            <a:r>
              <a:rPr lang="en-US" sz="2200" b="1" i="0" u="none" strike="noStrike" cap="none">
                <a:solidFill>
                  <a:schemeClr val="dk1"/>
                </a:solidFill>
                <a:latin typeface="Arial" panose="020B0604020202090204"/>
                <a:ea typeface="Arial" panose="020B0604020202090204"/>
                <a:cs typeface="Arial" panose="020B0604020202090204"/>
                <a:sym typeface="Arial" panose="020B0604020202090204"/>
              </a:rPr>
              <a:t>Berikut adalah contoh sederhana dari tabel dalam HTML:</a:t>
            </a: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400"/>
              </a:spcBef>
              <a:spcAft>
                <a:spcPts val="0"/>
              </a:spcAft>
              <a:buClr>
                <a:schemeClr val="dk1"/>
              </a:buClr>
              <a:buSzPts val="11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200"/>
              </a:spcBef>
              <a:spcAft>
                <a:spcPts val="0"/>
              </a:spcAft>
              <a:buClr>
                <a:srgbClr val="000000"/>
              </a:buClr>
              <a:buSzPts val="4100"/>
              <a:buFont typeface="Arial" panose="020B0604020202090204"/>
              <a:buNone/>
            </a:pPr>
            <a:endParaRPr sz="41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26" name="Google Shape;126;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7" name="Google Shape;127;p3"/>
          <p:cNvSpPr/>
          <p:nvPr/>
        </p:nvSpPr>
        <p:spPr>
          <a:xfrm>
            <a:off x="12245731" y="5930593"/>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128" name="Google Shape;128;p3"/>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i="0" u="none" strike="noStrike" cap="none">
                <a:solidFill>
                  <a:srgbClr val="000000"/>
                </a:solidFill>
                <a:latin typeface="Arial" panose="020B0604020202090204"/>
                <a:ea typeface="Arial" panose="020B0604020202090204"/>
                <a:cs typeface="Arial" panose="020B0604020202090204"/>
                <a:sym typeface="Arial" panose="020B0604020202090204"/>
              </a:rPr>
              <a:t>Contoh Struktur Tabel</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29" name="Google Shape;129;p3"/>
          <p:cNvPicPr preferRelativeResize="0"/>
          <p:nvPr/>
        </p:nvPicPr>
        <p:blipFill rotWithShape="1">
          <a:blip r:embed="rId4"/>
          <a:srcRect/>
          <a:stretch>
            <a:fillRect/>
          </a:stretch>
        </p:blipFill>
        <p:spPr>
          <a:xfrm>
            <a:off x="680300" y="2770825"/>
            <a:ext cx="11043101" cy="7268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3" name="Shape 133"/>
        <p:cNvGrpSpPr/>
        <p:nvPr/>
      </p:nvGrpSpPr>
      <p:grpSpPr>
        <a:xfrm>
          <a:off x="0" y="0"/>
          <a:ext cx="0" cy="0"/>
          <a:chOff x="0" y="0"/>
          <a:chExt cx="0" cy="0"/>
        </a:xfrm>
      </p:grpSpPr>
      <p:sp>
        <p:nvSpPr>
          <p:cNvPr id="134" name="Google Shape;134;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5" name="Google Shape;135;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749725" y="1984400"/>
            <a:ext cx="12874200" cy="358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400"/>
              </a:spcBef>
              <a:spcAft>
                <a:spcPts val="0"/>
              </a:spcAft>
              <a:buClr>
                <a:schemeClr val="dk1"/>
              </a:buClr>
              <a:buSzPts val="1100"/>
              <a:buFont typeface="Arial" panose="020B0604020202090204"/>
              <a:buNone/>
            </a:pPr>
            <a:r>
              <a:rPr lang="en-US" sz="2400" b="1" i="0" u="none" strike="noStrike" cap="none">
                <a:solidFill>
                  <a:schemeClr val="dk1"/>
                </a:solidFill>
                <a:latin typeface="Arial" panose="020B0604020202090204"/>
                <a:ea typeface="Arial" panose="020B0604020202090204"/>
                <a:cs typeface="Arial" panose="020B0604020202090204"/>
                <a:sym typeface="Arial" panose="020B0604020202090204"/>
              </a:rPr>
              <a:t>1. Menambahkan Atribut</a:t>
            </a: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Anda dapat menambahkan beberapa atribut pada elemen tabel untuk mengatur tampilannya, seperti:</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368300" algn="l" rtl="0">
              <a:lnSpc>
                <a:spcPct val="115000"/>
              </a:lnSpc>
              <a:spcBef>
                <a:spcPts val="1200"/>
              </a:spcBef>
              <a:spcAft>
                <a:spcPts val="0"/>
              </a:spcAft>
              <a:buClr>
                <a:schemeClr val="dk1"/>
              </a:buClr>
              <a:buSzPts val="2200"/>
              <a:buFont typeface="Arial" panose="020B0604020202090204"/>
              <a:buChar char="●"/>
            </a:pP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border</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Menentukan apakah tabel memiliki batas.</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368300" algn="l" rtl="0">
              <a:lnSpc>
                <a:spcPct val="115000"/>
              </a:lnSpc>
              <a:spcBef>
                <a:spcPts val="0"/>
              </a:spcBef>
              <a:spcAft>
                <a:spcPts val="0"/>
              </a:spcAft>
              <a:buClr>
                <a:schemeClr val="dk1"/>
              </a:buClr>
              <a:buSzPts val="2200"/>
              <a:buFont typeface="Arial" panose="020B0604020202090204"/>
              <a:buChar char="●"/>
            </a:pP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cellpadding</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Menentukan jarak antara isi sel dan batas sel.</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368300" algn="l" rtl="0">
              <a:lnSpc>
                <a:spcPct val="115000"/>
              </a:lnSpc>
              <a:spcBef>
                <a:spcPts val="0"/>
              </a:spcBef>
              <a:spcAft>
                <a:spcPts val="0"/>
              </a:spcAft>
              <a:buClr>
                <a:schemeClr val="dk1"/>
              </a:buClr>
              <a:buSzPts val="2200"/>
              <a:buFont typeface="Arial" panose="020B0604020202090204"/>
              <a:buChar char="●"/>
            </a:pP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cellspacing</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Menentukan jarak antara sel-sel dalam tabel.</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400"/>
              </a:spcBef>
              <a:spcAft>
                <a:spcPts val="0"/>
              </a:spcAft>
              <a:buClr>
                <a:schemeClr val="dk1"/>
              </a:buClr>
              <a:buSzPts val="1100"/>
              <a:buFont typeface="Arial" panose="020B0604020202090204"/>
              <a:buNone/>
            </a:pPr>
            <a:r>
              <a:rPr lang="en-US" sz="2400" b="1" i="0" u="none" strike="noStrike" cap="none">
                <a:solidFill>
                  <a:schemeClr val="dk1"/>
                </a:solidFill>
                <a:latin typeface="Arial" panose="020B0604020202090204"/>
                <a:ea typeface="Arial" panose="020B0604020202090204"/>
                <a:cs typeface="Arial" panose="020B0604020202090204"/>
                <a:sym typeface="Arial" panose="020B0604020202090204"/>
              </a:rPr>
              <a:t>Contoh Penggunaan Atribut</a:t>
            </a: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5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1" name="Google Shape;141;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2" name="Google Shape;142;p4"/>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i="0" u="none" strike="noStrike" cap="none">
                <a:solidFill>
                  <a:srgbClr val="000000"/>
                </a:solidFill>
                <a:latin typeface="Arial" panose="020B0604020202090204"/>
                <a:ea typeface="Arial" panose="020B0604020202090204"/>
                <a:cs typeface="Arial" panose="020B0604020202090204"/>
                <a:sym typeface="Arial" panose="020B0604020202090204"/>
              </a:rPr>
              <a:t>Mengatur Tabel</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3" name="Google Shape;143;p4"/>
          <p:cNvPicPr preferRelativeResize="0"/>
          <p:nvPr/>
        </p:nvPicPr>
        <p:blipFill rotWithShape="1">
          <a:blip r:embed="rId2"/>
          <a:srcRect/>
          <a:stretch>
            <a:fillRect/>
          </a:stretch>
        </p:blipFill>
        <p:spPr>
          <a:xfrm>
            <a:off x="867275" y="4974475"/>
            <a:ext cx="8502325" cy="52039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7" name="Shape 147"/>
        <p:cNvGrpSpPr/>
        <p:nvPr/>
      </p:nvGrpSpPr>
      <p:grpSpPr>
        <a:xfrm>
          <a:off x="0" y="0"/>
          <a:ext cx="0" cy="0"/>
          <a:chOff x="0" y="0"/>
          <a:chExt cx="0" cy="0"/>
        </a:xfrm>
      </p:grpSpPr>
      <p:sp>
        <p:nvSpPr>
          <p:cNvPr id="148" name="Google Shape;148;p5"/>
          <p:cNvSpPr/>
          <p:nvPr/>
        </p:nvSpPr>
        <p:spPr>
          <a:xfrm>
            <a:off x="-4088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9" name="Google Shape;149;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0" name="Google Shape;150;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601750" y="1780625"/>
            <a:ext cx="12202500" cy="1398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90204"/>
              <a:buNone/>
            </a:pPr>
            <a:r>
              <a:rPr lang="en-US" sz="2400" b="0" i="0" u="none" strike="noStrike" cap="none">
                <a:solidFill>
                  <a:schemeClr val="dk1"/>
                </a:solidFill>
                <a:latin typeface="Arial" panose="020B0604020202090204"/>
                <a:ea typeface="Arial" panose="020B0604020202090204"/>
                <a:cs typeface="Arial" panose="020B0604020202090204"/>
                <a:sym typeface="Arial" panose="020B0604020202090204"/>
              </a:rPr>
              <a:t>Anda juga dapat menggunakan CSS untuk mempercantik tampilan tabel. Berikut adalah contoh penggunaan CSS untuk mengatur tabel:</a:t>
            </a:r>
            <a:endParaRPr sz="2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400"/>
              </a:spcBef>
              <a:spcAft>
                <a:spcPts val="400"/>
              </a:spcAft>
              <a:buClr>
                <a:schemeClr val="dk1"/>
              </a:buClr>
              <a:buSzPts val="1100"/>
              <a:buFont typeface="Arial" panose="020B0604020202090204"/>
              <a:buNone/>
            </a:pP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5" name="Google Shape;155;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6" name="Google Shape;156;p5"/>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i="0" u="none" strike="noStrike" cap="none">
                <a:solidFill>
                  <a:srgbClr val="000000"/>
                </a:solidFill>
                <a:latin typeface="Arial" panose="020B0604020202090204"/>
                <a:ea typeface="Arial" panose="020B0604020202090204"/>
                <a:cs typeface="Arial" panose="020B0604020202090204"/>
                <a:sym typeface="Arial" panose="020B0604020202090204"/>
              </a:rPr>
              <a:t>Menggunakan CSS untuk Styling</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7" name="Google Shape;157;p5"/>
          <p:cNvPicPr preferRelativeResize="0"/>
          <p:nvPr/>
        </p:nvPicPr>
        <p:blipFill rotWithShape="1">
          <a:blip r:embed="rId2"/>
          <a:srcRect/>
          <a:stretch>
            <a:fillRect/>
          </a:stretch>
        </p:blipFill>
        <p:spPr>
          <a:xfrm>
            <a:off x="561975" y="2759175"/>
            <a:ext cx="8020050" cy="7303675"/>
          </a:xfrm>
          <a:prstGeom prst="rect">
            <a:avLst/>
          </a:prstGeom>
          <a:noFill/>
          <a:ln>
            <a:noFill/>
          </a:ln>
        </p:spPr>
      </p:pic>
      <p:pic>
        <p:nvPicPr>
          <p:cNvPr id="158" name="Google Shape;158;p5"/>
          <p:cNvPicPr preferRelativeResize="0"/>
          <p:nvPr/>
        </p:nvPicPr>
        <p:blipFill rotWithShape="1">
          <a:blip r:embed="rId3"/>
          <a:srcRect/>
          <a:stretch>
            <a:fillRect/>
          </a:stretch>
        </p:blipFill>
        <p:spPr>
          <a:xfrm>
            <a:off x="9401700" y="2759175"/>
            <a:ext cx="8020050" cy="7216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2" name="Shape 162"/>
        <p:cNvGrpSpPr/>
        <p:nvPr/>
      </p:nvGrpSpPr>
      <p:grpSpPr>
        <a:xfrm>
          <a:off x="0" y="0"/>
          <a:ext cx="0" cy="0"/>
          <a:chOff x="0" y="0"/>
          <a:chExt cx="0" cy="0"/>
        </a:xfrm>
      </p:grpSpPr>
      <p:sp>
        <p:nvSpPr>
          <p:cNvPr id="163" name="Google Shape;163;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4" name="Google Shape;164;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5" name="Google Shape;165;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7" name="Google Shape;167;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9" name="Google Shape;169;p6"/>
          <p:cNvSpPr txBox="1"/>
          <p:nvPr/>
        </p:nvSpPr>
        <p:spPr>
          <a:xfrm>
            <a:off x="1351349" y="2198650"/>
            <a:ext cx="12568800" cy="3198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400"/>
              </a:spcBef>
              <a:spcAft>
                <a:spcPts val="0"/>
              </a:spcAft>
              <a:buClr>
                <a:schemeClr val="dk1"/>
              </a:buClr>
              <a:buSzPts val="1100"/>
              <a:buFont typeface="Arial" panose="020B0604020202090204"/>
              <a:buNone/>
            </a:pPr>
            <a:r>
              <a:rPr lang="en-US" sz="2400" b="1" i="0" u="none" strike="noStrike" cap="none">
                <a:solidFill>
                  <a:schemeClr val="dk1"/>
                </a:solidFill>
                <a:latin typeface="Arial" panose="020B0604020202090204"/>
                <a:ea typeface="Arial" panose="020B0604020202090204"/>
                <a:cs typeface="Arial" panose="020B0604020202090204"/>
                <a:sym typeface="Arial" panose="020B0604020202090204"/>
              </a:rPr>
              <a:t>1. Menggabungkan Sel</a:t>
            </a: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Anda dapat menggabungkan sel menggunakan atribut </a:t>
            </a: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colspan</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dan </a:t>
            </a: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rowspan</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368300" algn="l" rtl="0">
              <a:lnSpc>
                <a:spcPct val="115000"/>
              </a:lnSpc>
              <a:spcBef>
                <a:spcPts val="1200"/>
              </a:spcBef>
              <a:spcAft>
                <a:spcPts val="0"/>
              </a:spcAft>
              <a:buClr>
                <a:schemeClr val="dk1"/>
              </a:buClr>
              <a:buSzPts val="2200"/>
              <a:buFont typeface="Arial" panose="020B0604020202090204"/>
              <a:buChar char="●"/>
            </a:pP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colspan</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Menggabungkan beberapa kolom.</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368300" algn="l" rtl="0">
              <a:lnSpc>
                <a:spcPct val="115000"/>
              </a:lnSpc>
              <a:spcBef>
                <a:spcPts val="0"/>
              </a:spcBef>
              <a:spcAft>
                <a:spcPts val="0"/>
              </a:spcAft>
              <a:buClr>
                <a:schemeClr val="dk1"/>
              </a:buClr>
              <a:buSzPts val="2200"/>
              <a:buFont typeface="Arial" panose="020B0604020202090204"/>
              <a:buChar char="●"/>
            </a:pPr>
            <a:r>
              <a:rPr lang="en-US" sz="2200" b="0" i="0" u="none" strike="noStrike" cap="none">
                <a:solidFill>
                  <a:srgbClr val="188038"/>
                </a:solidFill>
                <a:latin typeface="Roboto Mono" panose="00000009000000000000"/>
                <a:ea typeface="Roboto Mono" panose="00000009000000000000"/>
                <a:cs typeface="Roboto Mono" panose="00000009000000000000"/>
                <a:sym typeface="Roboto Mono" panose="00000009000000000000"/>
              </a:rPr>
              <a:t>rowspan</a:t>
            </a:r>
            <a:r>
              <a:rPr lang="en-US" sz="2200" b="0" i="0" u="none" strike="noStrike" cap="none">
                <a:solidFill>
                  <a:schemeClr val="dk1"/>
                </a:solidFill>
                <a:latin typeface="Arial" panose="020B0604020202090204"/>
                <a:ea typeface="Arial" panose="020B0604020202090204"/>
                <a:cs typeface="Arial" panose="020B0604020202090204"/>
                <a:sym typeface="Arial" panose="020B0604020202090204"/>
              </a:rPr>
              <a:t>: Menggabungkan beberapa baris.</a:t>
            </a:r>
            <a:endParaRPr sz="2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400"/>
              </a:spcBef>
              <a:spcAft>
                <a:spcPts val="0"/>
              </a:spcAft>
              <a:buClr>
                <a:schemeClr val="dk1"/>
              </a:buClr>
              <a:buSzPts val="1100"/>
              <a:buFont typeface="Arial" panose="020B0604020202090204"/>
              <a:buNone/>
            </a:pPr>
            <a:r>
              <a:rPr lang="en-US" sz="2400" b="1" i="0" u="none" strike="noStrike" cap="none">
                <a:solidFill>
                  <a:schemeClr val="dk1"/>
                </a:solidFill>
                <a:latin typeface="Arial" panose="020B0604020202090204"/>
                <a:ea typeface="Arial" panose="020B0604020202090204"/>
                <a:cs typeface="Arial" panose="020B0604020202090204"/>
                <a:sym typeface="Arial" panose="020B0604020202090204"/>
              </a:rPr>
              <a:t>Contoh Penggabungan Sel</a:t>
            </a: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5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1" name="Google Shape;171;p6"/>
          <p:cNvSpPr txBox="1"/>
          <p:nvPr/>
        </p:nvSpPr>
        <p:spPr>
          <a:xfrm>
            <a:off x="3695075" y="942025"/>
            <a:ext cx="9109200" cy="538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500" b="1" i="0" u="none" strike="noStrike" cap="none">
                <a:solidFill>
                  <a:srgbClr val="343434"/>
                </a:solidFill>
                <a:latin typeface="Arial" panose="020B0604020202090204"/>
                <a:ea typeface="Arial" panose="020B0604020202090204"/>
                <a:cs typeface="Arial" panose="020B0604020202090204"/>
                <a:sym typeface="Arial" panose="020B0604020202090204"/>
              </a:rPr>
              <a:t>Tabel yang Lebih Kompleks</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2" name="Google Shape;172;p6"/>
          <p:cNvPicPr preferRelativeResize="0"/>
          <p:nvPr/>
        </p:nvPicPr>
        <p:blipFill rotWithShape="1">
          <a:blip r:embed="rId2"/>
          <a:srcRect/>
          <a:stretch>
            <a:fillRect/>
          </a:stretch>
        </p:blipFill>
        <p:spPr>
          <a:xfrm>
            <a:off x="11339800" y="1602225"/>
            <a:ext cx="6366700" cy="838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6" name="Shape 176"/>
        <p:cNvGrpSpPr/>
        <p:nvPr/>
      </p:nvGrpSpPr>
      <p:grpSpPr>
        <a:xfrm>
          <a:off x="0" y="0"/>
          <a:ext cx="0" cy="0"/>
          <a:chOff x="0" y="0"/>
          <a:chExt cx="0" cy="0"/>
        </a:xfrm>
      </p:grpSpPr>
      <p:sp>
        <p:nvSpPr>
          <p:cNvPr id="177" name="Google Shape;177;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8" name="Google Shape;178;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79" name="Google Shape;179;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0" name="Google Shape;180;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1" name="Google Shape;181;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2" name="Google Shape;182;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3" name="Google Shape;183;g33064f6f14d_0_24"/>
          <p:cNvSpPr txBox="1"/>
          <p:nvPr/>
        </p:nvSpPr>
        <p:spPr>
          <a:xfrm>
            <a:off x="1662475" y="3202200"/>
            <a:ext cx="13971900" cy="2855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90204"/>
              <a:buNone/>
            </a:pPr>
            <a:r>
              <a:rPr lang="en-US" sz="2600" b="1" i="0" u="none" strike="noStrike" cap="none">
                <a:solidFill>
                  <a:schemeClr val="dk1"/>
                </a:solidFill>
                <a:latin typeface="Arial" panose="020B0604020202090204"/>
                <a:ea typeface="Arial" panose="020B0604020202090204"/>
                <a:cs typeface="Arial" panose="020B0604020202090204"/>
                <a:sym typeface="Arial" panose="020B0604020202090204"/>
              </a:rPr>
              <a:t>Tabel adalah alat yang sangat berguna untuk menyajikan data dalam format yang terstruktur di halaman web. Dengan memahami cara membuat dan mengatur tabel, Anda dapat menyajikan informasi dengan cara yang lebih jelas dan menarik. Penggunaan CSS juga dapat meningkatkan tampilan tabel, membuatnya lebih profesional dan mudah dibaca.</a:t>
            </a: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84" name="Google Shape;184;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5" name="Google Shape;185;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9" name="Shape 189"/>
        <p:cNvGrpSpPr/>
        <p:nvPr/>
      </p:nvGrpSpPr>
      <p:grpSpPr>
        <a:xfrm>
          <a:off x="0" y="0"/>
          <a:ext cx="0" cy="0"/>
          <a:chOff x="0" y="0"/>
          <a:chExt cx="0" cy="0"/>
        </a:xfrm>
      </p:grpSpPr>
      <p:sp>
        <p:nvSpPr>
          <p:cNvPr id="190" name="Google Shape;190;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1" name="Google Shape;191;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2" name="Google Shape;192;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193" name="Google Shape;193;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194" name="Google Shape;194;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195" name="Google Shape;195;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196" name="Google Shape;196;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197" name="Google Shape;197;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9" name="Google Shape;199;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0" name="Google Shape;200;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1" name="Google Shape;201;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2" name="Google Shape;202;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2142</Words>
  <Application>WPS Presentation</Application>
  <PresentationFormat/>
  <Paragraphs>158</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SimSun</vt:lpstr>
      <vt:lpstr>Wingdings</vt:lpstr>
      <vt:lpstr>Arial</vt:lpstr>
      <vt:lpstr>Calibri</vt:lpstr>
      <vt:lpstr>Helvetica Neue</vt:lpstr>
      <vt:lpstr>DM Sans</vt:lpstr>
      <vt:lpstr>Courier New</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2025-02-17T08:54:30Z</dcterms:created>
  <dcterms:modified xsi:type="dcterms:W3CDTF">2025-02-17T08:54:30Z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37A97F980E3C0E7646F9B267AB85F890_42</vt:lpwstr>
  </property>
  <property fmtid="{D5CDD505-2E9C-101B-9397-08002B2CF9AE}" pid="3" name="KSOProductBuildVer">
    <vt:lpwstr>1033-6.11.0.8603</vt:lpwstr>
  </property>
</Properties>
</file>